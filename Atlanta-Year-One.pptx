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456636b3194c4a" /><Relationship Type="http://schemas.openxmlformats.org/officeDocument/2006/relationships/extended-properties" Target="/docProps/app.xml" Id="R24fdb469bef54a90" /><Relationship Type="http://schemas.openxmlformats.org/officeDocument/2006/relationships/officeDocument" Target="/ppt/presentation.xml" Id="R5a10c9edc0b14e89" /></Relationships>
</file>

<file path=ppt/presentation.xml><?xml version="1.0" encoding="utf-8"?>
<p:presentation xmlns:p="http://schemas.openxmlformats.org/presentationml/2006/main">
  <p:sldMasterIdLst>
    <p:sldMasterId xmlns:r="http://schemas.openxmlformats.org/officeDocument/2006/relationships" id="2147483648" r:id="Ra3049e645ee24f1d"/>
  </p:sldMasterIdLst>
  <p:notesMasterIdLst>
    <p:notesMasterId xmlns:r="http://schemas.openxmlformats.org/officeDocument/2006/relationships" r:id="R87c4df636a9a49a0"/>
  </p:notesMasterIdLst>
  <p:sldIdLst>
    <p:sldId xmlns:r="http://schemas.openxmlformats.org/officeDocument/2006/relationships" id="256" r:id="R0b330e5d92574244"/>
    <p:sldId xmlns:r="http://schemas.openxmlformats.org/officeDocument/2006/relationships" id="257" r:id="Rf3ba3583f57e4de9"/>
    <p:sldId xmlns:r="http://schemas.openxmlformats.org/officeDocument/2006/relationships" id="258" r:id="Rf0343957be004825"/>
    <p:sldId xmlns:r="http://schemas.openxmlformats.org/officeDocument/2006/relationships" id="259" r:id="R634fdce2f16d4afb"/>
    <p:sldId xmlns:r="http://schemas.openxmlformats.org/officeDocument/2006/relationships" id="260" r:id="Rcccfa80b26484195"/>
    <p:sldId xmlns:r="http://schemas.openxmlformats.org/officeDocument/2006/relationships" id="261" r:id="R823b1c2b42444df2"/>
    <p:sldId xmlns:r="http://schemas.openxmlformats.org/officeDocument/2006/relationships" id="262" r:id="Ra753b82f12204d7f"/>
    <p:sldId xmlns:r="http://schemas.openxmlformats.org/officeDocument/2006/relationships" id="263" r:id="Rfc95be7c807248a9"/>
    <p:sldId xmlns:r="http://schemas.openxmlformats.org/officeDocument/2006/relationships" id="264" r:id="R5ef74f0335bc4f0b"/>
    <p:sldId xmlns:r="http://schemas.openxmlformats.org/officeDocument/2006/relationships" id="265" r:id="R0fa5b39775a54721"/>
    <p:sldId xmlns:r="http://schemas.openxmlformats.org/officeDocument/2006/relationships" id="266" r:id="R5efa06d9c49c4ba9"/>
    <p:sldId xmlns:r="http://schemas.openxmlformats.org/officeDocument/2006/relationships" id="267" r:id="R839a01a57f9845f9"/>
    <p:sldId xmlns:r="http://schemas.openxmlformats.org/officeDocument/2006/relationships" id="268" r:id="R872ecc8650144e14"/>
    <p:sldId xmlns:r="http://schemas.openxmlformats.org/officeDocument/2006/relationships" id="269" r:id="Ra43929f5e9b84755"/>
    <p:sldId xmlns:r="http://schemas.openxmlformats.org/officeDocument/2006/relationships" id="270" r:id="Re8287a90faec4024"/>
    <p:sldId xmlns:r="http://schemas.openxmlformats.org/officeDocument/2006/relationships" id="271" r:id="R546eb7e0aa014800"/>
    <p:sldId xmlns:r="http://schemas.openxmlformats.org/officeDocument/2006/relationships" id="272" r:id="R4371a39048ce40db"/>
    <p:sldId xmlns:r="http://schemas.openxmlformats.org/officeDocument/2006/relationships" id="273" r:id="R2050910283e842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56035edd69472a" /><Relationship Type="http://schemas.openxmlformats.org/officeDocument/2006/relationships/slideMaster" Target="/ppt/slideMasters/slideMaster1.xml" Id="Ra3049e645ee24f1d" /><Relationship Type="http://schemas.openxmlformats.org/officeDocument/2006/relationships/notesMaster" Target="/ppt/notesMasters/notesMaster1.xml" Id="R87c4df636a9a49a0" /><Relationship Type="http://schemas.openxmlformats.org/officeDocument/2006/relationships/presProps" Target="/ppt/presProps.xml" Id="R46c5116e36d740f7" /><Relationship Type="http://schemas.openxmlformats.org/officeDocument/2006/relationships/tableStyles" Target="/ppt/tableStyles.xml" Id="Rbea96a38a9374181" /><Relationship Type="http://schemas.openxmlformats.org/officeDocument/2006/relationships/slide" Target="/ppt/slides/slide1.xml" Id="R0b330e5d92574244" /><Relationship Type="http://schemas.openxmlformats.org/officeDocument/2006/relationships/slide" Target="/ppt/slides/slide2.xml" Id="Rf3ba3583f57e4de9" /><Relationship Type="http://schemas.openxmlformats.org/officeDocument/2006/relationships/slide" Target="/ppt/slides/slide3.xml" Id="Rf0343957be004825" /><Relationship Type="http://schemas.openxmlformats.org/officeDocument/2006/relationships/slide" Target="/ppt/slides/slide4.xml" Id="R634fdce2f16d4afb" /><Relationship Type="http://schemas.openxmlformats.org/officeDocument/2006/relationships/slide" Target="/ppt/slides/slide5.xml" Id="Rcccfa80b26484195" /><Relationship Type="http://schemas.openxmlformats.org/officeDocument/2006/relationships/slide" Target="/ppt/slides/slide6.xml" Id="R823b1c2b42444df2" /><Relationship Type="http://schemas.openxmlformats.org/officeDocument/2006/relationships/slide" Target="/ppt/slides/slide7.xml" Id="Ra753b82f12204d7f" /><Relationship Type="http://schemas.openxmlformats.org/officeDocument/2006/relationships/slide" Target="/ppt/slides/slide8.xml" Id="Rfc95be7c807248a9" /><Relationship Type="http://schemas.openxmlformats.org/officeDocument/2006/relationships/slide" Target="/ppt/slides/slide9.xml" Id="R5ef74f0335bc4f0b" /><Relationship Type="http://schemas.openxmlformats.org/officeDocument/2006/relationships/slide" Target="/ppt/slides/slide10.xml" Id="R0fa5b39775a54721" /><Relationship Type="http://schemas.openxmlformats.org/officeDocument/2006/relationships/slide" Target="/ppt/slides/slide11.xml" Id="R5efa06d9c49c4ba9" /><Relationship Type="http://schemas.openxmlformats.org/officeDocument/2006/relationships/slide" Target="/ppt/slides/slide12.xml" Id="R839a01a57f9845f9" /><Relationship Type="http://schemas.openxmlformats.org/officeDocument/2006/relationships/slide" Target="/ppt/slides/slide13.xml" Id="R872ecc8650144e14" /><Relationship Type="http://schemas.openxmlformats.org/officeDocument/2006/relationships/slide" Target="/ppt/slides/slide14.xml" Id="Ra43929f5e9b84755" /><Relationship Type="http://schemas.openxmlformats.org/officeDocument/2006/relationships/slide" Target="/ppt/slides/slide15.xml" Id="Re8287a90faec4024" /><Relationship Type="http://schemas.openxmlformats.org/officeDocument/2006/relationships/slide" Target="/ppt/slides/slide16.xml" Id="R546eb7e0aa014800" /><Relationship Type="http://schemas.openxmlformats.org/officeDocument/2006/relationships/slide" Target="/ppt/slides/slide17.xml" Id="R4371a39048ce40db" /><Relationship Type="http://schemas.openxmlformats.org/officeDocument/2006/relationships/slide" Target="/ppt/slides/slide18.xml" Id="R2050910283e8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a91c7c788b48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bc7a475fc146fe" /><Relationship Type="http://schemas.openxmlformats.org/officeDocument/2006/relationships/notesMaster" Target="/ppt/notesMasters/notesMaster1.xml" Id="R808cf3ae81704c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59b4317963476d" /><Relationship Type="http://schemas.openxmlformats.org/officeDocument/2006/relationships/notesMaster" Target="/ppt/notesMasters/notesMaster1.xml" Id="Rdd40ed8f169b4c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a618afae5f43cc" /><Relationship Type="http://schemas.openxmlformats.org/officeDocument/2006/relationships/notesMaster" Target="/ppt/notesMasters/notesMaster1.xml" Id="R1a106a24fefc41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40069961354b9b" /><Relationship Type="http://schemas.openxmlformats.org/officeDocument/2006/relationships/notesMaster" Target="/ppt/notesMasters/notesMaster1.xml" Id="R88f0c3e964f34a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6a3b4f5a4f453c" /><Relationship Type="http://schemas.openxmlformats.org/officeDocument/2006/relationships/notesMaster" Target="/ppt/notesMasters/notesMaster1.xml" Id="Rb051ad71de634d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c91b7cfced4357" /><Relationship Type="http://schemas.openxmlformats.org/officeDocument/2006/relationships/notesMaster" Target="/ppt/notesMasters/notesMaster1.xml" Id="Ra69b9aa1cdcf49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f2ebdc39974d49" /><Relationship Type="http://schemas.openxmlformats.org/officeDocument/2006/relationships/notesMaster" Target="/ppt/notesMasters/notesMaster1.xml" Id="Rf6eea64a846d48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fffb2115b94726" /><Relationship Type="http://schemas.openxmlformats.org/officeDocument/2006/relationships/notesMaster" Target="/ppt/notesMasters/notesMaster1.xml" Id="R54ec1efa714e44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3753aba974482c" /><Relationship Type="http://schemas.openxmlformats.org/officeDocument/2006/relationships/notesMaster" Target="/ppt/notesMasters/notesMaster1.xml" Id="Rdc43c8c6130745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5d5ea356614570" /><Relationship Type="http://schemas.openxmlformats.org/officeDocument/2006/relationships/notesMaster" Target="/ppt/notesMasters/notesMaster1.xml" Id="Rae18a77799f44e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d9f3450e6741da" /><Relationship Type="http://schemas.openxmlformats.org/officeDocument/2006/relationships/notesMaster" Target="/ppt/notesMasters/notesMaster1.xml" Id="R8db1244d11ae4b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52ac0ad86f423e" /><Relationship Type="http://schemas.openxmlformats.org/officeDocument/2006/relationships/notesMaster" Target="/ppt/notesMasters/notesMaster1.xml" Id="R6bc80c6a4dd742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62f56169384611" /><Relationship Type="http://schemas.openxmlformats.org/officeDocument/2006/relationships/notesMaster" Target="/ppt/notesMasters/notesMaster1.xml" Id="R0bd72b285a9043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5f549c13a547ce" /><Relationship Type="http://schemas.openxmlformats.org/officeDocument/2006/relationships/notesMaster" Target="/ppt/notesMasters/notesMaster1.xml" Id="R25dfc821820544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5ffe7584d9474b" /><Relationship Type="http://schemas.openxmlformats.org/officeDocument/2006/relationships/notesMaster" Target="/ppt/notesMasters/notesMaster1.xml" Id="R569f83c8885d43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f352d333314c15" /><Relationship Type="http://schemas.openxmlformats.org/officeDocument/2006/relationships/notesMaster" Target="/ppt/notesMasters/notesMaster1.xml" Id="R677b841f5d3c40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f86ff986194584" /><Relationship Type="http://schemas.openxmlformats.org/officeDocument/2006/relationships/notesMaster" Target="/ppt/notesMasters/notesMaster1.xml" Id="Rfbbbb30a069d46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30d4f9a3a14bf1" /><Relationship Type="http://schemas.openxmlformats.org/officeDocument/2006/relationships/notesMaster" Target="/ppt/notesMasters/notesMaster1.xml" Id="R03ae64d6b61c4f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joined Atlanta as a junior frontend developer with internship experience. Over this period, my role expanded into complete frontend ownership, system design, stakeholder demonstrations and supporting other developers. This presentation focuses on the work I contributed and the value it enabled for Atlanta.</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strongest contribution was taking responsibility for frontend delivery in small teams. On RTape and ITMS, the team consisted of two members. For VLTD, I researched four to five existing portals before helping define requirements. The tender win belongs to the project team. My contribution covered frontend delivery, live testing, demonstrations and follow-up support.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projects describe a progression in responsibility, rather than a formal change in job title. RTape developed my ownership of delivery. ITMS gave me greater responsibility for architecture and system design. On VLTD, I combined feature work with requirements, architecture migration, interviews and guidance for other developers. Work on these projects overlapped.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RTape was my first major project at Atlanta. The system connects manufacturers, fitment centres, transport authorities, inspectors and citizens. I took ownership of the frontend, with initial direction from Ritesh sir and close coordination with my backend teammate. Limited documentation meant I often had to research workflows, clarify requirements and solve technical problems independently, including additional study outside office hours.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RTape review attributes work to me in authentication, complaints, appointments, certificates, localization, inventory workflows and responsive UI. Examples include appointment booking with OTP, complaint lifecycle tracking, inventory discard, OEM price-change approvals, vehicle-fitment verification and public PDF certificates. These capabilities helped make the platform usable for both operational users and citizens.</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responsibilities extended beyond implementation. I helped prepare and test the full workflow, participated in demo meetings, presented at the Noida office named BESIL in my account, and supported Ritesh sir during the Madhya Pradesh demonstration. The project successfully won the government tender. I describe that as a team achievement and identify my own support clearly. I also helped with documentation and subsequent updates.</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figures from the supplied repository review, not a fresh audit. The review attributes 280 branch-lifetime commits to Manish Kumar, including 89 during 2026, and changes to 168 unique files in 2026. The 64% share applies only to the project’s 2026 commit activity. It does not describe ownership percentage or business value. I use delivered workflows and the tender milestone to explain the impact alongside this evidence.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ITMS broadened my work into frontend system design. With one other team member, I researched requirements, planned the functional and non-functional scope, designed the frontend architecture and worked on features end to end. The platform serves state administration, depot managers and staff, drivers, conductors and passengers. Complex workflows required continuous R&amp;D and coordination with evolving backend APIs.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ITMS scope spans workforce and fleet management, depot resources, shift execution, tracking, incident handling and reporting. The ten-report depot area includes missed shifts, login activity, assignment history, vehicle audit, device health and other operational reports. Driver and conductor portals support field workflows, while the Passenger Information System exposes supported bus, route, stop and trip information. This describes implemented scope, not a claim that every module has completed production hardening.</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intent was to make the frontend understandable and maintainable as feature coverage grew. Pages focus on UI, composables coordinate workflows, stores manage state, API modules isolate HTTP calls, and adapters normalize backend responses. The supplied review lists 40 shared UI components, 49 feature API modules and 36 response adapters. These are project-wide scope indicators. I am not claiming a measured performance improvement or a time-saving percentage.</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VLTD was an existing project that I took over. I reviewed four to five portals, created requirements documentation, and documented frontend feature needs. I then improved the existing architecture while continuing feature development. At the same time, I helped new developers understand the workflows and resolved technical doubts. I am describing my stated responsibilities rather than attributing every platform feature to myself.</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platform’s broad scope provides context for the architecture and workflow complexity. The repository review covers installation, health and panic checks, repairs, replacement, tracking, emergency alerts, command centres and compliance reports. These are team-level capabilities. My personal account establishes my role in research, architecture migration, complex feature implementation and ongoing RBAC work. Some portals, dashboards and integrations are still evolving.</a:t>
            </a:r>
          </a:p>
          <a:p xmlns:a="http://schemas.openxmlformats.org/drawingml/2006/main">
            <a:r>
              <a:t/>
            </a:r>
          </a:p>
          <a:p xmlns:a="http://schemas.openxmlformats.org/drawingml/2006/main">
            <a:r>
              <a:t>Sources:</a:t>
            </a:r>
          </a:p>
          <a:p xmlns:a="http://schemas.openxmlformats.org/drawingml/2006/main">
            <a:r>
              <a:t>Pasted text (3)(2).txt — VLTD repository review supplied by Manish Kumar. Snapshot through 9 September 2026.</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and permissions recur across all three projects. My frontend responsibility includes routes, navigation and permitted actions. The exact implementation differs by project. Backend authorization remains the security boundary, while the frontend gives users a consistent and appropriate experience. I am currently continuing RBAC work in VLTD, so I do not present the whole access-control programme as finished.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Alongside implementation, I participated in hiring interviews for senior and intern frontend roles. I guided new developers, mentored an intern and helped junior members resolve technical and workflow questions. I also contributed frontend requirements documentation and coordination with backend teammates. These are examples of increased responsibility, without implying a formal management title or claiming an unmeasured productivity gain.</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Atlanta, my contribution has been the ability to take frontend work from ambiguous requirements through implementation and stakeholder review. RTape provides the clearest reported business milestone in the tender win. ITMS enabled broad operational coverage using shared architecture. On VLTD, I have helped improve the structure and supported team delivery. Production adoption, revenue and time-saving metrics were not supplied, so I have not invented them.</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not completed achievements. The supplied reviews show opportunities in integration completeness, automated testing, architecture cleanup and production measurement. I would like to take broader ownership of those areas and continue helping other developers. The specific sequence should align with business priorities and backend readiness.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slide provides a sense of project scope. The counts come from the three supplied reviews and are not normalized or freshly audited. RTape and ITMS count Vue components or pages, while VLTD counts Vue files. They should not be added together or used to compare developer productivity. ITMS personal commit attribution depends on confirmation of two Git identities, so that conditional figure is not used as a personal headline. VLTD counts are explicitly project-wide.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the opportunities and trust during this period. These projects have helped me grow from a junior developer into someone who can own frontend delivery, make architecture decisions and support teammates. I welcome feedback on my contribution and the responsibilities I should take on next.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6b168577a44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d2881f25cf40e7" /><Relationship Type="http://schemas.openxmlformats.org/officeDocument/2006/relationships/slideLayout" Target="/ppt/slideLayouts/slideLayout1.xml" Id="R5dbc15e422714d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bc15e422714d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be687ef944462f" /><Relationship Type="http://schemas.openxmlformats.org/officeDocument/2006/relationships/notesSlide" Target="/ppt/notesSlides/notesSlide1.xml" Id="R577911474f424c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89bb83b9044ae2" /><Relationship Type="http://schemas.openxmlformats.org/officeDocument/2006/relationships/notesSlide" Target="/ppt/notesSlides/notesSlide2.xml" Id="Radaba249c6d143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f2e0a3c1894ee5" /><Relationship Type="http://schemas.openxmlformats.org/officeDocument/2006/relationships/notesSlide" Target="/ppt/notesSlides/notesSlide3.xml" Id="Ra62000cd1e8546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8241a14a2440a1" /><Relationship Type="http://schemas.openxmlformats.org/officeDocument/2006/relationships/notesSlide" Target="/ppt/notesSlides/notesSlide4.xml" Id="R038c2c7714b645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a89314bae549e1" /><Relationship Type="http://schemas.openxmlformats.org/officeDocument/2006/relationships/notesSlide" Target="/ppt/notesSlides/notesSlide5.xml" Id="R65ee6664a2254c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770f19b2cd4ba5" /><Relationship Type="http://schemas.openxmlformats.org/officeDocument/2006/relationships/notesSlide" Target="/ppt/notesSlides/notesSlide6.xml" Id="R599c1dc72abb47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ef8587a0364685" /><Relationship Type="http://schemas.openxmlformats.org/officeDocument/2006/relationships/notesSlide" Target="/ppt/notesSlides/notesSlide7.xml" Id="Rf68b5037a36744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6ccff280724f9e" /><Relationship Type="http://schemas.openxmlformats.org/officeDocument/2006/relationships/notesSlide" Target="/ppt/notesSlides/notesSlide8.xml" Id="Rc7dd27c74a1c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e30ac044f04fda" /><Relationship Type="http://schemas.openxmlformats.org/officeDocument/2006/relationships/notesSlide" Target="/ppt/notesSlides/notesSlide9.xml" Id="R545a24e5887349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a114b7f8294b8c" /><Relationship Type="http://schemas.openxmlformats.org/officeDocument/2006/relationships/notesSlide" Target="/ppt/notesSlides/notesSlide10.xml" Id="Rc0687491c4f645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0727da217e4a65" /><Relationship Type="http://schemas.openxmlformats.org/officeDocument/2006/relationships/notesSlide" Target="/ppt/notesSlides/notesSlide11.xml" Id="R729221640fa149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b235490b234243" /><Relationship Type="http://schemas.openxmlformats.org/officeDocument/2006/relationships/notesSlide" Target="/ppt/notesSlides/notesSlide12.xml" Id="R4e876897159843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02b190ff734977" /><Relationship Type="http://schemas.openxmlformats.org/officeDocument/2006/relationships/notesSlide" Target="/ppt/notesSlides/notesSlide13.xml" Id="R8a6afeda44944e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e997ce09c14b49" /><Relationship Type="http://schemas.openxmlformats.org/officeDocument/2006/relationships/notesSlide" Target="/ppt/notesSlides/notesSlide14.xml" Id="R62e536ced0dc4a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8844a81fb74925" /><Relationship Type="http://schemas.openxmlformats.org/officeDocument/2006/relationships/notesSlide" Target="/ppt/notesSlides/notesSlide15.xml" Id="R21ab4eeddb6044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9e81c13aee49cd" /><Relationship Type="http://schemas.openxmlformats.org/officeDocument/2006/relationships/notesSlide" Target="/ppt/notesSlides/notesSlide16.xml" Id="R18b4cf02a95a4e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a01edee3c5475e" /><Relationship Type="http://schemas.openxmlformats.org/officeDocument/2006/relationships/notesSlide" Target="/ppt/notesSlides/notesSlide17.xml" Id="R1cf5164e485f49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28d78f200241b1" /><Relationship Type="http://schemas.openxmlformats.org/officeDocument/2006/relationships/notesSlide" Target="/ppt/notesSlides/notesSlide18.xml" Id="Rdc5464c1bc51426b" /></Relationships>
</file>

<file path=ppt/slides/slide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1" name="ANNUAL PERFORMANCE REVIEW">
            <a:extLst xmlns:a="http://schemas.openxmlformats.org/drawingml/2006/main">
              <a:ext uri="{FF2B5EF4-FFF2-40B4-BE49-F238E27FC236}">
                <a16:creationId xmlns:a16="http://schemas.microsoft.com/office/drawing/2014/main" id="{C2C4003A-9A47-4989-9C54-E2829E89F77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ANNUAL PERFORMANCE REVIEW</a:t>
            </a:r>
          </a:p>
        </p:txBody>
      </p:sp>
      <p:sp>
        <p:nvSpPr>
          <p:cNvPr id="2" name="ATLANTA SYSTEMS">
            <a:extLst xmlns:a="http://schemas.openxmlformats.org/drawingml/2006/main">
              <a:ext uri="{FF2B5EF4-FFF2-40B4-BE49-F238E27FC236}">
                <a16:creationId xmlns:a16="http://schemas.microsoft.com/office/drawing/2014/main" id="{11DC4CA0-5D10-42F1-9BD0-5DB11FA85887}"/>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RTAPE / ITMS / VLTD">
            <a:extLst xmlns:a="http://schemas.openxmlformats.org/drawingml/2006/main">
              <a:ext uri="{FF2B5EF4-FFF2-40B4-BE49-F238E27FC236}">
                <a16:creationId xmlns:a16="http://schemas.microsoft.com/office/drawing/2014/main" id="{ABF3D87F-D20C-4EC8-A777-7287B69A4CC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RTAPE / ITMS / VLTD</a:t>
            </a:r>
          </a:p>
        </p:txBody>
      </p:sp>
      <p:sp>
        <p:nvSpPr>
          <p:cNvPr id="4" name="01 / 18">
            <a:extLst xmlns:a="http://schemas.openxmlformats.org/drawingml/2006/main">
              <a:ext uri="{FF2B5EF4-FFF2-40B4-BE49-F238E27FC236}">
                <a16:creationId xmlns:a16="http://schemas.microsoft.com/office/drawing/2014/main" id="{9B4A1181-2394-47FD-A4D2-F9109C997E05}"/>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01 / 18</a:t>
            </a:r>
          </a:p>
        </p:txBody>
      </p:sp>
      <p:sp>
        <p:nvSpPr>
          <p:cNvPr id="5" name="One year">
            <a:extLst xmlns:a="http://schemas.openxmlformats.org/drawingml/2006/main">
              <a:ext uri="{FF2B5EF4-FFF2-40B4-BE49-F238E27FC236}">
                <a16:creationId xmlns:a16="http://schemas.microsoft.com/office/drawing/2014/main" id="{CC47A6CD-187D-49B5-8131-36D25AB5D9B9}"/>
              </a:ext>
            </a:extLst>
          </p:cNvPr>
          <p:cNvSpPr>
            <a:spLocks xmlns:a="http://schemas.openxmlformats.org/drawingml/2006/main" noGrp="1"/>
          </p:cNvSpPr>
          <p:nvPr/>
        </p:nvSpPr>
        <p:spPr>
          <a:xfrm xmlns:a="http://schemas.openxmlformats.org/drawingml/2006/main">
            <a:off x="609600" y="1343025"/>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One year</a:t>
            </a:r>
          </a:p>
        </p:txBody>
      </p:sp>
      <p:sp>
        <p:nvSpPr>
          <p:cNvPr id="6" name="at Atlanta">
            <a:extLst xmlns:a="http://schemas.openxmlformats.org/drawingml/2006/main">
              <a:ext uri="{FF2B5EF4-FFF2-40B4-BE49-F238E27FC236}">
                <a16:creationId xmlns:a16="http://schemas.microsoft.com/office/drawing/2014/main" id="{E1392B21-A509-40D0-9FC7-B44ECA346563}"/>
              </a:ext>
            </a:extLst>
          </p:cNvPr>
          <p:cNvSpPr>
            <a:spLocks xmlns:a="http://schemas.openxmlformats.org/drawingml/2006/main" noGrp="1"/>
          </p:cNvSpPr>
          <p:nvPr/>
        </p:nvSpPr>
        <p:spPr>
          <a:xfrm xmlns:a="http://schemas.openxmlformats.org/drawingml/2006/main">
            <a:off x="609600" y="2400300"/>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at Atlanta</a:t>
            </a:r>
          </a:p>
        </p:txBody>
      </p:sp>
      <p:sp>
        <p:nvSpPr>
          <p:cNvPr id="7" name="Frontend ownership across RTape, ITMS and VLTD">
            <a:extLst xmlns:a="http://schemas.openxmlformats.org/drawingml/2006/main">
              <a:ext uri="{FF2B5EF4-FFF2-40B4-BE49-F238E27FC236}">
                <a16:creationId xmlns:a16="http://schemas.microsoft.com/office/drawing/2014/main" id="{BB36C112-EA70-4E65-B4B5-E9A2EB693BA5}"/>
              </a:ext>
            </a:extLst>
          </p:cNvPr>
          <p:cNvSpPr>
            <a:spLocks xmlns:a="http://schemas.openxmlformats.org/drawingml/2006/main" noGrp="1"/>
          </p:cNvSpPr>
          <p:nvPr/>
        </p:nvSpPr>
        <p:spPr>
          <a:xfrm xmlns:a="http://schemas.openxmlformats.org/drawingml/2006/main">
            <a:off x="609600" y="40576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0">
                <a:solidFill>
                  <a:srgbClr val="B3C0D3"/>
                </a:solidFill>
                <a:latin typeface="Arial"/>
                <a:ea typeface="Arial"/>
                <a:cs typeface="Arial"/>
              </a:defRPr>
            </a:pPr>
            <a:r>
              <a:rPr sz="2025" b="0">
                <a:solidFill>
                  <a:srgbClr val="B3C0D3"/>
                </a:solidFill>
                <a:latin typeface="Arial"/>
                <a:ea typeface="Arial"/>
                <a:cs typeface="Arial"/>
              </a:rPr>
              <a:t>Frontend ownership across RTape, ITMS and VLTD</a:t>
            </a:r>
          </a:p>
        </p:txBody>
      </p:sp>
      <p:sp>
        <p:nvSpPr>
          <p:cNvPr id="8" name="Manish Kumar">
            <a:extLst xmlns:a="http://schemas.openxmlformats.org/drawingml/2006/main">
              <a:ext uri="{FF2B5EF4-FFF2-40B4-BE49-F238E27FC236}">
                <a16:creationId xmlns:a16="http://schemas.microsoft.com/office/drawing/2014/main" id="{B5A10F83-D2BD-44D5-A2F7-893C2B6AB53B}"/>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DBE5999-32D0-418D-88B4-C26405B3C280}"/>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
        <p:nvSpPr>
          <p:cNvPr id="10" name="Atlanta Systems Private Limited">
            <a:extLst xmlns:a="http://schemas.openxmlformats.org/drawingml/2006/main">
              <a:ext uri="{FF2B5EF4-FFF2-40B4-BE49-F238E27FC236}">
                <a16:creationId xmlns:a16="http://schemas.microsoft.com/office/drawing/2014/main" id="{2BC8DC73-913F-4BD8-9CCE-B009508C2FAE}"/>
              </a:ext>
            </a:extLst>
          </p:cNvPr>
          <p:cNvSpPr>
            <a:spLocks xmlns:a="http://schemas.openxmlformats.org/drawingml/2006/main" noGrp="1"/>
          </p:cNvSpPr>
          <p:nvPr/>
        </p:nvSpPr>
        <p:spPr>
          <a:xfrm xmlns:a="http://schemas.openxmlformats.org/drawingml/2006/main">
            <a:off x="609600" y="57435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Atlanta Systems Private Limited</a:t>
            </a:r>
          </a:p>
        </p:txBody>
      </p:sp>
    </p:spTree>
    <p:extLst>
      <p:ext uri="{BB962C8B-B14F-4D97-AF65-F5344CB8AC3E}">
        <p14:creationId xmlns:p14="http://schemas.microsoft.com/office/powerpoint/2010/main" val="570512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YEAR IN REVIEW">
            <a:extLst xmlns:a="http://schemas.openxmlformats.org/drawingml/2006/main">
              <a:ext uri="{FF2B5EF4-FFF2-40B4-BE49-F238E27FC236}">
                <a16:creationId xmlns:a16="http://schemas.microsoft.com/office/drawing/2014/main" id="{A0831A3D-B61A-4C10-A2F4-098B485EC73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YEAR IN REVIEW</a:t>
            </a:r>
          </a:p>
        </p:txBody>
      </p:sp>
      <p:sp>
        <p:nvSpPr>
          <p:cNvPr id="2" name="ATLANTA SYSTEMS">
            <a:extLst xmlns:a="http://schemas.openxmlformats.org/drawingml/2006/main">
              <a:ext uri="{FF2B5EF4-FFF2-40B4-BE49-F238E27FC236}">
                <a16:creationId xmlns:a16="http://schemas.microsoft.com/office/drawing/2014/main" id="{945918ED-217A-4DAC-BB07-17935729FEE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am sizes and tender outcome are from my account. The tender is ">
            <a:extLst xmlns:a="http://schemas.openxmlformats.org/drawingml/2006/main">
              <a:ext uri="{FF2B5EF4-FFF2-40B4-BE49-F238E27FC236}">
                <a16:creationId xmlns:a16="http://schemas.microsoft.com/office/drawing/2014/main" id="{EA074F56-A939-450F-8A2D-3FAFB8BF901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Team sizes and tender outcome are from my account. The tender is a team achievement.</a:t>
            </a:r>
          </a:p>
        </p:txBody>
      </p:sp>
      <p:sp>
        <p:nvSpPr>
          <p:cNvPr id="4" name="02 / 18">
            <a:extLst xmlns:a="http://schemas.openxmlformats.org/drawingml/2006/main">
              <a:ext uri="{FF2B5EF4-FFF2-40B4-BE49-F238E27FC236}">
                <a16:creationId xmlns:a16="http://schemas.microsoft.com/office/drawing/2014/main" id="{E81175E9-3FAA-4313-8405-550E89BEAA1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02 / 18</a:t>
            </a:r>
          </a:p>
        </p:txBody>
      </p:sp>
      <p:sp>
        <p:nvSpPr>
          <p:cNvPr id="5" name="Contribution at a glance">
            <a:extLst xmlns:a="http://schemas.openxmlformats.org/drawingml/2006/main">
              <a:ext uri="{FF2B5EF4-FFF2-40B4-BE49-F238E27FC236}">
                <a16:creationId xmlns:a16="http://schemas.microsoft.com/office/drawing/2014/main" id="{0C72EB0B-F913-4BFD-A1F5-43007E622F4E}"/>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Contribution at a glance</a:t>
            </a:r>
          </a:p>
        </p:txBody>
      </p:sp>
      <p:sp>
        <p:nvSpPr>
          <p:cNvPr id="6" name="Growing responsibility across delivery, architecture and team sup">
            <a:extLst xmlns:a="http://schemas.openxmlformats.org/drawingml/2006/main">
              <a:ext uri="{FF2B5EF4-FFF2-40B4-BE49-F238E27FC236}">
                <a16:creationId xmlns:a16="http://schemas.microsoft.com/office/drawing/2014/main" id="{1EB38580-3494-42D5-817C-C0A551C336B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Growing responsibility across delivery, architecture and team support</a:t>
            </a:r>
          </a:p>
        </p:txBody>
      </p:sp>
      <p:sp>
        <p:nvSpPr>
          <p:cNvPr id="7" name="3">
            <a:extLst xmlns:a="http://schemas.openxmlformats.org/drawingml/2006/main">
              <a:ext uri="{FF2B5EF4-FFF2-40B4-BE49-F238E27FC236}">
                <a16:creationId xmlns:a16="http://schemas.microsoft.com/office/drawing/2014/main" id="{D7213A9F-CCF9-43AE-BA9C-1D69453631FE}"/>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3</a:t>
            </a:r>
          </a:p>
        </p:txBody>
      </p:sp>
      <p:sp>
        <p:nvSpPr>
          <p:cNvPr id="8" name="Major projects">
            <a:extLst xmlns:a="http://schemas.openxmlformats.org/drawingml/2006/main">
              <a:ext uri="{FF2B5EF4-FFF2-40B4-BE49-F238E27FC236}">
                <a16:creationId xmlns:a16="http://schemas.microsoft.com/office/drawing/2014/main" id="{389E0C65-B965-4C12-8275-83B97E8D05F1}"/>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Major projects</a:t>
            </a:r>
          </a:p>
        </p:txBody>
      </p:sp>
      <p:sp>
        <p:nvSpPr>
          <p:cNvPr id="9" name="RTape, ITMS and VLTD">
            <a:extLst xmlns:a="http://schemas.openxmlformats.org/drawingml/2006/main">
              <a:ext uri="{FF2B5EF4-FFF2-40B4-BE49-F238E27FC236}">
                <a16:creationId xmlns:a16="http://schemas.microsoft.com/office/drawing/2014/main" id="{D352C3BD-41B4-4CB1-8F19-F91EA4831A14}"/>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RTape, ITMS and VLTD</a:t>
            </a:r>
          </a:p>
        </p:txBody>
      </p:sp>
      <p:sp>
        <p:nvSpPr>
          <p:cNvPr id="10" name="2">
            <a:extLst xmlns:a="http://schemas.openxmlformats.org/drawingml/2006/main">
              <a:ext uri="{FF2B5EF4-FFF2-40B4-BE49-F238E27FC236}">
                <a16:creationId xmlns:a16="http://schemas.microsoft.com/office/drawing/2014/main" id="{DD87EC64-12B6-43BE-8579-0F96F5EC9892}"/>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2</a:t>
            </a:r>
          </a:p>
        </p:txBody>
      </p:sp>
      <p:sp>
        <p:nvSpPr>
          <p:cNvPr id="11" name="People per team">
            <a:extLst xmlns:a="http://schemas.openxmlformats.org/drawingml/2006/main">
              <a:ext uri="{FF2B5EF4-FFF2-40B4-BE49-F238E27FC236}">
                <a16:creationId xmlns:a16="http://schemas.microsoft.com/office/drawing/2014/main" id="{DA89ED4A-6637-4769-9D3A-71DA6523344D}"/>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People per team</a:t>
            </a:r>
          </a:p>
        </p:txBody>
      </p:sp>
      <p:sp>
        <p:nvSpPr>
          <p:cNvPr id="12" name="RTape and ITMS, including me">
            <a:extLst xmlns:a="http://schemas.openxmlformats.org/drawingml/2006/main">
              <a:ext uri="{FF2B5EF4-FFF2-40B4-BE49-F238E27FC236}">
                <a16:creationId xmlns:a16="http://schemas.microsoft.com/office/drawing/2014/main" id="{0AD2A55E-DE4C-470D-B8AE-421D8D9F53DB}"/>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RTape and ITMS, including me</a:t>
            </a:r>
          </a:p>
        </p:txBody>
      </p:sp>
      <p:sp>
        <p:nvSpPr>
          <p:cNvPr id="13" name="4–5">
            <a:extLst xmlns:a="http://schemas.openxmlformats.org/drawingml/2006/main">
              <a:ext uri="{FF2B5EF4-FFF2-40B4-BE49-F238E27FC236}">
                <a16:creationId xmlns:a16="http://schemas.microsoft.com/office/drawing/2014/main" id="{5CFBF432-5B04-4922-850E-21FA502C55D3}"/>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4–5</a:t>
            </a:r>
          </a:p>
        </p:txBody>
      </p:sp>
      <p:sp>
        <p:nvSpPr>
          <p:cNvPr id="14" name="Portals researched">
            <a:extLst xmlns:a="http://schemas.openxmlformats.org/drawingml/2006/main">
              <a:ext uri="{FF2B5EF4-FFF2-40B4-BE49-F238E27FC236}">
                <a16:creationId xmlns:a16="http://schemas.microsoft.com/office/drawing/2014/main" id="{CAF7A780-09D6-4D0B-8787-FEB05F8E3A0E}"/>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Portals researched</a:t>
            </a:r>
          </a:p>
        </p:txBody>
      </p:sp>
      <p:sp>
        <p:nvSpPr>
          <p:cNvPr id="15" name="To shape VLTD requirements">
            <a:extLst xmlns:a="http://schemas.openxmlformats.org/drawingml/2006/main">
              <a:ext uri="{FF2B5EF4-FFF2-40B4-BE49-F238E27FC236}">
                <a16:creationId xmlns:a16="http://schemas.microsoft.com/office/drawing/2014/main" id="{65CC5C86-9540-4A76-8F1E-75BEB691E75F}"/>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To shape VLTD requirements</a:t>
            </a:r>
          </a:p>
        </p:txBody>
      </p:sp>
      <p:sp>
        <p:nvSpPr>
          <p:cNvPr id="16" name="">
            <a:extLst xmlns:a="http://schemas.openxmlformats.org/drawingml/2006/main">
              <a:ext uri="{FF2B5EF4-FFF2-40B4-BE49-F238E27FC236}">
                <a16:creationId xmlns:a16="http://schemas.microsoft.com/office/drawing/2014/main" id="{31C3A778-F65A-4CFF-94E4-BFAADB683C5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RTape secured a government tender following the team’s developmen">
            <a:extLst xmlns:a="http://schemas.openxmlformats.org/drawingml/2006/main">
              <a:ext uri="{FF2B5EF4-FFF2-40B4-BE49-F238E27FC236}">
                <a16:creationId xmlns:a16="http://schemas.microsoft.com/office/drawing/2014/main" id="{4B089E8B-AEDE-44B2-BD60-53E7D3C260DD}"/>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RTape secured a government tender following the team’s development and demonstration effort.</a:t>
            </a:r>
          </a:p>
        </p:txBody>
      </p:sp>
    </p:spTree>
    <p:extLst>
      <p:ext uri="{BB962C8B-B14F-4D97-AF65-F5344CB8AC3E}">
        <p14:creationId xmlns:p14="http://schemas.microsoft.com/office/powerpoint/2010/main" val="575625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OFESSIONAL GROWTH">
            <a:extLst xmlns:a="http://schemas.openxmlformats.org/drawingml/2006/main">
              <a:ext uri="{FF2B5EF4-FFF2-40B4-BE49-F238E27FC236}">
                <a16:creationId xmlns:a16="http://schemas.microsoft.com/office/drawing/2014/main" id="{1E815D18-D661-4EC7-B688-27C21E87872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PROFESSIONAL GROWTH</a:t>
            </a:r>
          </a:p>
        </p:txBody>
      </p:sp>
      <p:sp>
        <p:nvSpPr>
          <p:cNvPr id="2" name="ATLANTA SYSTEMS">
            <a:extLst xmlns:a="http://schemas.openxmlformats.org/drawingml/2006/main">
              <a:ext uri="{FF2B5EF4-FFF2-40B4-BE49-F238E27FC236}">
                <a16:creationId xmlns:a16="http://schemas.microsoft.com/office/drawing/2014/main" id="{3714171F-5222-4AAD-B9F6-3DA9F5A5959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A8F05739-A731-4827-B3C2-BA63F8AF478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3 / 18">
            <a:extLst xmlns:a="http://schemas.openxmlformats.org/drawingml/2006/main">
              <a:ext uri="{FF2B5EF4-FFF2-40B4-BE49-F238E27FC236}">
                <a16:creationId xmlns:a16="http://schemas.microsoft.com/office/drawing/2014/main" id="{1F75CE3D-4F6E-448B-9F1B-8C6A9A3C4DAA}"/>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03 / 18</a:t>
            </a:r>
          </a:p>
        </p:txBody>
      </p:sp>
      <p:sp>
        <p:nvSpPr>
          <p:cNvPr id="5" name="How my responsibility grew">
            <a:extLst xmlns:a="http://schemas.openxmlformats.org/drawingml/2006/main">
              <a:ext uri="{FF2B5EF4-FFF2-40B4-BE49-F238E27FC236}">
                <a16:creationId xmlns:a16="http://schemas.microsoft.com/office/drawing/2014/main" id="{B39D1B05-585B-4AED-A13D-A72208CCCB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How my responsibility grew</a:t>
            </a:r>
          </a:p>
        </p:txBody>
      </p:sp>
      <p:sp>
        <p:nvSpPr>
          <p:cNvPr id="6" name="I joined as a junior developer with prior internship experience.">
            <a:extLst xmlns:a="http://schemas.openxmlformats.org/drawingml/2006/main">
              <a:ext uri="{FF2B5EF4-FFF2-40B4-BE49-F238E27FC236}">
                <a16:creationId xmlns:a16="http://schemas.microsoft.com/office/drawing/2014/main" id="{9DF11A15-D76D-4A2A-B4F2-9465077854F4}"/>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I joined as a junior developer with prior internship experience.</a:t>
            </a:r>
          </a:p>
        </p:txBody>
      </p:sp>
      <p:sp>
        <p:nvSpPr>
          <p:cNvPr id="7" name="">
            <a:extLst xmlns:a="http://schemas.openxmlformats.org/drawingml/2006/main">
              <a:ext uri="{FF2B5EF4-FFF2-40B4-BE49-F238E27FC236}">
                <a16:creationId xmlns:a16="http://schemas.microsoft.com/office/drawing/2014/main" id="{472A451E-C147-4C6C-861E-20713CF9F47A}"/>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1C43D635-3E98-4F66-8F5B-E4C4AF210249}"/>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Tape">
            <a:extLst xmlns:a="http://schemas.openxmlformats.org/drawingml/2006/main">
              <a:ext uri="{FF2B5EF4-FFF2-40B4-BE49-F238E27FC236}">
                <a16:creationId xmlns:a16="http://schemas.microsoft.com/office/drawing/2014/main" id="{E7FB1719-5169-46AD-84F7-87D068FAF445}"/>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RTape</a:t>
            </a:r>
          </a:p>
        </p:txBody>
      </p:sp>
      <p:sp>
        <p:nvSpPr>
          <p:cNvPr id="10" name="Owned the frontend and shaped workflows with a backend teammate.">
            <a:extLst xmlns:a="http://schemas.openxmlformats.org/drawingml/2006/main">
              <a:ext uri="{FF2B5EF4-FFF2-40B4-BE49-F238E27FC236}">
                <a16:creationId xmlns:a16="http://schemas.microsoft.com/office/drawing/2014/main" id="{1DB2AAD1-FACD-495B-A73D-27E8350C679E}"/>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Owned the frontend and shaped workflows with a backend teammate.</a:t>
            </a:r>
          </a:p>
        </p:txBody>
      </p:sp>
      <p:sp>
        <p:nvSpPr>
          <p:cNvPr id="11" name="">
            <a:extLst xmlns:a="http://schemas.openxmlformats.org/drawingml/2006/main">
              <a:ext uri="{FF2B5EF4-FFF2-40B4-BE49-F238E27FC236}">
                <a16:creationId xmlns:a16="http://schemas.microsoft.com/office/drawing/2014/main" id="{6EAFDE96-0552-4EF7-A58C-83EF97E77608}"/>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Feature delivery, live testing and demonstrations">
            <a:extLst xmlns:a="http://schemas.openxmlformats.org/drawingml/2006/main">
              <a:ext uri="{FF2B5EF4-FFF2-40B4-BE49-F238E27FC236}">
                <a16:creationId xmlns:a16="http://schemas.microsoft.com/office/drawing/2014/main" id="{685BD2B1-013B-42E4-864D-A0071E270EB3}"/>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Feature delivery, live testing and demonstrations</a:t>
            </a:r>
          </a:p>
        </p:txBody>
      </p:sp>
      <p:sp>
        <p:nvSpPr>
          <p:cNvPr id="13" name="">
            <a:extLst xmlns:a="http://schemas.openxmlformats.org/drawingml/2006/main">
              <a:ext uri="{FF2B5EF4-FFF2-40B4-BE49-F238E27FC236}">
                <a16:creationId xmlns:a16="http://schemas.microsoft.com/office/drawing/2014/main" id="{9A65470A-98C3-4293-84DB-2992FA327CD9}"/>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2B4E743E-792A-4BE1-8E8C-F562E5C53CA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ITMS">
            <a:extLst xmlns:a="http://schemas.openxmlformats.org/drawingml/2006/main">
              <a:ext uri="{FF2B5EF4-FFF2-40B4-BE49-F238E27FC236}">
                <a16:creationId xmlns:a16="http://schemas.microsoft.com/office/drawing/2014/main" id="{A14189A6-D82B-4524-9E4B-AD5A79D8D9CA}"/>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ITMS</a:t>
            </a:r>
          </a:p>
        </p:txBody>
      </p:sp>
      <p:sp>
        <p:nvSpPr>
          <p:cNvPr id="16" name="Planned the frontend architecture and built operational features ">
            <a:extLst xmlns:a="http://schemas.openxmlformats.org/drawingml/2006/main">
              <a:ext uri="{FF2B5EF4-FFF2-40B4-BE49-F238E27FC236}">
                <a16:creationId xmlns:a16="http://schemas.microsoft.com/office/drawing/2014/main" id="{FE099085-6E2B-4664-ABE4-4E37FA811702}"/>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Planned the frontend architecture and built operational features end to end.</a:t>
            </a:r>
          </a:p>
        </p:txBody>
      </p:sp>
      <p:sp>
        <p:nvSpPr>
          <p:cNvPr id="17" name="">
            <a:extLst xmlns:a="http://schemas.openxmlformats.org/drawingml/2006/main">
              <a:ext uri="{FF2B5EF4-FFF2-40B4-BE49-F238E27FC236}">
                <a16:creationId xmlns:a16="http://schemas.microsoft.com/office/drawing/2014/main" id="{3F680F72-D3C4-4C79-9E8E-0399373D622E}"/>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System design and permission-heavy workflows">
            <a:extLst xmlns:a="http://schemas.openxmlformats.org/drawingml/2006/main">
              <a:ext uri="{FF2B5EF4-FFF2-40B4-BE49-F238E27FC236}">
                <a16:creationId xmlns:a16="http://schemas.microsoft.com/office/drawing/2014/main" id="{4659EEE1-7896-4BD4-8AA6-E4562D762F61}"/>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System design and permission-heavy workflows</a:t>
            </a:r>
          </a:p>
        </p:txBody>
      </p:sp>
      <p:sp>
        <p:nvSpPr>
          <p:cNvPr id="19" name="">
            <a:extLst xmlns:a="http://schemas.openxmlformats.org/drawingml/2006/main">
              <a:ext uri="{FF2B5EF4-FFF2-40B4-BE49-F238E27FC236}">
                <a16:creationId xmlns:a16="http://schemas.microsoft.com/office/drawing/2014/main" id="{6D12A8B9-EC74-4555-842F-F0A25B605A55}"/>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F861C74B-55EC-4542-A008-7F43319F5BE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VLTD">
            <a:extLst xmlns:a="http://schemas.openxmlformats.org/drawingml/2006/main">
              <a:ext uri="{FF2B5EF4-FFF2-40B4-BE49-F238E27FC236}">
                <a16:creationId xmlns:a16="http://schemas.microsoft.com/office/drawing/2014/main" id="{A3C8CD28-1A39-4EE1-8428-EB159E814B18}"/>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VLTD</a:t>
            </a:r>
          </a:p>
        </p:txBody>
      </p:sp>
      <p:sp>
        <p:nvSpPr>
          <p:cNvPr id="22" name="Improved the architecture while supporting a growing frontend tea">
            <a:extLst xmlns:a="http://schemas.openxmlformats.org/drawingml/2006/main">
              <a:ext uri="{FF2B5EF4-FFF2-40B4-BE49-F238E27FC236}">
                <a16:creationId xmlns:a16="http://schemas.microsoft.com/office/drawing/2014/main" id="{F35CC5BA-E9C1-4548-91F8-1FD57BC882A6}"/>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Improved the architecture while supporting a growing frontend team.</a:t>
            </a:r>
          </a:p>
        </p:txBody>
      </p:sp>
      <p:sp>
        <p:nvSpPr>
          <p:cNvPr id="23" name="">
            <a:extLst xmlns:a="http://schemas.openxmlformats.org/drawingml/2006/main">
              <a:ext uri="{FF2B5EF4-FFF2-40B4-BE49-F238E27FC236}">
                <a16:creationId xmlns:a16="http://schemas.microsoft.com/office/drawing/2014/main" id="{1B611ADD-897C-454F-8958-8CE93C2B429E}"/>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Requirements, mentoring and technical guidance">
            <a:extLst xmlns:a="http://schemas.openxmlformats.org/drawingml/2006/main">
              <a:ext uri="{FF2B5EF4-FFF2-40B4-BE49-F238E27FC236}">
                <a16:creationId xmlns:a16="http://schemas.microsoft.com/office/drawing/2014/main" id="{559884B2-CDA6-46BA-8BE8-A8F00130F287}"/>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Requirements, mentoring and technical guidance</a:t>
            </a:r>
          </a:p>
        </p:txBody>
      </p:sp>
    </p:spTree>
    <p:extLst>
      <p:ext uri="{BB962C8B-B14F-4D97-AF65-F5344CB8AC3E}">
        <p14:creationId xmlns:p14="http://schemas.microsoft.com/office/powerpoint/2010/main" val="214642011"/>
      </p:ext>
    </p:extLst>
  </p:cSld>
</p:sld>
</file>

<file path=ppt/slides/slide4.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1 / RTAPE">
            <a:extLst xmlns:a="http://schemas.openxmlformats.org/drawingml/2006/main">
              <a:ext uri="{FF2B5EF4-FFF2-40B4-BE49-F238E27FC236}">
                <a16:creationId xmlns:a16="http://schemas.microsoft.com/office/drawing/2014/main" id="{1F94C9F5-57D5-41E3-A73A-2D258EEA1178}"/>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01 / RTAPE</a:t>
            </a:r>
          </a:p>
        </p:txBody>
      </p:sp>
      <p:sp>
        <p:nvSpPr>
          <p:cNvPr id="2" name="ATLANTA SYSTEMS">
            <a:extLst xmlns:a="http://schemas.openxmlformats.org/drawingml/2006/main">
              <a:ext uri="{FF2B5EF4-FFF2-40B4-BE49-F238E27FC236}">
                <a16:creationId xmlns:a16="http://schemas.microsoft.com/office/drawing/2014/main" id="{3EC7E647-EC39-4D7B-A76A-4E17286AD8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D5493CF-5CBC-4A92-9709-9AFE004D821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4 / 18">
            <a:extLst xmlns:a="http://schemas.openxmlformats.org/drawingml/2006/main">
              <a:ext uri="{FF2B5EF4-FFF2-40B4-BE49-F238E27FC236}">
                <a16:creationId xmlns:a16="http://schemas.microsoft.com/office/drawing/2014/main" id="{5FF0B08B-8D7A-4873-83F3-9C5FC04E122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04 / 18</a:t>
            </a:r>
          </a:p>
        </p:txBody>
      </p:sp>
      <p:sp>
        <p:nvSpPr>
          <p:cNvPr id="5" name="Complete frontend ownership">
            <a:extLst xmlns:a="http://schemas.openxmlformats.org/drawingml/2006/main">
              <a:ext uri="{FF2B5EF4-FFF2-40B4-BE49-F238E27FC236}">
                <a16:creationId xmlns:a16="http://schemas.microsoft.com/office/drawing/2014/main" id="{97FBF31C-4CC3-4A09-A146-A1ACCB3DAF4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Complete frontend ownership</a:t>
            </a:r>
          </a:p>
        </p:txBody>
      </p:sp>
      <p:sp>
        <p:nvSpPr>
          <p:cNvPr id="6" name="A management information system for certified reflective-tape fit">
            <a:extLst xmlns:a="http://schemas.openxmlformats.org/drawingml/2006/main">
              <a:ext uri="{FF2B5EF4-FFF2-40B4-BE49-F238E27FC236}">
                <a16:creationId xmlns:a16="http://schemas.microsoft.com/office/drawing/2014/main" id="{E8495A76-B454-4064-A2C6-41F996997D17}"/>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management information system for certified reflective-tape fitment and verification</a:t>
            </a:r>
          </a:p>
        </p:txBody>
      </p:sp>
      <p:sp>
        <p:nvSpPr>
          <p:cNvPr id="7" name="I owned the frontend across the project’s workflows.">
            <a:extLst xmlns:a="http://schemas.openxmlformats.org/drawingml/2006/main">
              <a:ext uri="{FF2B5EF4-FFF2-40B4-BE49-F238E27FC236}">
                <a16:creationId xmlns:a16="http://schemas.microsoft.com/office/drawing/2014/main" id="{3D132F41-3C73-4EED-8A7C-9E523F8D6F23}"/>
              </a:ext>
            </a:extLst>
          </p:cNvPr>
          <p:cNvSpPr>
            <a:spLocks xmlns:a="http://schemas.openxmlformats.org/drawingml/2006/main" noGrp="1"/>
          </p:cNvSpPr>
          <p:nvPr/>
        </p:nvSpPr>
        <p:spPr>
          <a:xfrm xmlns:a="http://schemas.openxmlformats.org/drawingml/2006/main">
            <a:off x="609600" y="22860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owned the frontend across the project’s workflows.</a:t>
            </a:r>
          </a:p>
        </p:txBody>
      </p:sp>
      <p:sp>
        <p:nvSpPr>
          <p:cNvPr id="8" name="">
            <a:extLst xmlns:a="http://schemas.openxmlformats.org/drawingml/2006/main">
              <a:ext uri="{FF2B5EF4-FFF2-40B4-BE49-F238E27FC236}">
                <a16:creationId xmlns:a16="http://schemas.microsoft.com/office/drawing/2014/main" id="{2E86F17D-3716-4AF8-A4DD-FC2E2A2A15D8}"/>
              </a:ext>
            </a:extLst>
          </p:cNvPr>
          <p:cNvSpPr>
            <a:spLocks xmlns:a="http://schemas.openxmlformats.org/drawingml/2006/main" noGrp="1"/>
          </p:cNvSpPr>
          <p:nvPr/>
        </p:nvSpPr>
        <p:spPr>
          <a:xfrm xmlns:a="http://schemas.openxmlformats.org/drawingml/2006/main">
            <a:off x="5400675" y="22098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A two-member team">
            <a:extLst xmlns:a="http://schemas.openxmlformats.org/drawingml/2006/main">
              <a:ext uri="{FF2B5EF4-FFF2-40B4-BE49-F238E27FC236}">
                <a16:creationId xmlns:a16="http://schemas.microsoft.com/office/drawing/2014/main" id="{0C20CBE8-6DFA-45DC-B1EC-FEC3D456F441}"/>
              </a:ext>
            </a:extLst>
          </p:cNvPr>
          <p:cNvSpPr>
            <a:spLocks xmlns:a="http://schemas.openxmlformats.org/drawingml/2006/main" noGrp="1"/>
          </p:cNvSpPr>
          <p:nvPr/>
        </p:nvSpPr>
        <p:spPr>
          <a:xfrm xmlns:a="http://schemas.openxmlformats.org/drawingml/2006/main">
            <a:off x="5400675" y="23717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A two-member team</a:t>
            </a:r>
          </a:p>
        </p:txBody>
      </p:sp>
      <p:sp>
        <p:nvSpPr>
          <p:cNvPr id="10" name="Built with one backend teammate, with guidance from Ritesh sir.">
            <a:extLst xmlns:a="http://schemas.openxmlformats.org/drawingml/2006/main">
              <a:ext uri="{FF2B5EF4-FFF2-40B4-BE49-F238E27FC236}">
                <a16:creationId xmlns:a16="http://schemas.microsoft.com/office/drawing/2014/main" id="{E0238CD1-1556-4EE1-869D-03F716BA6B6B}"/>
              </a:ext>
            </a:extLst>
          </p:cNvPr>
          <p:cNvSpPr>
            <a:spLocks xmlns:a="http://schemas.openxmlformats.org/drawingml/2006/main" noGrp="1"/>
          </p:cNvSpPr>
          <p:nvPr/>
        </p:nvSpPr>
        <p:spPr>
          <a:xfrm xmlns:a="http://schemas.openxmlformats.org/drawingml/2006/main">
            <a:off x="5400675" y="27146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Built with one backend teammate, with guidance from Ritesh sir.</a:t>
            </a:r>
          </a:p>
        </p:txBody>
      </p:sp>
      <p:sp>
        <p:nvSpPr>
          <p:cNvPr id="11" name="Workflow and architecture">
            <a:extLst xmlns:a="http://schemas.openxmlformats.org/drawingml/2006/main">
              <a:ext uri="{FF2B5EF4-FFF2-40B4-BE49-F238E27FC236}">
                <a16:creationId xmlns:a16="http://schemas.microsoft.com/office/drawing/2014/main" id="{8ECA104A-A2EB-41C9-A49A-9DBEFBAA7882}"/>
              </a:ext>
            </a:extLst>
          </p:cNvPr>
          <p:cNvSpPr>
            <a:spLocks xmlns:a="http://schemas.openxmlformats.org/drawingml/2006/main" noGrp="1"/>
          </p:cNvSpPr>
          <p:nvPr/>
        </p:nvSpPr>
        <p:spPr>
          <a:xfrm xmlns:a="http://schemas.openxmlformats.org/drawingml/2006/main">
            <a:off x="5400675" y="33147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Workflow and architecture</a:t>
            </a:r>
          </a:p>
        </p:txBody>
      </p:sp>
      <p:sp>
        <p:nvSpPr>
          <p:cNvPr id="12" name="Jointly defined feature behavior and integration as requirements ">
            <a:extLst xmlns:a="http://schemas.openxmlformats.org/drawingml/2006/main">
              <a:ext uri="{FF2B5EF4-FFF2-40B4-BE49-F238E27FC236}">
                <a16:creationId xmlns:a16="http://schemas.microsoft.com/office/drawing/2014/main" id="{1CB881D1-AB01-4DB1-80D9-C1654D417EA1}"/>
              </a:ext>
            </a:extLst>
          </p:cNvPr>
          <p:cNvSpPr>
            <a:spLocks xmlns:a="http://schemas.openxmlformats.org/drawingml/2006/main" noGrp="1"/>
          </p:cNvSpPr>
          <p:nvPr/>
        </p:nvSpPr>
        <p:spPr>
          <a:xfrm xmlns:a="http://schemas.openxmlformats.org/drawingml/2006/main">
            <a:off x="5400675" y="36576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Jointly defined feature behavior and integration as requirements evolved.</a:t>
            </a:r>
          </a:p>
        </p:txBody>
      </p:sp>
      <p:sp>
        <p:nvSpPr>
          <p:cNvPr id="13" name="Independent problem solving">
            <a:extLst xmlns:a="http://schemas.openxmlformats.org/drawingml/2006/main">
              <a:ext uri="{FF2B5EF4-FFF2-40B4-BE49-F238E27FC236}">
                <a16:creationId xmlns:a16="http://schemas.microsoft.com/office/drawing/2014/main" id="{CA1EE77F-92E7-436F-9D6B-5A564525D0AD}"/>
              </a:ext>
            </a:extLst>
          </p:cNvPr>
          <p:cNvSpPr>
            <a:spLocks xmlns:a="http://schemas.openxmlformats.org/drawingml/2006/main" noGrp="1"/>
          </p:cNvSpPr>
          <p:nvPr/>
        </p:nvSpPr>
        <p:spPr>
          <a:xfrm xmlns:a="http://schemas.openxmlformats.org/drawingml/2006/main">
            <a:off x="5400675" y="42576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Independent problem solving</a:t>
            </a:r>
          </a:p>
        </p:txBody>
      </p:sp>
      <p:sp>
        <p:nvSpPr>
          <p:cNvPr id="14" name="Used continuous R&amp;D to resolve gaps in documentation and specific">
            <a:extLst xmlns:a="http://schemas.openxmlformats.org/drawingml/2006/main">
              <a:ext uri="{FF2B5EF4-FFF2-40B4-BE49-F238E27FC236}">
                <a16:creationId xmlns:a16="http://schemas.microsoft.com/office/drawing/2014/main" id="{E14CC7D9-DA1C-4E8D-A806-235227C00E3D}"/>
              </a:ext>
            </a:extLst>
          </p:cNvPr>
          <p:cNvSpPr>
            <a:spLocks xmlns:a="http://schemas.openxmlformats.org/drawingml/2006/main" noGrp="1"/>
          </p:cNvSpPr>
          <p:nvPr/>
        </p:nvSpPr>
        <p:spPr>
          <a:xfrm xmlns:a="http://schemas.openxmlformats.org/drawingml/2006/main">
            <a:off x="5400675" y="46005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Used continuous R&amp;D to resolve gaps in documentation and specifications.</a:t>
            </a:r>
          </a:p>
        </p:txBody>
      </p:sp>
    </p:spTree>
    <p:extLst>
      <p:ext uri="{BB962C8B-B14F-4D97-AF65-F5344CB8AC3E}">
        <p14:creationId xmlns:p14="http://schemas.microsoft.com/office/powerpoint/2010/main" val="11430064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TAPE / MY CONTRIBUTIONS">
            <a:extLst xmlns:a="http://schemas.openxmlformats.org/drawingml/2006/main">
              <a:ext uri="{FF2B5EF4-FFF2-40B4-BE49-F238E27FC236}">
                <a16:creationId xmlns:a16="http://schemas.microsoft.com/office/drawing/2014/main" id="{BE81F05A-20CA-4547-9F09-176138F9E24D}"/>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MY CONTRIBUTIONS</a:t>
            </a:r>
          </a:p>
        </p:txBody>
      </p:sp>
      <p:sp>
        <p:nvSpPr>
          <p:cNvPr id="2" name="ATLANTA SYSTEMS">
            <a:extLst xmlns:a="http://schemas.openxmlformats.org/drawingml/2006/main">
              <a:ext uri="{FF2B5EF4-FFF2-40B4-BE49-F238E27FC236}">
                <a16:creationId xmlns:a16="http://schemas.microsoft.com/office/drawing/2014/main" id="{46E78037-A872-4AD2-BA45-343417A7D69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15C9B22F-E509-483E-9CAD-2A2E3E531B6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5 / 18">
            <a:extLst xmlns:a="http://schemas.openxmlformats.org/drawingml/2006/main">
              <a:ext uri="{FF2B5EF4-FFF2-40B4-BE49-F238E27FC236}">
                <a16:creationId xmlns:a16="http://schemas.microsoft.com/office/drawing/2014/main" id="{0C90D8A6-C539-4190-B1B8-D297A2B4584C}"/>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05 / 18</a:t>
            </a:r>
          </a:p>
        </p:txBody>
      </p:sp>
      <p:sp>
        <p:nvSpPr>
          <p:cNvPr id="5" name="Core workflows I delivered">
            <a:extLst xmlns:a="http://schemas.openxmlformats.org/drawingml/2006/main">
              <a:ext uri="{FF2B5EF4-FFF2-40B4-BE49-F238E27FC236}">
                <a16:creationId xmlns:a16="http://schemas.microsoft.com/office/drawing/2014/main" id="{8E6AB3E2-38EB-469A-8A71-2CC581D054A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Core workflows I delivered</a:t>
            </a:r>
          </a:p>
        </p:txBody>
      </p:sp>
      <p:sp>
        <p:nvSpPr>
          <p:cNvPr id="6" name="">
            <a:extLst xmlns:a="http://schemas.openxmlformats.org/drawingml/2006/main">
              <a:ext uri="{FF2B5EF4-FFF2-40B4-BE49-F238E27FC236}">
                <a16:creationId xmlns:a16="http://schemas.microsoft.com/office/drawing/2014/main" id="{B2529B95-32DD-4ACE-A95D-B1C092399AC5}"/>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A3749AB4-9C5B-415B-A62F-F008446AB05F}"/>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Access and governance">
            <a:extLst xmlns:a="http://schemas.openxmlformats.org/drawingml/2006/main">
              <a:ext uri="{FF2B5EF4-FFF2-40B4-BE49-F238E27FC236}">
                <a16:creationId xmlns:a16="http://schemas.microsoft.com/office/drawing/2014/main" id="{E1EA989C-7713-4209-A21B-2B57E1286D6F}"/>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Access and governance</a:t>
            </a:r>
          </a:p>
        </p:txBody>
      </p:sp>
      <p:sp>
        <p:nvSpPr>
          <p:cNvPr id="9" name="Role-aware login, permissions, restricted accounts and approval w">
            <a:extLst xmlns:a="http://schemas.openxmlformats.org/drawingml/2006/main">
              <a:ext uri="{FF2B5EF4-FFF2-40B4-BE49-F238E27FC236}">
                <a16:creationId xmlns:a16="http://schemas.microsoft.com/office/drawing/2014/main" id="{33168BC6-BB57-425B-B869-DE7184F69CFF}"/>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Role-aware login, permissions, restricted accounts and approval workflows.</a:t>
            </a:r>
          </a:p>
        </p:txBody>
      </p:sp>
      <p:sp>
        <p:nvSpPr>
          <p:cNvPr id="10" name="">
            <a:extLst xmlns:a="http://schemas.openxmlformats.org/drawingml/2006/main">
              <a:ext uri="{FF2B5EF4-FFF2-40B4-BE49-F238E27FC236}">
                <a16:creationId xmlns:a16="http://schemas.microsoft.com/office/drawing/2014/main" id="{708A6941-915A-4176-B6B7-8B2AFB9CBCD8}"/>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41AC51F8-ACC4-4339-80FC-067EB7AE78F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Appointments and grievances">
            <a:extLst xmlns:a="http://schemas.openxmlformats.org/drawingml/2006/main">
              <a:ext uri="{FF2B5EF4-FFF2-40B4-BE49-F238E27FC236}">
                <a16:creationId xmlns:a16="http://schemas.microsoft.com/office/drawing/2014/main" id="{E143E777-9D6B-4179-A152-56C2D02E4487}"/>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Appointments and grievances</a:t>
            </a:r>
          </a:p>
        </p:txBody>
      </p:sp>
      <p:sp>
        <p:nvSpPr>
          <p:cNvPr id="13" name="OTP booking, slots, working hours, complaint tracking and resolut">
            <a:extLst xmlns:a="http://schemas.openxmlformats.org/drawingml/2006/main">
              <a:ext uri="{FF2B5EF4-FFF2-40B4-BE49-F238E27FC236}">
                <a16:creationId xmlns:a16="http://schemas.microsoft.com/office/drawing/2014/main" id="{62D72AE5-09A8-4107-925F-25176A3ACD2D}"/>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OTP booking, slots, working hours, complaint tracking and resolution flows.</a:t>
            </a:r>
          </a:p>
        </p:txBody>
      </p:sp>
      <p:sp>
        <p:nvSpPr>
          <p:cNvPr id="14" name="">
            <a:extLst xmlns:a="http://schemas.openxmlformats.org/drawingml/2006/main">
              <a:ext uri="{FF2B5EF4-FFF2-40B4-BE49-F238E27FC236}">
                <a16:creationId xmlns:a16="http://schemas.microsoft.com/office/drawing/2014/main" id="{99CF212D-F2B7-49F5-862C-23C31495F00A}"/>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09F93348-AFE1-42D4-92AE-DC1BE58B3D42}"/>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Fitment and inventory">
            <a:extLst xmlns:a="http://schemas.openxmlformats.org/drawingml/2006/main">
              <a:ext uri="{FF2B5EF4-FFF2-40B4-BE49-F238E27FC236}">
                <a16:creationId xmlns:a16="http://schemas.microsoft.com/office/drawing/2014/main" id="{63F39F2E-6A02-4141-85A7-4757338840D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Fitment and inventory</a:t>
            </a:r>
          </a:p>
        </p:txBody>
      </p:sp>
      <p:sp>
        <p:nvSpPr>
          <p:cNvPr id="17" name="Stock allocation, discard flows, price approvals and fitment veri">
            <a:extLst xmlns:a="http://schemas.openxmlformats.org/drawingml/2006/main">
              <a:ext uri="{FF2B5EF4-FFF2-40B4-BE49-F238E27FC236}">
                <a16:creationId xmlns:a16="http://schemas.microsoft.com/office/drawing/2014/main" id="{141B4C3B-4908-4051-A989-A4A871DD8BE2}"/>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Stock allocation, discard flows, price approvals and fitment verification.</a:t>
            </a:r>
          </a:p>
        </p:txBody>
      </p:sp>
      <p:sp>
        <p:nvSpPr>
          <p:cNvPr id="18" name="">
            <a:extLst xmlns:a="http://schemas.openxmlformats.org/drawingml/2006/main">
              <a:ext uri="{FF2B5EF4-FFF2-40B4-BE49-F238E27FC236}">
                <a16:creationId xmlns:a16="http://schemas.microsoft.com/office/drawing/2014/main" id="{FA6E59A3-9B13-4749-A865-C709895D283F}"/>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8F7179D6-43D0-43FB-A3EA-9872415F89A6}"/>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Certificates and usability">
            <a:extLst xmlns:a="http://schemas.openxmlformats.org/drawingml/2006/main">
              <a:ext uri="{FF2B5EF4-FFF2-40B4-BE49-F238E27FC236}">
                <a16:creationId xmlns:a16="http://schemas.microsoft.com/office/drawing/2014/main" id="{78A130B7-F6CA-44FD-8AB8-527EC16FCB7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Certificates and usability</a:t>
            </a:r>
          </a:p>
        </p:txBody>
      </p:sp>
      <p:sp>
        <p:nvSpPr>
          <p:cNvPr id="21" name="QR verification, PDF certificates, Hindi localization and respons">
            <a:extLst xmlns:a="http://schemas.openxmlformats.org/drawingml/2006/main">
              <a:ext uri="{FF2B5EF4-FFF2-40B4-BE49-F238E27FC236}">
                <a16:creationId xmlns:a16="http://schemas.microsoft.com/office/drawing/2014/main" id="{BDB0F710-C1EB-4477-BB54-401035721E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QR verification, PDF certificates, Hindi localization and responsive screens.</a:t>
            </a:r>
          </a:p>
        </p:txBody>
      </p:sp>
      <p:sp>
        <p:nvSpPr>
          <p:cNvPr id="22" name="">
            <a:extLst xmlns:a="http://schemas.openxmlformats.org/drawingml/2006/main">
              <a:ext uri="{FF2B5EF4-FFF2-40B4-BE49-F238E27FC236}">
                <a16:creationId xmlns:a16="http://schemas.microsoft.com/office/drawing/2014/main" id="{AB984834-2B0A-4980-AE11-82C104A80C48}"/>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81A5F9E6-805E-4E2A-9A84-36F9AA7DD40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Connected public services and operational workflows within the sa">
            <a:extLst xmlns:a="http://schemas.openxmlformats.org/drawingml/2006/main">
              <a:ext uri="{FF2B5EF4-FFF2-40B4-BE49-F238E27FC236}">
                <a16:creationId xmlns:a16="http://schemas.microsoft.com/office/drawing/2014/main" id="{C79C8A81-E044-4545-954D-C04E4CB39D4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Connected public services and operational workflows within the same frontend.</a:t>
            </a:r>
          </a:p>
        </p:txBody>
      </p:sp>
    </p:spTree>
    <p:extLst>
      <p:ext uri="{BB962C8B-B14F-4D97-AF65-F5344CB8AC3E}">
        <p14:creationId xmlns:p14="http://schemas.microsoft.com/office/powerpoint/2010/main" val="2027331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TAPE / DELIVERY AND BUSINESS OUTCOME">
            <a:extLst xmlns:a="http://schemas.openxmlformats.org/drawingml/2006/main">
              <a:ext uri="{FF2B5EF4-FFF2-40B4-BE49-F238E27FC236}">
                <a16:creationId xmlns:a16="http://schemas.microsoft.com/office/drawing/2014/main" id="{79ED7F2C-59BB-4908-BDD6-8FF94782002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DELIVERY AND BUSINESS OUTCOME</a:t>
            </a:r>
          </a:p>
        </p:txBody>
      </p:sp>
      <p:sp>
        <p:nvSpPr>
          <p:cNvPr id="2" name="ATLANTA SYSTEMS">
            <a:extLst xmlns:a="http://schemas.openxmlformats.org/drawingml/2006/main">
              <a:ext uri="{FF2B5EF4-FFF2-40B4-BE49-F238E27FC236}">
                <a16:creationId xmlns:a16="http://schemas.microsoft.com/office/drawing/2014/main" id="{C1315D1A-2376-443C-B623-5AB2632069B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nder outcome and demonstration details are reported in my accou">
            <a:extLst xmlns:a="http://schemas.openxmlformats.org/drawingml/2006/main">
              <a:ext uri="{FF2B5EF4-FFF2-40B4-BE49-F238E27FC236}">
                <a16:creationId xmlns:a16="http://schemas.microsoft.com/office/drawing/2014/main" id="{6EFFCC98-7891-48E6-A011-810BDB47BE2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Tender outcome and demonstration details are reported in my account.</a:t>
            </a:r>
          </a:p>
        </p:txBody>
      </p:sp>
      <p:sp>
        <p:nvSpPr>
          <p:cNvPr id="4" name="06 / 18">
            <a:extLst xmlns:a="http://schemas.openxmlformats.org/drawingml/2006/main">
              <a:ext uri="{FF2B5EF4-FFF2-40B4-BE49-F238E27FC236}">
                <a16:creationId xmlns:a16="http://schemas.microsoft.com/office/drawing/2014/main" id="{51AF0143-2DD3-424E-A7B2-FD086DB521C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06 / 18</a:t>
            </a:r>
          </a:p>
        </p:txBody>
      </p:sp>
      <p:sp>
        <p:nvSpPr>
          <p:cNvPr id="5" name="Delivery beyond the code">
            <a:extLst xmlns:a="http://schemas.openxmlformats.org/drawingml/2006/main">
              <a:ext uri="{FF2B5EF4-FFF2-40B4-BE49-F238E27FC236}">
                <a16:creationId xmlns:a16="http://schemas.microsoft.com/office/drawing/2014/main" id="{BA0D70B4-819B-4016-BF92-1D23E0257C1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Delivery beyond the code</a:t>
            </a:r>
          </a:p>
        </p:txBody>
      </p:sp>
      <p:sp>
        <p:nvSpPr>
          <p:cNvPr id="6" name="PROJECT TEAM OUTCOME">
            <a:extLst xmlns:a="http://schemas.openxmlformats.org/drawingml/2006/main">
              <a:ext uri="{FF2B5EF4-FFF2-40B4-BE49-F238E27FC236}">
                <a16:creationId xmlns:a16="http://schemas.microsoft.com/office/drawing/2014/main" id="{A409D604-8AB8-47ED-87A4-7E52B7AB7E89}"/>
              </a:ext>
            </a:extLst>
          </p:cNvPr>
          <p:cNvSpPr>
            <a:spLocks xmlns:a="http://schemas.openxmlformats.org/drawingml/2006/main" noGrp="1"/>
          </p:cNvSpPr>
          <p:nvPr/>
        </p:nvSpPr>
        <p:spPr>
          <a:xfrm xmlns:a="http://schemas.openxmlformats.org/drawingml/2006/main">
            <a:off x="609600" y="213360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56647A"/>
                </a:solidFill>
                <a:latin typeface="Arial"/>
                <a:ea typeface="Arial"/>
                <a:cs typeface="Arial"/>
              </a:defRPr>
            </a:pPr>
            <a:r>
              <a:rPr sz="975" b="1">
                <a:solidFill>
                  <a:srgbClr val="56647A"/>
                </a:solidFill>
                <a:latin typeface="Arial"/>
                <a:ea typeface="Arial"/>
                <a:cs typeface="Arial"/>
              </a:rPr>
              <a:t>PROJECT TEAM OUTCOME</a:t>
            </a:r>
          </a:p>
        </p:txBody>
      </p:sp>
      <p:sp>
        <p:nvSpPr>
          <p:cNvPr id="7" name="Government&#10;tender won">
            <a:extLst xmlns:a="http://schemas.openxmlformats.org/drawingml/2006/main">
              <a:ext uri="{FF2B5EF4-FFF2-40B4-BE49-F238E27FC236}">
                <a16:creationId xmlns:a16="http://schemas.microsoft.com/office/drawing/2014/main" id="{37984AF9-5EA0-4D70-92DA-CF5AEB72EDF0}"/>
              </a:ext>
            </a:extLst>
          </p:cNvPr>
          <p:cNvSpPr>
            <a:spLocks xmlns:a="http://schemas.openxmlformats.org/drawingml/2006/main" noGrp="1"/>
          </p:cNvSpPr>
          <p:nvPr/>
        </p:nvSpPr>
        <p:spPr>
          <a:xfrm xmlns:a="http://schemas.openxmlformats.org/drawingml/2006/main">
            <a:off x="609600" y="2667000"/>
            <a:ext cx="42862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Government</a:t>
            </a:r>
          </a:p>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tender won</a:t>
            </a:r>
          </a:p>
        </p:txBody>
      </p:sp>
      <p:sp>
        <p:nvSpPr>
          <p:cNvPr id="8" name="">
            <a:extLst xmlns:a="http://schemas.openxmlformats.org/drawingml/2006/main">
              <a:ext uri="{FF2B5EF4-FFF2-40B4-BE49-F238E27FC236}">
                <a16:creationId xmlns:a16="http://schemas.microsoft.com/office/drawing/2014/main" id="{FE7390C0-B69D-414F-B1BA-1B9ECEFF18EB}"/>
              </a:ext>
            </a:extLst>
          </p:cNvPr>
          <p:cNvSpPr>
            <a:spLocks xmlns:a="http://schemas.openxmlformats.org/drawingml/2006/main" noGrp="1"/>
          </p:cNvSpPr>
          <p:nvPr/>
        </p:nvSpPr>
        <p:spPr>
          <a:xfrm xmlns:a="http://schemas.openxmlformats.org/drawingml/2006/main">
            <a:off x="5400675" y="18288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9" name="Live workflow testing">
            <a:extLst xmlns:a="http://schemas.openxmlformats.org/drawingml/2006/main">
              <a:ext uri="{FF2B5EF4-FFF2-40B4-BE49-F238E27FC236}">
                <a16:creationId xmlns:a16="http://schemas.microsoft.com/office/drawing/2014/main" id="{7C70C458-A9FE-4C0F-ACD3-5CBB462BEC3B}"/>
              </a:ext>
            </a:extLst>
          </p:cNvPr>
          <p:cNvSpPr>
            <a:spLocks xmlns:a="http://schemas.openxmlformats.org/drawingml/2006/main" noGrp="1"/>
          </p:cNvSpPr>
          <p:nvPr/>
        </p:nvSpPr>
        <p:spPr>
          <a:xfrm xmlns:a="http://schemas.openxmlformats.org/drawingml/2006/main">
            <a:off x="5400675" y="19812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Live workflow testing</a:t>
            </a:r>
          </a:p>
        </p:txBody>
      </p:sp>
      <p:sp>
        <p:nvSpPr>
          <p:cNvPr id="10" name="Planned real-world checks and resolved issues from demo feedback.">
            <a:extLst xmlns:a="http://schemas.openxmlformats.org/drawingml/2006/main">
              <a:ext uri="{FF2B5EF4-FFF2-40B4-BE49-F238E27FC236}">
                <a16:creationId xmlns:a16="http://schemas.microsoft.com/office/drawing/2014/main" id="{1A2D5798-AC14-4306-9894-F98B3EBE434E}"/>
              </a:ext>
            </a:extLst>
          </p:cNvPr>
          <p:cNvSpPr>
            <a:spLocks xmlns:a="http://schemas.openxmlformats.org/drawingml/2006/main" noGrp="1"/>
          </p:cNvSpPr>
          <p:nvPr/>
        </p:nvSpPr>
        <p:spPr>
          <a:xfrm xmlns:a="http://schemas.openxmlformats.org/drawingml/2006/main">
            <a:off x="5400675" y="23241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Planned real-world checks and resolved issues from demo feedback.</a:t>
            </a:r>
          </a:p>
        </p:txBody>
      </p:sp>
      <p:sp>
        <p:nvSpPr>
          <p:cNvPr id="11" name="">
            <a:extLst xmlns:a="http://schemas.openxmlformats.org/drawingml/2006/main">
              <a:ext uri="{FF2B5EF4-FFF2-40B4-BE49-F238E27FC236}">
                <a16:creationId xmlns:a16="http://schemas.microsoft.com/office/drawing/2014/main" id="{1B1FA561-51B6-4503-8DCB-48E85AA527CE}"/>
              </a:ext>
            </a:extLst>
          </p:cNvPr>
          <p:cNvSpPr>
            <a:spLocks xmlns:a="http://schemas.openxmlformats.org/drawingml/2006/main" noGrp="1"/>
          </p:cNvSpPr>
          <p:nvPr/>
        </p:nvSpPr>
        <p:spPr>
          <a:xfrm xmlns:a="http://schemas.openxmlformats.org/drawingml/2006/main">
            <a:off x="5400675" y="27622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Stakeholder demonstrations">
            <a:extLst xmlns:a="http://schemas.openxmlformats.org/drawingml/2006/main">
              <a:ext uri="{FF2B5EF4-FFF2-40B4-BE49-F238E27FC236}">
                <a16:creationId xmlns:a16="http://schemas.microsoft.com/office/drawing/2014/main" id="{855FF5F9-53FD-4E6A-B48B-F7B002CE01EA}"/>
              </a:ext>
            </a:extLst>
          </p:cNvPr>
          <p:cNvSpPr>
            <a:spLocks xmlns:a="http://schemas.openxmlformats.org/drawingml/2006/main" noGrp="1"/>
          </p:cNvSpPr>
          <p:nvPr/>
        </p:nvSpPr>
        <p:spPr>
          <a:xfrm xmlns:a="http://schemas.openxmlformats.org/drawingml/2006/main">
            <a:off x="5400675" y="29146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Stakeholder demonstrations</a:t>
            </a:r>
          </a:p>
        </p:txBody>
      </p:sp>
      <p:sp>
        <p:nvSpPr>
          <p:cNvPr id="13" name="Presented at BESIL’s Noida office and joined project demo meeting">
            <a:extLst xmlns:a="http://schemas.openxmlformats.org/drawingml/2006/main">
              <a:ext uri="{FF2B5EF4-FFF2-40B4-BE49-F238E27FC236}">
                <a16:creationId xmlns:a16="http://schemas.microsoft.com/office/drawing/2014/main" id="{DFC15C3B-9CBA-49A5-9DF1-923704FBEDB8}"/>
              </a:ext>
            </a:extLst>
          </p:cNvPr>
          <p:cNvSpPr>
            <a:spLocks xmlns:a="http://schemas.openxmlformats.org/drawingml/2006/main" noGrp="1"/>
          </p:cNvSpPr>
          <p:nvPr/>
        </p:nvSpPr>
        <p:spPr>
          <a:xfrm xmlns:a="http://schemas.openxmlformats.org/drawingml/2006/main">
            <a:off x="5400675" y="32575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Presented at BESIL’s Noida office and joined project demo meetings.</a:t>
            </a:r>
          </a:p>
        </p:txBody>
      </p:sp>
      <p:sp>
        <p:nvSpPr>
          <p:cNvPr id="14" name="">
            <a:extLst xmlns:a="http://schemas.openxmlformats.org/drawingml/2006/main">
              <a:ext uri="{FF2B5EF4-FFF2-40B4-BE49-F238E27FC236}">
                <a16:creationId xmlns:a16="http://schemas.microsoft.com/office/drawing/2014/main" id="{BED46FBA-C0D8-4D54-B2EA-5E060812AFA3}"/>
              </a:ext>
            </a:extLst>
          </p:cNvPr>
          <p:cNvSpPr>
            <a:spLocks xmlns:a="http://schemas.openxmlformats.org/drawingml/2006/main" noGrp="1"/>
          </p:cNvSpPr>
          <p:nvPr/>
        </p:nvSpPr>
        <p:spPr>
          <a:xfrm xmlns:a="http://schemas.openxmlformats.org/drawingml/2006/main">
            <a:off x="5400675" y="36957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On-ground demo support">
            <a:extLst xmlns:a="http://schemas.openxmlformats.org/drawingml/2006/main">
              <a:ext uri="{FF2B5EF4-FFF2-40B4-BE49-F238E27FC236}">
                <a16:creationId xmlns:a16="http://schemas.microsoft.com/office/drawing/2014/main" id="{6AA5955B-4CB7-4B7D-A206-CC11D7B893B1}"/>
              </a:ext>
            </a:extLst>
          </p:cNvPr>
          <p:cNvSpPr>
            <a:spLocks xmlns:a="http://schemas.openxmlformats.org/drawingml/2006/main" noGrp="1"/>
          </p:cNvSpPr>
          <p:nvPr/>
        </p:nvSpPr>
        <p:spPr>
          <a:xfrm xmlns:a="http://schemas.openxmlformats.org/drawingml/2006/main">
            <a:off x="5400675" y="38481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On-ground demo support</a:t>
            </a:r>
          </a:p>
        </p:txBody>
      </p:sp>
      <p:sp>
        <p:nvSpPr>
          <p:cNvPr id="16" name="Supported Ritesh sir during the Madhya Pradesh demonstration.">
            <a:extLst xmlns:a="http://schemas.openxmlformats.org/drawingml/2006/main">
              <a:ext uri="{FF2B5EF4-FFF2-40B4-BE49-F238E27FC236}">
                <a16:creationId xmlns:a16="http://schemas.microsoft.com/office/drawing/2014/main" id="{E3CB37D4-2778-417C-BAEC-870A7F1D336B}"/>
              </a:ext>
            </a:extLst>
          </p:cNvPr>
          <p:cNvSpPr>
            <a:spLocks xmlns:a="http://schemas.openxmlformats.org/drawingml/2006/main" noGrp="1"/>
          </p:cNvSpPr>
          <p:nvPr/>
        </p:nvSpPr>
        <p:spPr>
          <a:xfrm xmlns:a="http://schemas.openxmlformats.org/drawingml/2006/main">
            <a:off x="5400675" y="41910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Supported Ritesh sir during the Madhya Pradesh demonstration.</a:t>
            </a:r>
          </a:p>
        </p:txBody>
      </p:sp>
      <p:sp>
        <p:nvSpPr>
          <p:cNvPr id="17" name="">
            <a:extLst xmlns:a="http://schemas.openxmlformats.org/drawingml/2006/main">
              <a:ext uri="{FF2B5EF4-FFF2-40B4-BE49-F238E27FC236}">
                <a16:creationId xmlns:a16="http://schemas.microsoft.com/office/drawing/2014/main" id="{78DD5E16-7151-4E9A-BC6B-3CB64C06AF42}"/>
              </a:ext>
            </a:extLst>
          </p:cNvPr>
          <p:cNvSpPr>
            <a:spLocks xmlns:a="http://schemas.openxmlformats.org/drawingml/2006/main" noGrp="1"/>
          </p:cNvSpPr>
          <p:nvPr/>
        </p:nvSpPr>
        <p:spPr>
          <a:xfrm xmlns:a="http://schemas.openxmlformats.org/drawingml/2006/main">
            <a:off x="5400675" y="46291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Follow-through">
            <a:extLst xmlns:a="http://schemas.openxmlformats.org/drawingml/2006/main">
              <a:ext uri="{FF2B5EF4-FFF2-40B4-BE49-F238E27FC236}">
                <a16:creationId xmlns:a16="http://schemas.microsoft.com/office/drawing/2014/main" id="{2C700E44-C1E7-451F-A258-D234F431AB7A}"/>
              </a:ext>
            </a:extLst>
          </p:cNvPr>
          <p:cNvSpPr>
            <a:spLocks xmlns:a="http://schemas.openxmlformats.org/drawingml/2006/main" noGrp="1"/>
          </p:cNvSpPr>
          <p:nvPr/>
        </p:nvSpPr>
        <p:spPr>
          <a:xfrm xmlns:a="http://schemas.openxmlformats.org/drawingml/2006/main">
            <a:off x="5400675" y="47815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Follow-through</a:t>
            </a:r>
          </a:p>
        </p:txBody>
      </p:sp>
      <p:sp>
        <p:nvSpPr>
          <p:cNvPr id="19" name="Helped with documentation and post-demo updates.">
            <a:extLst xmlns:a="http://schemas.openxmlformats.org/drawingml/2006/main">
              <a:ext uri="{FF2B5EF4-FFF2-40B4-BE49-F238E27FC236}">
                <a16:creationId xmlns:a16="http://schemas.microsoft.com/office/drawing/2014/main" id="{22C7C25A-EEB4-437F-BECB-C69D8BE2D9FE}"/>
              </a:ext>
            </a:extLst>
          </p:cNvPr>
          <p:cNvSpPr>
            <a:spLocks xmlns:a="http://schemas.openxmlformats.org/drawingml/2006/main" noGrp="1"/>
          </p:cNvSpPr>
          <p:nvPr/>
        </p:nvSpPr>
        <p:spPr>
          <a:xfrm xmlns:a="http://schemas.openxmlformats.org/drawingml/2006/main">
            <a:off x="5400675" y="51244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Helped with documentation and post-demo updates.</a:t>
            </a:r>
          </a:p>
        </p:txBody>
      </p:sp>
    </p:spTree>
    <p:extLst>
      <p:ext uri="{BB962C8B-B14F-4D97-AF65-F5344CB8AC3E}">
        <p14:creationId xmlns:p14="http://schemas.microsoft.com/office/powerpoint/2010/main" val="1372328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TAPE / CONTRIBUTION EVIDENCE">
            <a:extLst xmlns:a="http://schemas.openxmlformats.org/drawingml/2006/main">
              <a:ext uri="{FF2B5EF4-FFF2-40B4-BE49-F238E27FC236}">
                <a16:creationId xmlns:a16="http://schemas.microsoft.com/office/drawing/2014/main" id="{2F92AE01-2006-4F5C-8718-D56171BD340E}"/>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CONTRIBUTION EVIDENCE</a:t>
            </a:r>
          </a:p>
        </p:txBody>
      </p:sp>
      <p:sp>
        <p:nvSpPr>
          <p:cNvPr id="2" name="ATLANTA SYSTEMS">
            <a:extLst xmlns:a="http://schemas.openxmlformats.org/drawingml/2006/main">
              <a:ext uri="{FF2B5EF4-FFF2-40B4-BE49-F238E27FC236}">
                <a16:creationId xmlns:a16="http://schemas.microsoft.com/office/drawing/2014/main" id="{4E5C6D66-664E-4C7B-A527-8062E5A0D0D4}"/>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 Commit and file counts describe act">
            <a:extLst xmlns:a="http://schemas.openxmlformats.org/drawingml/2006/main">
              <a:ext uri="{FF2B5EF4-FFF2-40B4-BE49-F238E27FC236}">
                <a16:creationId xmlns:a16="http://schemas.microsoft.com/office/drawing/2014/main" id="{0302AFA5-94CC-4B5D-9079-04C44025BE83}"/>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 Commit and file counts describe activity, not production impact.</a:t>
            </a:r>
          </a:p>
        </p:txBody>
      </p:sp>
      <p:sp>
        <p:nvSpPr>
          <p:cNvPr id="4" name="07 / 18">
            <a:extLst xmlns:a="http://schemas.openxmlformats.org/drawingml/2006/main">
              <a:ext uri="{FF2B5EF4-FFF2-40B4-BE49-F238E27FC236}">
                <a16:creationId xmlns:a16="http://schemas.microsoft.com/office/drawing/2014/main" id="{241F680C-DCEE-44BE-BA9C-DBF050799F5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07 / 18</a:t>
            </a:r>
          </a:p>
        </p:txBody>
      </p:sp>
      <p:sp>
        <p:nvSpPr>
          <p:cNvPr id="5" name="A sustained contribution to RTape">
            <a:extLst xmlns:a="http://schemas.openxmlformats.org/drawingml/2006/main">
              <a:ext uri="{FF2B5EF4-FFF2-40B4-BE49-F238E27FC236}">
                <a16:creationId xmlns:a16="http://schemas.microsoft.com/office/drawing/2014/main" id="{1CC1344A-8A10-4930-8891-C636EA4105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 sustained contribution to RTape</a:t>
            </a:r>
          </a:p>
        </p:txBody>
      </p:sp>
      <p:sp>
        <p:nvSpPr>
          <p:cNvPr id="6" name="Activity attributed to Manish Kumar in the supplied repository re">
            <a:extLst xmlns:a="http://schemas.openxmlformats.org/drawingml/2006/main">
              <a:ext uri="{FF2B5EF4-FFF2-40B4-BE49-F238E27FC236}">
                <a16:creationId xmlns:a16="http://schemas.microsoft.com/office/drawing/2014/main" id="{C895FB78-53AE-43C0-A2A7-734CC5156D45}"/>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Activity attributed to Manish Kumar in the supplied repository review</a:t>
            </a:r>
          </a:p>
        </p:txBody>
      </p:sp>
      <p:sp>
        <p:nvSpPr>
          <p:cNvPr id="7" name="280">
            <a:extLst xmlns:a="http://schemas.openxmlformats.org/drawingml/2006/main">
              <a:ext uri="{FF2B5EF4-FFF2-40B4-BE49-F238E27FC236}">
                <a16:creationId xmlns:a16="http://schemas.microsoft.com/office/drawing/2014/main" id="{ABB7B88E-29EA-4409-B9C5-5B1D51F05A75}"/>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280</a:t>
            </a:r>
          </a:p>
        </p:txBody>
      </p:sp>
      <p:sp>
        <p:nvSpPr>
          <p:cNvPr id="8" name="Attributed commits">
            <a:extLst xmlns:a="http://schemas.openxmlformats.org/drawingml/2006/main">
              <a:ext uri="{FF2B5EF4-FFF2-40B4-BE49-F238E27FC236}">
                <a16:creationId xmlns:a16="http://schemas.microsoft.com/office/drawing/2014/main" id="{998F57A6-4FE8-40EA-A6C6-9E224C7872EC}"/>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Attributed commits</a:t>
            </a:r>
          </a:p>
        </p:txBody>
      </p:sp>
      <p:sp>
        <p:nvSpPr>
          <p:cNvPr id="9" name="Across the reviewed branch’s lifetime">
            <a:extLst xmlns:a="http://schemas.openxmlformats.org/drawingml/2006/main">
              <a:ext uri="{FF2B5EF4-FFF2-40B4-BE49-F238E27FC236}">
                <a16:creationId xmlns:a16="http://schemas.microsoft.com/office/drawing/2014/main" id="{14842A91-7640-43D1-9554-56BFECB7A73B}"/>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Across the reviewed branch’s lifetime</a:t>
            </a:r>
          </a:p>
        </p:txBody>
      </p:sp>
      <p:sp>
        <p:nvSpPr>
          <p:cNvPr id="10" name="89">
            <a:extLst xmlns:a="http://schemas.openxmlformats.org/drawingml/2006/main">
              <a:ext uri="{FF2B5EF4-FFF2-40B4-BE49-F238E27FC236}">
                <a16:creationId xmlns:a16="http://schemas.microsoft.com/office/drawing/2014/main" id="{C7FE4C41-29FA-46D3-B282-162C66071EDF}"/>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89</a:t>
            </a:r>
          </a:p>
        </p:txBody>
      </p:sp>
      <p:sp>
        <p:nvSpPr>
          <p:cNvPr id="11" name="Commits during 2026">
            <a:extLst xmlns:a="http://schemas.openxmlformats.org/drawingml/2006/main">
              <a:ext uri="{FF2B5EF4-FFF2-40B4-BE49-F238E27FC236}">
                <a16:creationId xmlns:a16="http://schemas.microsoft.com/office/drawing/2014/main" id="{6E7889EE-7320-4F02-B9EF-D4147FDF12F0}"/>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Commits during 2026</a:t>
            </a:r>
          </a:p>
        </p:txBody>
      </p:sp>
      <p:sp>
        <p:nvSpPr>
          <p:cNvPr id="12" name="About 64% of 2026 project commits">
            <a:extLst xmlns:a="http://schemas.openxmlformats.org/drawingml/2006/main">
              <a:ext uri="{FF2B5EF4-FFF2-40B4-BE49-F238E27FC236}">
                <a16:creationId xmlns:a16="http://schemas.microsoft.com/office/drawing/2014/main" id="{0D7A90A1-B84F-4BB4-A4FC-123FA4AC81E1}"/>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About 64% of 2026 project commits</a:t>
            </a:r>
          </a:p>
        </p:txBody>
      </p:sp>
      <p:sp>
        <p:nvSpPr>
          <p:cNvPr id="13" name="168">
            <a:extLst xmlns:a="http://schemas.openxmlformats.org/drawingml/2006/main">
              <a:ext uri="{FF2B5EF4-FFF2-40B4-BE49-F238E27FC236}">
                <a16:creationId xmlns:a16="http://schemas.microsoft.com/office/drawing/2014/main" id="{7F3A927A-6258-4628-A005-56FB6D570147}"/>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168</a:t>
            </a:r>
          </a:p>
        </p:txBody>
      </p:sp>
      <p:sp>
        <p:nvSpPr>
          <p:cNvPr id="14" name="Unique files changed">
            <a:extLst xmlns:a="http://schemas.openxmlformats.org/drawingml/2006/main">
              <a:ext uri="{FF2B5EF4-FFF2-40B4-BE49-F238E27FC236}">
                <a16:creationId xmlns:a16="http://schemas.microsoft.com/office/drawing/2014/main" id="{F0702648-A5C8-4A5F-AE04-181E5BD15F58}"/>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Unique files changed</a:t>
            </a:r>
          </a:p>
        </p:txBody>
      </p:sp>
      <p:sp>
        <p:nvSpPr>
          <p:cNvPr id="15" name="During the 2026 review period">
            <a:extLst xmlns:a="http://schemas.openxmlformats.org/drawingml/2006/main">
              <a:ext uri="{FF2B5EF4-FFF2-40B4-BE49-F238E27FC236}">
                <a16:creationId xmlns:a16="http://schemas.microsoft.com/office/drawing/2014/main" id="{15FEE591-56F9-467E-908C-15E5C9CD86FE}"/>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During the 2026 review period</a:t>
            </a:r>
          </a:p>
        </p:txBody>
      </p:sp>
      <p:sp>
        <p:nvSpPr>
          <p:cNvPr id="16" name="">
            <a:extLst xmlns:a="http://schemas.openxmlformats.org/drawingml/2006/main">
              <a:ext uri="{FF2B5EF4-FFF2-40B4-BE49-F238E27FC236}">
                <a16:creationId xmlns:a16="http://schemas.microsoft.com/office/drawing/2014/main" id="{7A04A286-B41E-4088-BED5-593A1146F03E}"/>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Feature development continued alongside refactoring, issue resolu">
            <a:extLst xmlns:a="http://schemas.openxmlformats.org/drawingml/2006/main">
              <a:ext uri="{FF2B5EF4-FFF2-40B4-BE49-F238E27FC236}">
                <a16:creationId xmlns:a16="http://schemas.microsoft.com/office/drawing/2014/main" id="{2EDE62B6-D8AE-49B7-801E-9F1335FFEFD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Feature development continued alongside refactoring, issue resolution and stakeholder changes.</a:t>
            </a:r>
          </a:p>
        </p:txBody>
      </p:sp>
    </p:spTree>
    <p:extLst>
      <p:ext uri="{BB962C8B-B14F-4D97-AF65-F5344CB8AC3E}">
        <p14:creationId xmlns:p14="http://schemas.microsoft.com/office/powerpoint/2010/main" val="15894867"/>
      </p:ext>
    </p:extLst>
  </p:cSld>
</p:sld>
</file>

<file path=ppt/slides/slide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2 / ITMS">
            <a:extLst xmlns:a="http://schemas.openxmlformats.org/drawingml/2006/main">
              <a:ext uri="{FF2B5EF4-FFF2-40B4-BE49-F238E27FC236}">
                <a16:creationId xmlns:a16="http://schemas.microsoft.com/office/drawing/2014/main" id="{62D126F5-53FA-4258-B269-9FA1BE0F3DE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02 / ITMS</a:t>
            </a:r>
          </a:p>
        </p:txBody>
      </p:sp>
      <p:sp>
        <p:nvSpPr>
          <p:cNvPr id="2" name="ATLANTA SYSTEMS">
            <a:extLst xmlns:a="http://schemas.openxmlformats.org/drawingml/2006/main">
              <a:ext uri="{FF2B5EF4-FFF2-40B4-BE49-F238E27FC236}">
                <a16:creationId xmlns:a16="http://schemas.microsoft.com/office/drawing/2014/main" id="{2BEFAFF6-7A8D-4894-A81E-097F93EC947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B085A93D-BD47-4979-A45C-A58B5021CBBF}"/>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8 / 18">
            <a:extLst xmlns:a="http://schemas.openxmlformats.org/drawingml/2006/main">
              <a:ext uri="{FF2B5EF4-FFF2-40B4-BE49-F238E27FC236}">
                <a16:creationId xmlns:a16="http://schemas.microsoft.com/office/drawing/2014/main" id="{D04F18AC-9E9D-4F36-800F-9E071D66DA9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08 / 18</a:t>
            </a:r>
          </a:p>
        </p:txBody>
      </p:sp>
      <p:sp>
        <p:nvSpPr>
          <p:cNvPr id="5" name="Architecture and delivery&#10;for transport operations">
            <a:extLst xmlns:a="http://schemas.openxmlformats.org/drawingml/2006/main">
              <a:ext uri="{FF2B5EF4-FFF2-40B4-BE49-F238E27FC236}">
                <a16:creationId xmlns:a16="http://schemas.microsoft.com/office/drawing/2014/main" id="{50A76697-442A-4584-9948-A0D344AE2AD2}"/>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Architecture and delivery</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for transport operations</a:t>
            </a:r>
          </a:p>
        </p:txBody>
      </p:sp>
      <p:sp>
        <p:nvSpPr>
          <p:cNvPr id="6" name="A multi-role bus management frontend built by a two-member team">
            <a:extLst xmlns:a="http://schemas.openxmlformats.org/drawingml/2006/main">
              <a:ext uri="{FF2B5EF4-FFF2-40B4-BE49-F238E27FC236}">
                <a16:creationId xmlns:a16="http://schemas.microsoft.com/office/drawing/2014/main" id="{D19653EB-8E49-4AA1-9D59-04F55853C9E8}"/>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multi-role bus management frontend built by a two-member team</a:t>
            </a:r>
          </a:p>
        </p:txBody>
      </p:sp>
      <p:sp>
        <p:nvSpPr>
          <p:cNvPr id="7" name="I planned the frontend and worked on features end to end.">
            <a:extLst xmlns:a="http://schemas.openxmlformats.org/drawingml/2006/main">
              <a:ext uri="{FF2B5EF4-FFF2-40B4-BE49-F238E27FC236}">
                <a16:creationId xmlns:a16="http://schemas.microsoft.com/office/drawing/2014/main" id="{6FBFC337-5865-45B9-B7C6-99EE4D0DD3A6}"/>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planned the frontend and worked on features end to end.</a:t>
            </a:r>
          </a:p>
        </p:txBody>
      </p:sp>
      <p:sp>
        <p:nvSpPr>
          <p:cNvPr id="8" name="">
            <a:extLst xmlns:a="http://schemas.openxmlformats.org/drawingml/2006/main">
              <a:ext uri="{FF2B5EF4-FFF2-40B4-BE49-F238E27FC236}">
                <a16:creationId xmlns:a16="http://schemas.microsoft.com/office/drawing/2014/main" id="{16330087-734C-45A3-BA81-1A964DFCEA38}"/>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quirements and R&amp;D">
            <a:extLst xmlns:a="http://schemas.openxmlformats.org/drawingml/2006/main">
              <a:ext uri="{FF2B5EF4-FFF2-40B4-BE49-F238E27FC236}">
                <a16:creationId xmlns:a16="http://schemas.microsoft.com/office/drawing/2014/main" id="{C964F81F-A78F-48F4-A4DA-9B1C15AFFE23}"/>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Requirements and R&amp;D</a:t>
            </a:r>
          </a:p>
        </p:txBody>
      </p:sp>
      <p:sp>
        <p:nvSpPr>
          <p:cNvPr id="10" name="Planned functional and non-functional requirements for the platfo">
            <a:extLst xmlns:a="http://schemas.openxmlformats.org/drawingml/2006/main">
              <a:ext uri="{FF2B5EF4-FFF2-40B4-BE49-F238E27FC236}">
                <a16:creationId xmlns:a16="http://schemas.microsoft.com/office/drawing/2014/main" id="{47FA1CFB-B606-4BAC-8038-9D4CAA94340E}"/>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Planned functional and non-functional requirements for the platform.</a:t>
            </a:r>
          </a:p>
        </p:txBody>
      </p:sp>
      <p:sp>
        <p:nvSpPr>
          <p:cNvPr id="11" name="Frontend system design">
            <a:extLst xmlns:a="http://schemas.openxmlformats.org/drawingml/2006/main">
              <a:ext uri="{FF2B5EF4-FFF2-40B4-BE49-F238E27FC236}">
                <a16:creationId xmlns:a16="http://schemas.microsoft.com/office/drawing/2014/main" id="{3DFF874A-84BA-41B1-AE7E-0932D301DCE6}"/>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Frontend system design</a:t>
            </a:r>
          </a:p>
        </p:txBody>
      </p:sp>
      <p:sp>
        <p:nvSpPr>
          <p:cNvPr id="12" name="Designed a maintainable structure and reusable workflow patterns.">
            <a:extLst xmlns:a="http://schemas.openxmlformats.org/drawingml/2006/main">
              <a:ext uri="{FF2B5EF4-FFF2-40B4-BE49-F238E27FC236}">
                <a16:creationId xmlns:a16="http://schemas.microsoft.com/office/drawing/2014/main" id="{FA54C55B-8EEF-4D36-AA24-E9C677A15548}"/>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Designed a maintainable structure and reusable workflow patterns.</a:t>
            </a:r>
          </a:p>
        </p:txBody>
      </p:sp>
      <p:sp>
        <p:nvSpPr>
          <p:cNvPr id="13" name="Role-specific operations">
            <a:extLst xmlns:a="http://schemas.openxmlformats.org/drawingml/2006/main">
              <a:ext uri="{FF2B5EF4-FFF2-40B4-BE49-F238E27FC236}">
                <a16:creationId xmlns:a16="http://schemas.microsoft.com/office/drawing/2014/main" id="{2729B414-4E4D-45EB-952C-6B977E6C56EA}"/>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Role-specific operations</a:t>
            </a:r>
          </a:p>
        </p:txBody>
      </p:sp>
      <p:sp>
        <p:nvSpPr>
          <p:cNvPr id="14" name="Built permission-heavy workflows for different transport users.">
            <a:extLst xmlns:a="http://schemas.openxmlformats.org/drawingml/2006/main">
              <a:ext uri="{FF2B5EF4-FFF2-40B4-BE49-F238E27FC236}">
                <a16:creationId xmlns:a16="http://schemas.microsoft.com/office/drawing/2014/main" id="{A626151D-AE0D-4F00-88B9-E95F08D23A09}"/>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Built permission-heavy workflows for different transport users.</a:t>
            </a:r>
          </a:p>
        </p:txBody>
      </p:sp>
    </p:spTree>
    <p:extLst>
      <p:ext uri="{BB962C8B-B14F-4D97-AF65-F5344CB8AC3E}">
        <p14:creationId xmlns:p14="http://schemas.microsoft.com/office/powerpoint/2010/main" val="7087974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ITMS / FEATURE DELIVERY">
            <a:extLst xmlns:a="http://schemas.openxmlformats.org/drawingml/2006/main">
              <a:ext uri="{FF2B5EF4-FFF2-40B4-BE49-F238E27FC236}">
                <a16:creationId xmlns:a16="http://schemas.microsoft.com/office/drawing/2014/main" id="{DDAF43FF-2F85-4E83-815D-F293D668A437}"/>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FEATURE DELIVERY</a:t>
            </a:r>
          </a:p>
        </p:txBody>
      </p:sp>
      <p:sp>
        <p:nvSpPr>
          <p:cNvPr id="2" name="ATLANTA SYSTEMS">
            <a:extLst xmlns:a="http://schemas.openxmlformats.org/drawingml/2006/main">
              <a:ext uri="{FF2B5EF4-FFF2-40B4-BE49-F238E27FC236}">
                <a16:creationId xmlns:a16="http://schemas.microsoft.com/office/drawing/2014/main" id="{311E082C-D6F7-4094-9F5C-2E91E074591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FA6BF93-10A5-40BF-B943-11907E8FB69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9 / 18">
            <a:extLst xmlns:a="http://schemas.openxmlformats.org/drawingml/2006/main">
              <a:ext uri="{FF2B5EF4-FFF2-40B4-BE49-F238E27FC236}">
                <a16:creationId xmlns:a16="http://schemas.microsoft.com/office/drawing/2014/main" id="{A6C8A09B-923B-4C9A-8339-704EFB803A7B}"/>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09 / 18</a:t>
            </a:r>
          </a:p>
        </p:txBody>
      </p:sp>
      <p:sp>
        <p:nvSpPr>
          <p:cNvPr id="5" name="Operational workflows built end to end">
            <a:extLst xmlns:a="http://schemas.openxmlformats.org/drawingml/2006/main">
              <a:ext uri="{FF2B5EF4-FFF2-40B4-BE49-F238E27FC236}">
                <a16:creationId xmlns:a16="http://schemas.microsoft.com/office/drawing/2014/main" id="{29C96A2A-6900-479B-BA8E-7C1DD6BE382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Operational workflows built end to end</a:t>
            </a:r>
          </a:p>
        </p:txBody>
      </p:sp>
      <p:sp>
        <p:nvSpPr>
          <p:cNvPr id="6" name="">
            <a:extLst xmlns:a="http://schemas.openxmlformats.org/drawingml/2006/main">
              <a:ext uri="{FF2B5EF4-FFF2-40B4-BE49-F238E27FC236}">
                <a16:creationId xmlns:a16="http://schemas.microsoft.com/office/drawing/2014/main" id="{E5B7C107-8A52-4756-84EC-DBD67138E0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ECEAB063-733E-4FAC-B6FD-6E8B531284B5}"/>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People and vehicles">
            <a:extLst xmlns:a="http://schemas.openxmlformats.org/drawingml/2006/main">
              <a:ext uri="{FF2B5EF4-FFF2-40B4-BE49-F238E27FC236}">
                <a16:creationId xmlns:a16="http://schemas.microsoft.com/office/drawing/2014/main" id="{313C5767-10D1-47EC-904F-13A316087C40}"/>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People and vehicles</a:t>
            </a:r>
          </a:p>
        </p:txBody>
      </p:sp>
      <p:sp>
        <p:nvSpPr>
          <p:cNvPr id="9" name="Driver and staff management, attendance, permissions, vehicles an">
            <a:extLst xmlns:a="http://schemas.openxmlformats.org/drawingml/2006/main">
              <a:ext uri="{FF2B5EF4-FFF2-40B4-BE49-F238E27FC236}">
                <a16:creationId xmlns:a16="http://schemas.microsoft.com/office/drawing/2014/main" id="{04369567-4904-4B66-A772-0EA8F4204A5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Driver and staff management, attendance, permissions, vehicles and device mapping.</a:t>
            </a:r>
          </a:p>
        </p:txBody>
      </p:sp>
      <p:sp>
        <p:nvSpPr>
          <p:cNvPr id="10" name="">
            <a:extLst xmlns:a="http://schemas.openxmlformats.org/drawingml/2006/main">
              <a:ext uri="{FF2B5EF4-FFF2-40B4-BE49-F238E27FC236}">
                <a16:creationId xmlns:a16="http://schemas.microsoft.com/office/drawing/2014/main" id="{AEF76C8C-B70E-4294-A802-68EB64A33A22}"/>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A626FED-7A14-468D-A2BC-F557A19014B5}"/>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aily depot operations">
            <a:extLst xmlns:a="http://schemas.openxmlformats.org/drawingml/2006/main">
              <a:ext uri="{FF2B5EF4-FFF2-40B4-BE49-F238E27FC236}">
                <a16:creationId xmlns:a16="http://schemas.microsoft.com/office/drawing/2014/main" id="{D50473E3-50D2-4FA4-8990-468C15D21FC4}"/>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Daily depot operations</a:t>
            </a:r>
          </a:p>
        </p:txBody>
      </p:sp>
      <p:sp>
        <p:nvSpPr>
          <p:cNvPr id="13" name="Shift templates, rosters, live duties, inventory, fueling and EV ">
            <a:extLst xmlns:a="http://schemas.openxmlformats.org/drawingml/2006/main">
              <a:ext uri="{FF2B5EF4-FFF2-40B4-BE49-F238E27FC236}">
                <a16:creationId xmlns:a16="http://schemas.microsoft.com/office/drawing/2014/main" id="{E92E1252-B67A-4FB7-8560-87A84E647B67}"/>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Shift templates, rosters, live duties, inventory, fueling and EV chargers.</a:t>
            </a:r>
          </a:p>
        </p:txBody>
      </p:sp>
      <p:sp>
        <p:nvSpPr>
          <p:cNvPr id="14" name="">
            <a:extLst xmlns:a="http://schemas.openxmlformats.org/drawingml/2006/main">
              <a:ext uri="{FF2B5EF4-FFF2-40B4-BE49-F238E27FC236}">
                <a16:creationId xmlns:a16="http://schemas.microsoft.com/office/drawing/2014/main" id="{20E867DE-618B-4F1E-8585-6C5E03F2B133}"/>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CF1C93AA-A25F-4DCA-B4D2-62E9EAF2A49E}"/>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ing and support">
            <a:extLst xmlns:a="http://schemas.openxmlformats.org/drawingml/2006/main">
              <a:ext uri="{FF2B5EF4-FFF2-40B4-BE49-F238E27FC236}">
                <a16:creationId xmlns:a16="http://schemas.microsoft.com/office/drawing/2014/main" id="{4BE51E9A-CC0A-4434-A18D-EC7605F63F06}"/>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Monitoring and support</a:t>
            </a:r>
          </a:p>
        </p:txBody>
      </p:sp>
      <p:sp>
        <p:nvSpPr>
          <p:cNvPr id="17" name="GPS tracking, incident workflows, evidence, helpdesk tickets and ">
            <a:extLst xmlns:a="http://schemas.openxmlformats.org/drawingml/2006/main">
              <a:ext uri="{FF2B5EF4-FFF2-40B4-BE49-F238E27FC236}">
                <a16:creationId xmlns:a16="http://schemas.microsoft.com/office/drawing/2014/main" id="{05430E59-7FF6-49AF-A1FB-F5E94D6BB873}"/>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GPS tracking, incident workflows, evidence, helpdesk tickets and notifications.</a:t>
            </a:r>
          </a:p>
        </p:txBody>
      </p:sp>
      <p:sp>
        <p:nvSpPr>
          <p:cNvPr id="18" name="">
            <a:extLst xmlns:a="http://schemas.openxmlformats.org/drawingml/2006/main">
              <a:ext uri="{FF2B5EF4-FFF2-40B4-BE49-F238E27FC236}">
                <a16:creationId xmlns:a16="http://schemas.microsoft.com/office/drawing/2014/main" id="{29D8CD10-E49A-4371-B3A2-AAFFC388C323}"/>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9EBD5806-C70F-4C52-8E58-90A04A7A8E2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Reports and field portals">
            <a:extLst xmlns:a="http://schemas.openxmlformats.org/drawingml/2006/main">
              <a:ext uri="{FF2B5EF4-FFF2-40B4-BE49-F238E27FC236}">
                <a16:creationId xmlns:a16="http://schemas.microsoft.com/office/drawing/2014/main" id="{FDCF0CD4-7062-4289-9F5A-4652A92DF62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Reports and field portals</a:t>
            </a:r>
          </a:p>
        </p:txBody>
      </p:sp>
      <p:sp>
        <p:nvSpPr>
          <p:cNvPr id="21" name="Ten operational reports, driver and conductor portals, and public">
            <a:extLst xmlns:a="http://schemas.openxmlformats.org/drawingml/2006/main">
              <a:ext uri="{FF2B5EF4-FFF2-40B4-BE49-F238E27FC236}">
                <a16:creationId xmlns:a16="http://schemas.microsoft.com/office/drawing/2014/main" id="{FBFC3B36-9AB4-43E9-B584-197CE8715852}"/>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Ten operational reports, driver and conductor portals, and public bus information.</a:t>
            </a:r>
          </a:p>
        </p:txBody>
      </p:sp>
      <p:sp>
        <p:nvSpPr>
          <p:cNvPr id="22" name="">
            <a:extLst xmlns:a="http://schemas.openxmlformats.org/drawingml/2006/main">
              <a:ext uri="{FF2B5EF4-FFF2-40B4-BE49-F238E27FC236}">
                <a16:creationId xmlns:a16="http://schemas.microsoft.com/office/drawing/2014/main" id="{029F63E9-2048-48C1-8947-F1049326BD6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97F331AD-670C-447F-868A-7E920EC2FBA2}"/>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Gave transport users a common frontend for connected daily operat">
            <a:extLst xmlns:a="http://schemas.openxmlformats.org/drawingml/2006/main">
              <a:ext uri="{FF2B5EF4-FFF2-40B4-BE49-F238E27FC236}">
                <a16:creationId xmlns:a16="http://schemas.microsoft.com/office/drawing/2014/main" id="{B2EA4D6E-075B-4FC3-A30F-3C570F3A7A2F}"/>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Gave transport users a common frontend for connected daily operations.</a:t>
            </a:r>
          </a:p>
        </p:txBody>
      </p:sp>
    </p:spTree>
    <p:extLst>
      <p:ext uri="{BB962C8B-B14F-4D97-AF65-F5344CB8AC3E}">
        <p14:creationId xmlns:p14="http://schemas.microsoft.com/office/powerpoint/2010/main" val="2198318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ITMS / ENGINEERING FOUNDATION">
            <a:extLst xmlns:a="http://schemas.openxmlformats.org/drawingml/2006/main">
              <a:ext uri="{FF2B5EF4-FFF2-40B4-BE49-F238E27FC236}">
                <a16:creationId xmlns:a16="http://schemas.microsoft.com/office/drawing/2014/main" id="{156F3F2C-F20E-4914-8BD3-E6173E720F1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ENGINEERING FOUNDATION</a:t>
            </a:r>
          </a:p>
        </p:txBody>
      </p:sp>
      <p:sp>
        <p:nvSpPr>
          <p:cNvPr id="2" name="ATLANTA SYSTEMS">
            <a:extLst xmlns:a="http://schemas.openxmlformats.org/drawingml/2006/main">
              <a:ext uri="{FF2B5EF4-FFF2-40B4-BE49-F238E27FC236}">
                <a16:creationId xmlns:a16="http://schemas.microsoft.com/office/drawing/2014/main" id="{8B1FFC1B-BC70-4098-B46F-E82BF42A9C7E}"/>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Project-wide repository counts from the supplied ITMS review.">
            <a:extLst xmlns:a="http://schemas.openxmlformats.org/drawingml/2006/main">
              <a:ext uri="{FF2B5EF4-FFF2-40B4-BE49-F238E27FC236}">
                <a16:creationId xmlns:a16="http://schemas.microsoft.com/office/drawing/2014/main" id="{A9DED36E-974B-4AA7-80CD-5522BFB878E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Project-wide repository counts from the supplied ITMS review.</a:t>
            </a:r>
          </a:p>
        </p:txBody>
      </p:sp>
      <p:sp>
        <p:nvSpPr>
          <p:cNvPr id="4" name="10 / 18">
            <a:extLst xmlns:a="http://schemas.openxmlformats.org/drawingml/2006/main">
              <a:ext uri="{FF2B5EF4-FFF2-40B4-BE49-F238E27FC236}">
                <a16:creationId xmlns:a16="http://schemas.microsoft.com/office/drawing/2014/main" id="{00756DEF-F421-4AF2-B2B8-593762DCE7D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10 / 18</a:t>
            </a:r>
          </a:p>
        </p:txBody>
      </p:sp>
      <p:sp>
        <p:nvSpPr>
          <p:cNvPr id="5" name="An architecture the team can maintain">
            <a:extLst xmlns:a="http://schemas.openxmlformats.org/drawingml/2006/main">
              <a:ext uri="{FF2B5EF4-FFF2-40B4-BE49-F238E27FC236}">
                <a16:creationId xmlns:a16="http://schemas.microsoft.com/office/drawing/2014/main" id="{3E270D3F-61C1-410D-94DF-AE36EAE4138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An architecture the team can maintain</a:t>
            </a:r>
          </a:p>
        </p:txBody>
      </p:sp>
      <p:sp>
        <p:nvSpPr>
          <p:cNvPr id="6" name="Clear responsibilities for presentation, state and backend integr">
            <a:extLst xmlns:a="http://schemas.openxmlformats.org/drawingml/2006/main">
              <a:ext uri="{FF2B5EF4-FFF2-40B4-BE49-F238E27FC236}">
                <a16:creationId xmlns:a16="http://schemas.microsoft.com/office/drawing/2014/main" id="{2E057002-61F8-48D3-9F4A-161BB3B973C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Clear responsibilities for presentation, state and backend integration</a:t>
            </a:r>
          </a:p>
        </p:txBody>
      </p:sp>
      <p:sp>
        <p:nvSpPr>
          <p:cNvPr id="7" name="">
            <a:extLst xmlns:a="http://schemas.openxmlformats.org/drawingml/2006/main">
              <a:ext uri="{FF2B5EF4-FFF2-40B4-BE49-F238E27FC236}">
                <a16:creationId xmlns:a16="http://schemas.microsoft.com/office/drawing/2014/main" id="{19D44F69-2C94-408A-8411-DF869C1A8420}"/>
              </a:ext>
            </a:extLst>
          </p:cNvPr>
          <p:cNvSpPr>
            <a:spLocks xmlns:a="http://schemas.openxmlformats.org/drawingml/2006/main" noGrp="1"/>
          </p:cNvSpPr>
          <p:nvPr/>
        </p:nvSpPr>
        <p:spPr>
          <a:xfrm xmlns:a="http://schemas.openxmlformats.org/drawingml/2006/main">
            <a:off x="609600" y="2209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D91C5708-770C-4C88-81D5-CD080D5E7070}"/>
              </a:ext>
            </a:extLst>
          </p:cNvPr>
          <p:cNvSpPr>
            <a:spLocks xmlns:a="http://schemas.openxmlformats.org/drawingml/2006/main" noGrp="1"/>
          </p:cNvSpPr>
          <p:nvPr/>
        </p:nvSpPr>
        <p:spPr>
          <a:xfrm xmlns:a="http://schemas.openxmlformats.org/drawingml/2006/main">
            <a:off x="609600" y="24384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01</a:t>
            </a:r>
          </a:p>
        </p:txBody>
      </p:sp>
      <p:sp>
        <p:nvSpPr>
          <p:cNvPr id="9" name="Pages and shared UI">
            <a:extLst xmlns:a="http://schemas.openxmlformats.org/drawingml/2006/main">
              <a:ext uri="{FF2B5EF4-FFF2-40B4-BE49-F238E27FC236}">
                <a16:creationId xmlns:a16="http://schemas.microsoft.com/office/drawing/2014/main" id="{D564BC3D-7D84-40C5-9A66-0AB9EFE912A8}"/>
              </a:ext>
            </a:extLst>
          </p:cNvPr>
          <p:cNvSpPr>
            <a:spLocks xmlns:a="http://schemas.openxmlformats.org/drawingml/2006/main" noGrp="1"/>
          </p:cNvSpPr>
          <p:nvPr/>
        </p:nvSpPr>
        <p:spPr>
          <a:xfrm xmlns:a="http://schemas.openxmlformats.org/drawingml/2006/main">
            <a:off x="1219200" y="23907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Pages and shared UI</a:t>
            </a:r>
          </a:p>
        </p:txBody>
      </p:sp>
      <p:sp>
        <p:nvSpPr>
          <p:cNvPr id="10" name="Reusable controls and consistent loading, empty and error states.">
            <a:extLst xmlns:a="http://schemas.openxmlformats.org/drawingml/2006/main">
              <a:ext uri="{FF2B5EF4-FFF2-40B4-BE49-F238E27FC236}">
                <a16:creationId xmlns:a16="http://schemas.microsoft.com/office/drawing/2014/main" id="{4924729C-D47E-429F-8FEE-CF4652E9ECD2}"/>
              </a:ext>
            </a:extLst>
          </p:cNvPr>
          <p:cNvSpPr>
            <a:spLocks xmlns:a="http://schemas.openxmlformats.org/drawingml/2006/main" noGrp="1"/>
          </p:cNvSpPr>
          <p:nvPr/>
        </p:nvSpPr>
        <p:spPr>
          <a:xfrm xmlns:a="http://schemas.openxmlformats.org/drawingml/2006/main">
            <a:off x="4857750" y="23907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Reusable controls and consistent loading, empty and error states.</a:t>
            </a:r>
          </a:p>
        </p:txBody>
      </p:sp>
      <p:sp>
        <p:nvSpPr>
          <p:cNvPr id="11" name="">
            <a:extLst xmlns:a="http://schemas.openxmlformats.org/drawingml/2006/main">
              <a:ext uri="{FF2B5EF4-FFF2-40B4-BE49-F238E27FC236}">
                <a16:creationId xmlns:a16="http://schemas.microsoft.com/office/drawing/2014/main" id="{4AC7B3F4-A71E-4971-A0A6-2864D569146D}"/>
              </a:ext>
            </a:extLst>
          </p:cNvPr>
          <p:cNvSpPr>
            <a:spLocks xmlns:a="http://schemas.openxmlformats.org/drawingml/2006/main" noGrp="1"/>
          </p:cNvSpPr>
          <p:nvPr/>
        </p:nvSpPr>
        <p:spPr>
          <a:xfrm xmlns:a="http://schemas.openxmlformats.org/drawingml/2006/main">
            <a:off x="609600" y="30480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02">
            <a:extLst xmlns:a="http://schemas.openxmlformats.org/drawingml/2006/main">
              <a:ext uri="{FF2B5EF4-FFF2-40B4-BE49-F238E27FC236}">
                <a16:creationId xmlns:a16="http://schemas.microsoft.com/office/drawing/2014/main" id="{1263BE9F-63A7-4521-9F98-83ACC18FFD3E}"/>
              </a:ext>
            </a:extLst>
          </p:cNvPr>
          <p:cNvSpPr>
            <a:spLocks xmlns:a="http://schemas.openxmlformats.org/drawingml/2006/main" noGrp="1"/>
          </p:cNvSpPr>
          <p:nvPr/>
        </p:nvSpPr>
        <p:spPr>
          <a:xfrm xmlns:a="http://schemas.openxmlformats.org/drawingml/2006/main">
            <a:off x="609600" y="32766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02</a:t>
            </a:r>
          </a:p>
        </p:txBody>
      </p:sp>
      <p:sp>
        <p:nvSpPr>
          <p:cNvPr id="13" name="Composables and stores">
            <a:extLst xmlns:a="http://schemas.openxmlformats.org/drawingml/2006/main">
              <a:ext uri="{FF2B5EF4-FFF2-40B4-BE49-F238E27FC236}">
                <a16:creationId xmlns:a16="http://schemas.microsoft.com/office/drawing/2014/main" id="{6157AF3C-FB83-4F53-A96C-992486D7D446}"/>
              </a:ext>
            </a:extLst>
          </p:cNvPr>
          <p:cNvSpPr>
            <a:spLocks xmlns:a="http://schemas.openxmlformats.org/drawingml/2006/main" noGrp="1"/>
          </p:cNvSpPr>
          <p:nvPr/>
        </p:nvSpPr>
        <p:spPr>
          <a:xfrm xmlns:a="http://schemas.openxmlformats.org/drawingml/2006/main">
            <a:off x="1219200" y="32289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Composables and stores</a:t>
            </a:r>
          </a:p>
        </p:txBody>
      </p:sp>
      <p:sp>
        <p:nvSpPr>
          <p:cNvPr id="14" name="Workflow coordination and state management outside page markup.">
            <a:extLst xmlns:a="http://schemas.openxmlformats.org/drawingml/2006/main">
              <a:ext uri="{FF2B5EF4-FFF2-40B4-BE49-F238E27FC236}">
                <a16:creationId xmlns:a16="http://schemas.microsoft.com/office/drawing/2014/main" id="{C7AC5681-8829-47EE-867F-9B5194BE154B}"/>
              </a:ext>
            </a:extLst>
          </p:cNvPr>
          <p:cNvSpPr>
            <a:spLocks xmlns:a="http://schemas.openxmlformats.org/drawingml/2006/main" noGrp="1"/>
          </p:cNvSpPr>
          <p:nvPr/>
        </p:nvSpPr>
        <p:spPr>
          <a:xfrm xmlns:a="http://schemas.openxmlformats.org/drawingml/2006/main">
            <a:off x="4857750" y="32289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Workflow coordination and state management outside page markup.</a:t>
            </a:r>
          </a:p>
        </p:txBody>
      </p:sp>
      <p:sp>
        <p:nvSpPr>
          <p:cNvPr id="15" name="">
            <a:extLst xmlns:a="http://schemas.openxmlformats.org/drawingml/2006/main">
              <a:ext uri="{FF2B5EF4-FFF2-40B4-BE49-F238E27FC236}">
                <a16:creationId xmlns:a16="http://schemas.microsoft.com/office/drawing/2014/main" id="{3252DB56-1531-404D-B720-BA450CFE9539}"/>
              </a:ext>
            </a:extLst>
          </p:cNvPr>
          <p:cNvSpPr>
            <a:spLocks xmlns:a="http://schemas.openxmlformats.org/drawingml/2006/main" noGrp="1"/>
          </p:cNvSpPr>
          <p:nvPr/>
        </p:nvSpPr>
        <p:spPr>
          <a:xfrm xmlns:a="http://schemas.openxmlformats.org/drawingml/2006/main">
            <a:off x="609600" y="38862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6" name="03">
            <a:extLst xmlns:a="http://schemas.openxmlformats.org/drawingml/2006/main">
              <a:ext uri="{FF2B5EF4-FFF2-40B4-BE49-F238E27FC236}">
                <a16:creationId xmlns:a16="http://schemas.microsoft.com/office/drawing/2014/main" id="{3B9E22F3-64CF-4A2E-9A5F-C362D0B95630}"/>
              </a:ext>
            </a:extLst>
          </p:cNvPr>
          <p:cNvSpPr>
            <a:spLocks xmlns:a="http://schemas.openxmlformats.org/drawingml/2006/main" noGrp="1"/>
          </p:cNvSpPr>
          <p:nvPr/>
        </p:nvSpPr>
        <p:spPr>
          <a:xfrm xmlns:a="http://schemas.openxmlformats.org/drawingml/2006/main">
            <a:off x="609600" y="41148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03</a:t>
            </a:r>
          </a:p>
        </p:txBody>
      </p:sp>
      <p:sp>
        <p:nvSpPr>
          <p:cNvPr id="17" name="API modules and adapters">
            <a:extLst xmlns:a="http://schemas.openxmlformats.org/drawingml/2006/main">
              <a:ext uri="{FF2B5EF4-FFF2-40B4-BE49-F238E27FC236}">
                <a16:creationId xmlns:a16="http://schemas.microsoft.com/office/drawing/2014/main" id="{55856189-B2FB-4FB4-A949-E645F39605BE}"/>
              </a:ext>
            </a:extLst>
          </p:cNvPr>
          <p:cNvSpPr>
            <a:spLocks xmlns:a="http://schemas.openxmlformats.org/drawingml/2006/main" noGrp="1"/>
          </p:cNvSpPr>
          <p:nvPr/>
        </p:nvSpPr>
        <p:spPr>
          <a:xfrm xmlns:a="http://schemas.openxmlformats.org/drawingml/2006/main">
            <a:off x="1219200" y="40671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API modules and adapters</a:t>
            </a:r>
          </a:p>
        </p:txBody>
      </p:sp>
      <p:sp>
        <p:nvSpPr>
          <p:cNvPr id="18" name="Named HTTP operations, stable UI models and normalized payloads.">
            <a:extLst xmlns:a="http://schemas.openxmlformats.org/drawingml/2006/main">
              <a:ext uri="{FF2B5EF4-FFF2-40B4-BE49-F238E27FC236}">
                <a16:creationId xmlns:a16="http://schemas.microsoft.com/office/drawing/2014/main" id="{633B37D1-6EEE-48F3-B806-C84F6E0700FD}"/>
              </a:ext>
            </a:extLst>
          </p:cNvPr>
          <p:cNvSpPr>
            <a:spLocks xmlns:a="http://schemas.openxmlformats.org/drawingml/2006/main" noGrp="1"/>
          </p:cNvSpPr>
          <p:nvPr/>
        </p:nvSpPr>
        <p:spPr>
          <a:xfrm xmlns:a="http://schemas.openxmlformats.org/drawingml/2006/main">
            <a:off x="4857750" y="40671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Named HTTP operations, stable UI models and normalized payloads.</a:t>
            </a:r>
          </a:p>
        </p:txBody>
      </p:sp>
      <p:sp>
        <p:nvSpPr>
          <p:cNvPr id="19" name="">
            <a:extLst xmlns:a="http://schemas.openxmlformats.org/drawingml/2006/main">
              <a:ext uri="{FF2B5EF4-FFF2-40B4-BE49-F238E27FC236}">
                <a16:creationId xmlns:a16="http://schemas.microsoft.com/office/drawing/2014/main" id="{EB8275AC-CD83-4D0E-A778-6AEAD4227F9F}"/>
              </a:ext>
            </a:extLst>
          </p:cNvPr>
          <p:cNvSpPr>
            <a:spLocks xmlns:a="http://schemas.openxmlformats.org/drawingml/2006/main" noGrp="1"/>
          </p:cNvSpPr>
          <p:nvPr/>
        </p:nvSpPr>
        <p:spPr>
          <a:xfrm xmlns:a="http://schemas.openxmlformats.org/drawingml/2006/main">
            <a:off x="609600" y="47244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40">
            <a:extLst xmlns:a="http://schemas.openxmlformats.org/drawingml/2006/main">
              <a:ext uri="{FF2B5EF4-FFF2-40B4-BE49-F238E27FC236}">
                <a16:creationId xmlns:a16="http://schemas.microsoft.com/office/drawing/2014/main" id="{DE01A84B-85D2-4FFA-B52B-6A5AB9CB2989}"/>
              </a:ext>
            </a:extLst>
          </p:cNvPr>
          <p:cNvSpPr>
            <a:spLocks xmlns:a="http://schemas.openxmlformats.org/drawingml/2006/main" noGrp="1"/>
          </p:cNvSpPr>
          <p:nvPr/>
        </p:nvSpPr>
        <p:spPr>
          <a:xfrm xmlns:a="http://schemas.openxmlformats.org/drawingml/2006/main">
            <a:off x="60960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40</a:t>
            </a:r>
          </a:p>
        </p:txBody>
      </p:sp>
      <p:sp>
        <p:nvSpPr>
          <p:cNvPr id="21" name="Shared UI components">
            <a:extLst xmlns:a="http://schemas.openxmlformats.org/drawingml/2006/main">
              <a:ext uri="{FF2B5EF4-FFF2-40B4-BE49-F238E27FC236}">
                <a16:creationId xmlns:a16="http://schemas.microsoft.com/office/drawing/2014/main" id="{41F39652-5451-411A-8E39-59A757DB16AC}"/>
              </a:ext>
            </a:extLst>
          </p:cNvPr>
          <p:cNvSpPr>
            <a:spLocks xmlns:a="http://schemas.openxmlformats.org/drawingml/2006/main" noGrp="1"/>
          </p:cNvSpPr>
          <p:nvPr/>
        </p:nvSpPr>
        <p:spPr>
          <a:xfrm xmlns:a="http://schemas.openxmlformats.org/drawingml/2006/main">
            <a:off x="160972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Shared UI components</a:t>
            </a:r>
          </a:p>
        </p:txBody>
      </p:sp>
      <p:sp>
        <p:nvSpPr>
          <p:cNvPr id="22" name="49">
            <a:extLst xmlns:a="http://schemas.openxmlformats.org/drawingml/2006/main">
              <a:ext uri="{FF2B5EF4-FFF2-40B4-BE49-F238E27FC236}">
                <a16:creationId xmlns:a16="http://schemas.microsoft.com/office/drawing/2014/main" id="{FAF0E18F-EE43-48BB-A85F-5E0CF70D4AD4}"/>
              </a:ext>
            </a:extLst>
          </p:cNvPr>
          <p:cNvSpPr>
            <a:spLocks xmlns:a="http://schemas.openxmlformats.org/drawingml/2006/main" noGrp="1"/>
          </p:cNvSpPr>
          <p:nvPr/>
        </p:nvSpPr>
        <p:spPr>
          <a:xfrm xmlns:a="http://schemas.openxmlformats.org/drawingml/2006/main">
            <a:off x="4352925"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49</a:t>
            </a:r>
          </a:p>
        </p:txBody>
      </p:sp>
      <p:sp>
        <p:nvSpPr>
          <p:cNvPr id="23" name="Feature API modules">
            <a:extLst xmlns:a="http://schemas.openxmlformats.org/drawingml/2006/main">
              <a:ext uri="{FF2B5EF4-FFF2-40B4-BE49-F238E27FC236}">
                <a16:creationId xmlns:a16="http://schemas.microsoft.com/office/drawing/2014/main" id="{1BE327B1-8AEA-45FA-8A09-A0E8ABC5AA0B}"/>
              </a:ext>
            </a:extLst>
          </p:cNvPr>
          <p:cNvSpPr>
            <a:spLocks xmlns:a="http://schemas.openxmlformats.org/drawingml/2006/main" noGrp="1"/>
          </p:cNvSpPr>
          <p:nvPr/>
        </p:nvSpPr>
        <p:spPr>
          <a:xfrm xmlns:a="http://schemas.openxmlformats.org/drawingml/2006/main">
            <a:off x="5353050"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Feature API modules</a:t>
            </a:r>
          </a:p>
        </p:txBody>
      </p:sp>
      <p:sp>
        <p:nvSpPr>
          <p:cNvPr id="24" name="36">
            <a:extLst xmlns:a="http://schemas.openxmlformats.org/drawingml/2006/main">
              <a:ext uri="{FF2B5EF4-FFF2-40B4-BE49-F238E27FC236}">
                <a16:creationId xmlns:a16="http://schemas.microsoft.com/office/drawing/2014/main" id="{EE728117-B5E4-4FF5-A643-18EE6FECBD1A}"/>
              </a:ext>
            </a:extLst>
          </p:cNvPr>
          <p:cNvSpPr>
            <a:spLocks xmlns:a="http://schemas.openxmlformats.org/drawingml/2006/main" noGrp="1"/>
          </p:cNvSpPr>
          <p:nvPr/>
        </p:nvSpPr>
        <p:spPr>
          <a:xfrm xmlns:a="http://schemas.openxmlformats.org/drawingml/2006/main">
            <a:off x="809625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36</a:t>
            </a:r>
          </a:p>
        </p:txBody>
      </p:sp>
      <p:sp>
        <p:nvSpPr>
          <p:cNvPr id="25" name="Response adapters">
            <a:extLst xmlns:a="http://schemas.openxmlformats.org/drawingml/2006/main">
              <a:ext uri="{FF2B5EF4-FFF2-40B4-BE49-F238E27FC236}">
                <a16:creationId xmlns:a16="http://schemas.microsoft.com/office/drawing/2014/main" id="{5515AAA4-F319-4F78-9564-AEB7D61FBEB4}"/>
              </a:ext>
            </a:extLst>
          </p:cNvPr>
          <p:cNvSpPr>
            <a:spLocks xmlns:a="http://schemas.openxmlformats.org/drawingml/2006/main" noGrp="1"/>
          </p:cNvSpPr>
          <p:nvPr/>
        </p:nvSpPr>
        <p:spPr>
          <a:xfrm xmlns:a="http://schemas.openxmlformats.org/drawingml/2006/main">
            <a:off x="909637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Response adapters</a:t>
            </a:r>
          </a:p>
        </p:txBody>
      </p:sp>
    </p:spTree>
    <p:extLst>
      <p:ext uri="{BB962C8B-B14F-4D97-AF65-F5344CB8AC3E}">
        <p14:creationId xmlns:p14="http://schemas.microsoft.com/office/powerpoint/2010/main" val="1797930391"/>
      </p:ext>
    </p:extLst>
  </p:cSld>
</p:sld>
</file>

<file path=ppt/slides/slide1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3 / VLTD">
            <a:extLst xmlns:a="http://schemas.openxmlformats.org/drawingml/2006/main">
              <a:ext uri="{FF2B5EF4-FFF2-40B4-BE49-F238E27FC236}">
                <a16:creationId xmlns:a16="http://schemas.microsoft.com/office/drawing/2014/main" id="{0DF153C5-F794-489D-AEE8-DC2AEA399D3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03 / VLTD</a:t>
            </a:r>
          </a:p>
        </p:txBody>
      </p:sp>
      <p:sp>
        <p:nvSpPr>
          <p:cNvPr id="2" name="ATLANTA SYSTEMS">
            <a:extLst xmlns:a="http://schemas.openxmlformats.org/drawingml/2006/main">
              <a:ext uri="{FF2B5EF4-FFF2-40B4-BE49-F238E27FC236}">
                <a16:creationId xmlns:a16="http://schemas.microsoft.com/office/drawing/2014/main" id="{66BBDDCA-C065-4A24-A2A9-50ACA4D42CB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D111E52-B288-456C-92E3-3F32881AC9C5}"/>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1 / 18">
            <a:extLst xmlns:a="http://schemas.openxmlformats.org/drawingml/2006/main">
              <a:ext uri="{FF2B5EF4-FFF2-40B4-BE49-F238E27FC236}">
                <a16:creationId xmlns:a16="http://schemas.microsoft.com/office/drawing/2014/main" id="{B2083754-E1E0-40B2-9D2B-9F3B61F98A9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11 / 18</a:t>
            </a:r>
          </a:p>
        </p:txBody>
      </p:sp>
      <p:sp>
        <p:nvSpPr>
          <p:cNvPr id="5" name="Taking over&#10;an evolving platform">
            <a:extLst xmlns:a="http://schemas.openxmlformats.org/drawingml/2006/main">
              <a:ext uri="{FF2B5EF4-FFF2-40B4-BE49-F238E27FC236}">
                <a16:creationId xmlns:a16="http://schemas.microsoft.com/office/drawing/2014/main" id="{2036192E-FED1-4393-A9CF-B47259F8959D}"/>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Taking over</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an evolving platform</a:t>
            </a:r>
          </a:p>
        </p:txBody>
      </p:sp>
      <p:sp>
        <p:nvSpPr>
          <p:cNvPr id="6" name="Vehicle tracking, device lifecycle management and transport compl">
            <a:extLst xmlns:a="http://schemas.openxmlformats.org/drawingml/2006/main">
              <a:ext uri="{FF2B5EF4-FFF2-40B4-BE49-F238E27FC236}">
                <a16:creationId xmlns:a16="http://schemas.microsoft.com/office/drawing/2014/main" id="{6C8E1291-2C4E-4008-A816-A4E4C2A08325}"/>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Vehicle tracking, device lifecycle management and transport compliance</a:t>
            </a:r>
          </a:p>
        </p:txBody>
      </p:sp>
      <p:sp>
        <p:nvSpPr>
          <p:cNvPr id="7" name="I combined architecture improvements with feature delivery and te">
            <a:extLst xmlns:a="http://schemas.openxmlformats.org/drawingml/2006/main">
              <a:ext uri="{FF2B5EF4-FFF2-40B4-BE49-F238E27FC236}">
                <a16:creationId xmlns:a16="http://schemas.microsoft.com/office/drawing/2014/main" id="{DAA3C602-0D71-4490-8E40-901262AE9128}"/>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combined architecture improvements with feature delivery and team guidance.</a:t>
            </a:r>
          </a:p>
        </p:txBody>
      </p:sp>
      <p:sp>
        <p:nvSpPr>
          <p:cNvPr id="8" name="">
            <a:extLst xmlns:a="http://schemas.openxmlformats.org/drawingml/2006/main">
              <a:ext uri="{FF2B5EF4-FFF2-40B4-BE49-F238E27FC236}">
                <a16:creationId xmlns:a16="http://schemas.microsoft.com/office/drawing/2014/main" id="{AC157C37-8F2A-4858-9EC8-7F072E203D6C}"/>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search before implementation">
            <a:extLst xmlns:a="http://schemas.openxmlformats.org/drawingml/2006/main">
              <a:ext uri="{FF2B5EF4-FFF2-40B4-BE49-F238E27FC236}">
                <a16:creationId xmlns:a16="http://schemas.microsoft.com/office/drawing/2014/main" id="{37B1DC1C-4846-4100-A5C7-C2AACBBD93E9}"/>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Research before implementation</a:t>
            </a:r>
          </a:p>
        </p:txBody>
      </p:sp>
      <p:sp>
        <p:nvSpPr>
          <p:cNvPr id="10" name="Reviewed 4–5 portals and documented functional and non-functional">
            <a:extLst xmlns:a="http://schemas.openxmlformats.org/drawingml/2006/main">
              <a:ext uri="{FF2B5EF4-FFF2-40B4-BE49-F238E27FC236}">
                <a16:creationId xmlns:a16="http://schemas.microsoft.com/office/drawing/2014/main" id="{C189140B-0427-44FD-9623-B225EE6E4FE3}"/>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Reviewed 4–5 portals and documented functional and non-functional requirements.</a:t>
            </a:r>
          </a:p>
        </p:txBody>
      </p:sp>
      <p:sp>
        <p:nvSpPr>
          <p:cNvPr id="11" name="A clearer architecture">
            <a:extLst xmlns:a="http://schemas.openxmlformats.org/drawingml/2006/main">
              <a:ext uri="{FF2B5EF4-FFF2-40B4-BE49-F238E27FC236}">
                <a16:creationId xmlns:a16="http://schemas.microsoft.com/office/drawing/2014/main" id="{ABB61360-5086-4EA2-8188-DA954EE58FDF}"/>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A clearer architecture</a:t>
            </a:r>
          </a:p>
        </p:txBody>
      </p:sp>
      <p:sp>
        <p:nvSpPr>
          <p:cNvPr id="12" name="Migrated the existing structure to make the code easier to unders">
            <a:extLst xmlns:a="http://schemas.openxmlformats.org/drawingml/2006/main">
              <a:ext uri="{FF2B5EF4-FFF2-40B4-BE49-F238E27FC236}">
                <a16:creationId xmlns:a16="http://schemas.microsoft.com/office/drawing/2014/main" id="{C642AE31-754A-423C-8506-DD457ECAEA81}"/>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Migrated the existing structure to make the code easier to understand and maintain.</a:t>
            </a:r>
          </a:p>
        </p:txBody>
      </p:sp>
      <p:sp>
        <p:nvSpPr>
          <p:cNvPr id="13" name="Continued delivery">
            <a:extLst xmlns:a="http://schemas.openxmlformats.org/drawingml/2006/main">
              <a:ext uri="{FF2B5EF4-FFF2-40B4-BE49-F238E27FC236}">
                <a16:creationId xmlns:a16="http://schemas.microsoft.com/office/drawing/2014/main" id="{27A01351-46E1-4E74-AE35-099437B5AF0E}"/>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Continued delivery</a:t>
            </a:r>
          </a:p>
        </p:txBody>
      </p:sp>
      <p:sp>
        <p:nvSpPr>
          <p:cNvPr id="14" name="Worked on complex flows while resolving questions from junior dev">
            <a:extLst xmlns:a="http://schemas.openxmlformats.org/drawingml/2006/main">
              <a:ext uri="{FF2B5EF4-FFF2-40B4-BE49-F238E27FC236}">
                <a16:creationId xmlns:a16="http://schemas.microsoft.com/office/drawing/2014/main" id="{D19217C6-7871-4EE5-B2D5-93F099820653}"/>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Worked on complex flows while resolving questions from junior developers.</a:t>
            </a:r>
          </a:p>
        </p:txBody>
      </p:sp>
    </p:spTree>
    <p:extLst>
      <p:ext uri="{BB962C8B-B14F-4D97-AF65-F5344CB8AC3E}">
        <p14:creationId xmlns:p14="http://schemas.microsoft.com/office/powerpoint/2010/main" val="16839925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VLTD / PLATFORM SCOPE">
            <a:extLst xmlns:a="http://schemas.openxmlformats.org/drawingml/2006/main">
              <a:ext uri="{FF2B5EF4-FFF2-40B4-BE49-F238E27FC236}">
                <a16:creationId xmlns:a16="http://schemas.microsoft.com/office/drawing/2014/main" id="{BD105467-E77E-493F-9691-13DAE6F2DBC6}"/>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VLTD / PLATFORM SCOPE</a:t>
            </a:r>
          </a:p>
        </p:txBody>
      </p:sp>
      <p:sp>
        <p:nvSpPr>
          <p:cNvPr id="2" name="ATLANTA SYSTEMS">
            <a:extLst xmlns:a="http://schemas.openxmlformats.org/drawingml/2006/main">
              <a:ext uri="{FF2B5EF4-FFF2-40B4-BE49-F238E27FC236}">
                <a16:creationId xmlns:a16="http://schemas.microsoft.com/office/drawing/2014/main" id="{CA8B085B-99C9-4AF9-BBC6-FFC7ECEFE80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Capabilities describe the team’s platform. My ownership is stated">
            <a:extLst xmlns:a="http://schemas.openxmlformats.org/drawingml/2006/main">
              <a:ext uri="{FF2B5EF4-FFF2-40B4-BE49-F238E27FC236}">
                <a16:creationId xmlns:a16="http://schemas.microsoft.com/office/drawing/2014/main" id="{C878FCC9-F60C-406E-8C67-115C9D676CC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Capabilities describe the team’s platform. My ownership is stated separately.</a:t>
            </a:r>
          </a:p>
        </p:txBody>
      </p:sp>
      <p:sp>
        <p:nvSpPr>
          <p:cNvPr id="4" name="12 / 18">
            <a:extLst xmlns:a="http://schemas.openxmlformats.org/drawingml/2006/main">
              <a:ext uri="{FF2B5EF4-FFF2-40B4-BE49-F238E27FC236}">
                <a16:creationId xmlns:a16="http://schemas.microsoft.com/office/drawing/2014/main" id="{40C755C6-1AD1-46CE-AB10-2193BECEE65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12 / 18</a:t>
            </a:r>
          </a:p>
        </p:txBody>
      </p:sp>
      <p:sp>
        <p:nvSpPr>
          <p:cNvPr id="5" name="Complex workflows across the device lifecycle">
            <a:extLst xmlns:a="http://schemas.openxmlformats.org/drawingml/2006/main">
              <a:ext uri="{FF2B5EF4-FFF2-40B4-BE49-F238E27FC236}">
                <a16:creationId xmlns:a16="http://schemas.microsoft.com/office/drawing/2014/main" id="{1E02C17A-7ED6-4D6B-9770-D23904419A9D}"/>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Complex workflows across the device lifecycle</a:t>
            </a:r>
          </a:p>
        </p:txBody>
      </p:sp>
      <p:sp>
        <p:nvSpPr>
          <p:cNvPr id="6" name="">
            <a:extLst xmlns:a="http://schemas.openxmlformats.org/drawingml/2006/main">
              <a:ext uri="{FF2B5EF4-FFF2-40B4-BE49-F238E27FC236}">
                <a16:creationId xmlns:a16="http://schemas.microsoft.com/office/drawing/2014/main" id="{0D2C833F-C046-4AF9-9399-745CC31EB29F}"/>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B464EAAE-0C1A-4363-89C0-15D40688E2F8}"/>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Install and verify">
            <a:extLst xmlns:a="http://schemas.openxmlformats.org/drawingml/2006/main">
              <a:ext uri="{FF2B5EF4-FFF2-40B4-BE49-F238E27FC236}">
                <a16:creationId xmlns:a16="http://schemas.microsoft.com/office/drawing/2014/main" id="{597AE54B-A935-4AE0-99A9-DCE28B551BF7}"/>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Install and verify</a:t>
            </a:r>
          </a:p>
        </p:txBody>
      </p:sp>
      <p:sp>
        <p:nvSpPr>
          <p:cNvPr id="9" name="Vehicle validation, device selection, health checks, panic tests ">
            <a:extLst xmlns:a="http://schemas.openxmlformats.org/drawingml/2006/main">
              <a:ext uri="{FF2B5EF4-FFF2-40B4-BE49-F238E27FC236}">
                <a16:creationId xmlns:a16="http://schemas.microsoft.com/office/drawing/2014/main" id="{7B0FF8D5-13DD-4366-A7C8-BFBC2849357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Vehicle validation, device selection, health checks, panic tests and evidence uploads.</a:t>
            </a:r>
          </a:p>
        </p:txBody>
      </p:sp>
      <p:sp>
        <p:nvSpPr>
          <p:cNvPr id="10" name="">
            <a:extLst xmlns:a="http://schemas.openxmlformats.org/drawingml/2006/main">
              <a:ext uri="{FF2B5EF4-FFF2-40B4-BE49-F238E27FC236}">
                <a16:creationId xmlns:a16="http://schemas.microsoft.com/office/drawing/2014/main" id="{653656C3-0D26-477A-9A9E-5BF2778131B5}"/>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AC6CD68A-62CC-4BB6-B9CC-20028B5455A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intain and replace">
            <a:extLst xmlns:a="http://schemas.openxmlformats.org/drawingml/2006/main">
              <a:ext uri="{FF2B5EF4-FFF2-40B4-BE49-F238E27FC236}">
                <a16:creationId xmlns:a16="http://schemas.microsoft.com/office/drawing/2014/main" id="{4794C2E7-DA07-4691-BB27-72E99FD5577B}"/>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Maintain and replace</a:t>
            </a:r>
          </a:p>
        </p:txBody>
      </p:sp>
      <p:sp>
        <p:nvSpPr>
          <p:cNvPr id="13" name="Repair workflows, replacement, status history and QR-enabled PDF ">
            <a:extLst xmlns:a="http://schemas.openxmlformats.org/drawingml/2006/main">
              <a:ext uri="{FF2B5EF4-FFF2-40B4-BE49-F238E27FC236}">
                <a16:creationId xmlns:a16="http://schemas.microsoft.com/office/drawing/2014/main" id="{2BE82EE9-B899-4194-B9F3-A35827267791}"/>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Repair workflows, replacement, status history and QR-enabled PDF receipts.</a:t>
            </a:r>
          </a:p>
        </p:txBody>
      </p:sp>
      <p:sp>
        <p:nvSpPr>
          <p:cNvPr id="14" name="">
            <a:extLst xmlns:a="http://schemas.openxmlformats.org/drawingml/2006/main">
              <a:ext uri="{FF2B5EF4-FFF2-40B4-BE49-F238E27FC236}">
                <a16:creationId xmlns:a16="http://schemas.microsoft.com/office/drawing/2014/main" id="{F538E8A6-2641-4150-B4B0-88923841DD3C}"/>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85624A00-1588-42EB-830A-9B092567AEB7}"/>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 and govern">
            <a:extLst xmlns:a="http://schemas.openxmlformats.org/drawingml/2006/main">
              <a:ext uri="{FF2B5EF4-FFF2-40B4-BE49-F238E27FC236}">
                <a16:creationId xmlns:a16="http://schemas.microsoft.com/office/drawing/2014/main" id="{54854DC3-0486-4163-8D5E-489FC1F93BB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Monitor and govern</a:t>
            </a:r>
          </a:p>
        </p:txBody>
      </p:sp>
      <p:sp>
        <p:nvSpPr>
          <p:cNvPr id="17" name="Tracking, alerts, command centres, challans and operational repor">
            <a:extLst xmlns:a="http://schemas.openxmlformats.org/drawingml/2006/main">
              <a:ext uri="{FF2B5EF4-FFF2-40B4-BE49-F238E27FC236}">
                <a16:creationId xmlns:a16="http://schemas.microsoft.com/office/drawing/2014/main" id="{BDA3F798-FF84-4B3D-BFB0-38109DB9DF5E}"/>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Tracking, alerts, command centres, challans and operational reports.</a:t>
            </a:r>
          </a:p>
        </p:txBody>
      </p:sp>
      <p:sp>
        <p:nvSpPr>
          <p:cNvPr id="18" name="">
            <a:extLst xmlns:a="http://schemas.openxmlformats.org/drawingml/2006/main">
              <a:ext uri="{FF2B5EF4-FFF2-40B4-BE49-F238E27FC236}">
                <a16:creationId xmlns:a16="http://schemas.microsoft.com/office/drawing/2014/main" id="{8085A9A0-7E4B-4692-936B-1E9A81197E5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D1A143B0-79F2-4259-B209-A8B9C82B41AC}"/>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Extend role access">
            <a:extLst xmlns:a="http://schemas.openxmlformats.org/drawingml/2006/main">
              <a:ext uri="{FF2B5EF4-FFF2-40B4-BE49-F238E27FC236}">
                <a16:creationId xmlns:a16="http://schemas.microsoft.com/office/drawing/2014/main" id="{36EEB3C9-CF90-46AD-A652-521D84C83D0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Extend role access</a:t>
            </a:r>
          </a:p>
        </p:txBody>
      </p:sp>
      <p:sp>
        <p:nvSpPr>
          <p:cNvPr id="21" name="Dedicated portals for authorities, OEMs, fitment centres, inspect">
            <a:extLst xmlns:a="http://schemas.openxmlformats.org/drawingml/2006/main">
              <a:ext uri="{FF2B5EF4-FFF2-40B4-BE49-F238E27FC236}">
                <a16:creationId xmlns:a16="http://schemas.microsoft.com/office/drawing/2014/main" id="{12E9C11D-24BC-433E-A89F-5E46CD63F9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Dedicated portals for authorities, OEMs, fitment centres, inspectors and fleet owners.</a:t>
            </a:r>
          </a:p>
        </p:txBody>
      </p:sp>
      <p:sp>
        <p:nvSpPr>
          <p:cNvPr id="22" name="">
            <a:extLst xmlns:a="http://schemas.openxmlformats.org/drawingml/2006/main">
              <a:ext uri="{FF2B5EF4-FFF2-40B4-BE49-F238E27FC236}">
                <a16:creationId xmlns:a16="http://schemas.microsoft.com/office/drawing/2014/main" id="{7D5142EB-AE8E-4C16-819E-FDE14E58E7CF}"/>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F690F6A5-4728-47F1-9EEE-9A28D30A49B1}"/>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current focus includes RBAC, complex feature work and maintain">
            <a:extLst xmlns:a="http://schemas.openxmlformats.org/drawingml/2006/main">
              <a:ext uri="{FF2B5EF4-FFF2-40B4-BE49-F238E27FC236}">
                <a16:creationId xmlns:a16="http://schemas.microsoft.com/office/drawing/2014/main" id="{04E116A8-D99E-4F06-AC7D-EE980722CDF0}"/>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My current focus includes RBAC, complex feature work and maintainable shared patterns.</a:t>
            </a:r>
          </a:p>
        </p:txBody>
      </p:sp>
    </p:spTree>
    <p:extLst>
      <p:ext uri="{BB962C8B-B14F-4D97-AF65-F5344CB8AC3E}">
        <p14:creationId xmlns:p14="http://schemas.microsoft.com/office/powerpoint/2010/main" val="11097048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CROSS-PROJECT ENGINEERING">
            <a:extLst xmlns:a="http://schemas.openxmlformats.org/drawingml/2006/main">
              <a:ext uri="{FF2B5EF4-FFF2-40B4-BE49-F238E27FC236}">
                <a16:creationId xmlns:a16="http://schemas.microsoft.com/office/drawing/2014/main" id="{406DD9FA-B568-4D22-8E99-00F61512A509}"/>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CROSS-PROJECT ENGINEERING</a:t>
            </a:r>
          </a:p>
        </p:txBody>
      </p:sp>
      <p:sp>
        <p:nvSpPr>
          <p:cNvPr id="2" name="ATLANTA SYSTEMS">
            <a:extLst xmlns:a="http://schemas.openxmlformats.org/drawingml/2006/main">
              <a:ext uri="{FF2B5EF4-FFF2-40B4-BE49-F238E27FC236}">
                <a16:creationId xmlns:a16="http://schemas.microsoft.com/office/drawing/2014/main" id="{FFC38369-3CD0-492D-A2AB-B5AA8F61A02A}"/>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132B5BD-C681-4716-B09B-E15FED749CE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3 / 18">
            <a:extLst xmlns:a="http://schemas.openxmlformats.org/drawingml/2006/main">
              <a:ext uri="{FF2B5EF4-FFF2-40B4-BE49-F238E27FC236}">
                <a16:creationId xmlns:a16="http://schemas.microsoft.com/office/drawing/2014/main" id="{728BFD9B-72FF-4F74-8D3E-26B18FA2DCA6}"/>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13 / 18</a:t>
            </a:r>
          </a:p>
        </p:txBody>
      </p:sp>
      <p:sp>
        <p:nvSpPr>
          <p:cNvPr id="5" name="Access control across every portal">
            <a:extLst xmlns:a="http://schemas.openxmlformats.org/drawingml/2006/main">
              <a:ext uri="{FF2B5EF4-FFF2-40B4-BE49-F238E27FC236}">
                <a16:creationId xmlns:a16="http://schemas.microsoft.com/office/drawing/2014/main" id="{9B2F9877-8E7E-41BC-AB36-0447119161FA}"/>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Access control across every portal</a:t>
            </a:r>
          </a:p>
        </p:txBody>
      </p:sp>
      <p:sp>
        <p:nvSpPr>
          <p:cNvPr id="6" name="Role-based access control is a recurring part of my frontend work">
            <a:extLst xmlns:a="http://schemas.openxmlformats.org/drawingml/2006/main">
              <a:ext uri="{FF2B5EF4-FFF2-40B4-BE49-F238E27FC236}">
                <a16:creationId xmlns:a16="http://schemas.microsoft.com/office/drawing/2014/main" id="{F203AE53-2033-4310-A126-2E3C109E8B19}"/>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Role-based access control is a recurring part of my frontend work.</a:t>
            </a:r>
          </a:p>
        </p:txBody>
      </p:sp>
      <p:sp>
        <p:nvSpPr>
          <p:cNvPr id="7" name="">
            <a:extLst xmlns:a="http://schemas.openxmlformats.org/drawingml/2006/main">
              <a:ext uri="{FF2B5EF4-FFF2-40B4-BE49-F238E27FC236}">
                <a16:creationId xmlns:a16="http://schemas.microsoft.com/office/drawing/2014/main" id="{C62FC668-E28F-4FE9-B009-AC967416ADCC}"/>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C85476C9-41BB-4A48-A0A5-1F51EE60A94B}"/>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outes">
            <a:extLst xmlns:a="http://schemas.openxmlformats.org/drawingml/2006/main">
              <a:ext uri="{FF2B5EF4-FFF2-40B4-BE49-F238E27FC236}">
                <a16:creationId xmlns:a16="http://schemas.microsoft.com/office/drawing/2014/main" id="{B37A2A8B-FC07-488C-9F3E-CE7DDB709600}"/>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Routes</a:t>
            </a:r>
          </a:p>
        </p:txBody>
      </p:sp>
      <p:sp>
        <p:nvSpPr>
          <p:cNvPr id="10" name="Validate the session and user role before opening protected workf">
            <a:extLst xmlns:a="http://schemas.openxmlformats.org/drawingml/2006/main">
              <a:ext uri="{FF2B5EF4-FFF2-40B4-BE49-F238E27FC236}">
                <a16:creationId xmlns:a16="http://schemas.microsoft.com/office/drawing/2014/main" id="{C37DC243-F579-4707-A354-39FE502D8093}"/>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Validate the session and user role before opening protected workflows.</a:t>
            </a:r>
          </a:p>
        </p:txBody>
      </p:sp>
      <p:sp>
        <p:nvSpPr>
          <p:cNvPr id="11" name="">
            <a:extLst xmlns:a="http://schemas.openxmlformats.org/drawingml/2006/main">
              <a:ext uri="{FF2B5EF4-FFF2-40B4-BE49-F238E27FC236}">
                <a16:creationId xmlns:a16="http://schemas.microsoft.com/office/drawing/2014/main" id="{53EACA21-CFD0-4381-99E5-73A359EDE09F}"/>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Portal boundaries and login redirects">
            <a:extLst xmlns:a="http://schemas.openxmlformats.org/drawingml/2006/main">
              <a:ext uri="{FF2B5EF4-FFF2-40B4-BE49-F238E27FC236}">
                <a16:creationId xmlns:a16="http://schemas.microsoft.com/office/drawing/2014/main" id="{48D57C28-6532-4892-B387-38148BFDD2B6}"/>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Portal boundaries and login redirects</a:t>
            </a:r>
          </a:p>
        </p:txBody>
      </p:sp>
      <p:sp>
        <p:nvSpPr>
          <p:cNvPr id="13" name="">
            <a:extLst xmlns:a="http://schemas.openxmlformats.org/drawingml/2006/main">
              <a:ext uri="{FF2B5EF4-FFF2-40B4-BE49-F238E27FC236}">
                <a16:creationId xmlns:a16="http://schemas.microsoft.com/office/drawing/2014/main" id="{86F811B0-3283-40BB-8CC4-103BE2F9A3EE}"/>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3BF8C7DE-892E-4928-9ACF-B10B0389E44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Navigation">
            <a:extLst xmlns:a="http://schemas.openxmlformats.org/drawingml/2006/main">
              <a:ext uri="{FF2B5EF4-FFF2-40B4-BE49-F238E27FC236}">
                <a16:creationId xmlns:a16="http://schemas.microsoft.com/office/drawing/2014/main" id="{18EAAE36-2B15-43A6-805D-CB182899CBA9}"/>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Navigation</a:t>
            </a:r>
          </a:p>
        </p:txBody>
      </p:sp>
      <p:sp>
        <p:nvSpPr>
          <p:cNvPr id="16" name="Show relevant modules according to the user’s assigned permission">
            <a:extLst xmlns:a="http://schemas.openxmlformats.org/drawingml/2006/main">
              <a:ext uri="{FF2B5EF4-FFF2-40B4-BE49-F238E27FC236}">
                <a16:creationId xmlns:a16="http://schemas.microsoft.com/office/drawing/2014/main" id="{A6237924-EA30-470A-BAEC-F87AEEC1B88F}"/>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Show relevant modules according to the user’s assigned permissions.</a:t>
            </a:r>
          </a:p>
        </p:txBody>
      </p:sp>
      <p:sp>
        <p:nvSpPr>
          <p:cNvPr id="17" name="">
            <a:extLst xmlns:a="http://schemas.openxmlformats.org/drawingml/2006/main">
              <a:ext uri="{FF2B5EF4-FFF2-40B4-BE49-F238E27FC236}">
                <a16:creationId xmlns:a16="http://schemas.microsoft.com/office/drawing/2014/main" id="{67B6413C-4E59-4B73-9148-83E194F7F0AC}"/>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Role-aware desktop and mobile menus">
            <a:extLst xmlns:a="http://schemas.openxmlformats.org/drawingml/2006/main">
              <a:ext uri="{FF2B5EF4-FFF2-40B4-BE49-F238E27FC236}">
                <a16:creationId xmlns:a16="http://schemas.microsoft.com/office/drawing/2014/main" id="{64FCAEFB-4B33-4711-89B1-800DF5E8490C}"/>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Role-aware desktop and mobile menus</a:t>
            </a:r>
          </a:p>
        </p:txBody>
      </p:sp>
      <p:sp>
        <p:nvSpPr>
          <p:cNvPr id="19" name="">
            <a:extLst xmlns:a="http://schemas.openxmlformats.org/drawingml/2006/main">
              <a:ext uri="{FF2B5EF4-FFF2-40B4-BE49-F238E27FC236}">
                <a16:creationId xmlns:a16="http://schemas.microsoft.com/office/drawing/2014/main" id="{5D5A733B-7A7E-4A5B-B982-31F7A6F85B13}"/>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707730EC-9ACA-4548-A57E-4DCCA00B8D1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Actions">
            <a:extLst xmlns:a="http://schemas.openxmlformats.org/drawingml/2006/main">
              <a:ext uri="{FF2B5EF4-FFF2-40B4-BE49-F238E27FC236}">
                <a16:creationId xmlns:a16="http://schemas.microsoft.com/office/drawing/2014/main" id="{F496B0FD-1083-43D0-B826-05350D3BBD52}"/>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Actions</a:t>
            </a:r>
          </a:p>
        </p:txBody>
      </p:sp>
      <p:sp>
        <p:nvSpPr>
          <p:cNvPr id="22" name="Apply permission checks to operations within the page.">
            <a:extLst xmlns:a="http://schemas.openxmlformats.org/drawingml/2006/main">
              <a:ext uri="{FF2B5EF4-FFF2-40B4-BE49-F238E27FC236}">
                <a16:creationId xmlns:a16="http://schemas.microsoft.com/office/drawing/2014/main" id="{201E1121-1F77-442E-B726-423E1BD58BFE}"/>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Apply permission checks to operations within the page.</a:t>
            </a:r>
          </a:p>
        </p:txBody>
      </p:sp>
      <p:sp>
        <p:nvSpPr>
          <p:cNvPr id="23" name="">
            <a:extLst xmlns:a="http://schemas.openxmlformats.org/drawingml/2006/main">
              <a:ext uri="{FF2B5EF4-FFF2-40B4-BE49-F238E27FC236}">
                <a16:creationId xmlns:a16="http://schemas.microsoft.com/office/drawing/2014/main" id="{40A3B502-31E6-449E-8AA6-2785B5232B89}"/>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Create, update, approve and other actions">
            <a:extLst xmlns:a="http://schemas.openxmlformats.org/drawingml/2006/main">
              <a:ext uri="{FF2B5EF4-FFF2-40B4-BE49-F238E27FC236}">
                <a16:creationId xmlns:a16="http://schemas.microsoft.com/office/drawing/2014/main" id="{3C9098FF-3778-40C3-8776-B87CD603EDBE}"/>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Create, update, approve and other actions</a:t>
            </a:r>
          </a:p>
        </p:txBody>
      </p:sp>
      <p:sp>
        <p:nvSpPr>
          <p:cNvPr id="25" name="">
            <a:extLst xmlns:a="http://schemas.openxmlformats.org/drawingml/2006/main">
              <a:ext uri="{FF2B5EF4-FFF2-40B4-BE49-F238E27FC236}">
                <a16:creationId xmlns:a16="http://schemas.microsoft.com/office/drawing/2014/main" id="{0283FBEE-E425-486A-B69E-A330A9B19CB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6" name="Frontend controls reflect backend permissions. VLTD RBAC work is ">
            <a:extLst xmlns:a="http://schemas.openxmlformats.org/drawingml/2006/main">
              <a:ext uri="{FF2B5EF4-FFF2-40B4-BE49-F238E27FC236}">
                <a16:creationId xmlns:a16="http://schemas.microsoft.com/office/drawing/2014/main" id="{A64C1397-A36E-4FCE-8687-DDCD6CB15107}"/>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Frontend controls reflect backend permissions. VLTD RBAC work is ongoing.</a:t>
            </a:r>
          </a:p>
        </p:txBody>
      </p:sp>
    </p:spTree>
    <p:extLst>
      <p:ext uri="{BB962C8B-B14F-4D97-AF65-F5344CB8AC3E}">
        <p14:creationId xmlns:p14="http://schemas.microsoft.com/office/powerpoint/2010/main" val="6183232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CONTRIBUTION TO THE TEAM">
            <a:extLst xmlns:a="http://schemas.openxmlformats.org/drawingml/2006/main">
              <a:ext uri="{FF2B5EF4-FFF2-40B4-BE49-F238E27FC236}">
                <a16:creationId xmlns:a16="http://schemas.microsoft.com/office/drawing/2014/main" id="{4483D392-8855-4BD2-BCA6-F6505991E801}"/>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CONTRIBUTION TO THE TEAM</a:t>
            </a:r>
          </a:p>
        </p:txBody>
      </p:sp>
      <p:sp>
        <p:nvSpPr>
          <p:cNvPr id="2" name="ATLANTA SYSTEMS">
            <a:extLst xmlns:a="http://schemas.openxmlformats.org/drawingml/2006/main">
              <a:ext uri="{FF2B5EF4-FFF2-40B4-BE49-F238E27FC236}">
                <a16:creationId xmlns:a16="http://schemas.microsoft.com/office/drawing/2014/main" id="{F240AB6A-6582-4D59-A007-91FFB1D79D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25FF16D-4ACE-4AF4-BAE3-D2743E43759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4 / 18">
            <a:extLst xmlns:a="http://schemas.openxmlformats.org/drawingml/2006/main">
              <a:ext uri="{FF2B5EF4-FFF2-40B4-BE49-F238E27FC236}">
                <a16:creationId xmlns:a16="http://schemas.microsoft.com/office/drawing/2014/main" id="{D1869E3B-52E2-40F5-B3DE-3C907670C31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14 / 18</a:t>
            </a:r>
          </a:p>
        </p:txBody>
      </p:sp>
      <p:sp>
        <p:nvSpPr>
          <p:cNvPr id="5" name="Supporting delivery through people">
            <a:extLst xmlns:a="http://schemas.openxmlformats.org/drawingml/2006/main">
              <a:ext uri="{FF2B5EF4-FFF2-40B4-BE49-F238E27FC236}">
                <a16:creationId xmlns:a16="http://schemas.microsoft.com/office/drawing/2014/main" id="{DC7C02A1-6E35-44B1-BD66-F318892064F0}"/>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Supporting delivery through people</a:t>
            </a:r>
          </a:p>
        </p:txBody>
      </p:sp>
      <p:sp>
        <p:nvSpPr>
          <p:cNvPr id="6" name="">
            <a:extLst xmlns:a="http://schemas.openxmlformats.org/drawingml/2006/main">
              <a:ext uri="{FF2B5EF4-FFF2-40B4-BE49-F238E27FC236}">
                <a16:creationId xmlns:a16="http://schemas.microsoft.com/office/drawing/2014/main" id="{84FC2CF2-DA20-4303-8C27-15C17F8102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6F974D34-553B-4F32-9CD4-ACE5F6758437}"/>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Hiring participation">
            <a:extLst xmlns:a="http://schemas.openxmlformats.org/drawingml/2006/main">
              <a:ext uri="{FF2B5EF4-FFF2-40B4-BE49-F238E27FC236}">
                <a16:creationId xmlns:a16="http://schemas.microsoft.com/office/drawing/2014/main" id="{4DFECF54-8D68-4E8E-8141-9308A66009A2}"/>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Hiring participation</a:t>
            </a:r>
          </a:p>
        </p:txBody>
      </p:sp>
      <p:sp>
        <p:nvSpPr>
          <p:cNvPr id="9" name="Conducted interviews for senior frontend and intern roles.">
            <a:extLst xmlns:a="http://schemas.openxmlformats.org/drawingml/2006/main">
              <a:ext uri="{FF2B5EF4-FFF2-40B4-BE49-F238E27FC236}">
                <a16:creationId xmlns:a16="http://schemas.microsoft.com/office/drawing/2014/main" id="{4F3EF039-3A9A-4763-8ECA-6EC996C079E7}"/>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Conducted interviews for senior frontend and intern roles.</a:t>
            </a:r>
          </a:p>
        </p:txBody>
      </p:sp>
      <p:sp>
        <p:nvSpPr>
          <p:cNvPr id="10" name="">
            <a:extLst xmlns:a="http://schemas.openxmlformats.org/drawingml/2006/main">
              <a:ext uri="{FF2B5EF4-FFF2-40B4-BE49-F238E27FC236}">
                <a16:creationId xmlns:a16="http://schemas.microsoft.com/office/drawing/2014/main" id="{0A26079E-CA30-4B78-89EE-BA9D369C2E86}"/>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D8440A9F-6AEE-404B-9043-3F8E80B87430}"/>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eveloper onboarding">
            <a:extLst xmlns:a="http://schemas.openxmlformats.org/drawingml/2006/main">
              <a:ext uri="{FF2B5EF4-FFF2-40B4-BE49-F238E27FC236}">
                <a16:creationId xmlns:a16="http://schemas.microsoft.com/office/drawing/2014/main" id="{9839DDE2-3B3D-47F1-A4EC-EF8472EFBA15}"/>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Developer onboarding</a:t>
            </a:r>
          </a:p>
        </p:txBody>
      </p:sp>
      <p:sp>
        <p:nvSpPr>
          <p:cNvPr id="13" name="Guided new developers through project structure and business work">
            <a:extLst xmlns:a="http://schemas.openxmlformats.org/drawingml/2006/main">
              <a:ext uri="{FF2B5EF4-FFF2-40B4-BE49-F238E27FC236}">
                <a16:creationId xmlns:a16="http://schemas.microsoft.com/office/drawing/2014/main" id="{C34AA5E8-4CE2-42C3-A783-D8EF290D4380}"/>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Guided new developers through project structure and business workflows.</a:t>
            </a:r>
          </a:p>
        </p:txBody>
      </p:sp>
      <p:sp>
        <p:nvSpPr>
          <p:cNvPr id="14" name="">
            <a:extLst xmlns:a="http://schemas.openxmlformats.org/drawingml/2006/main">
              <a:ext uri="{FF2B5EF4-FFF2-40B4-BE49-F238E27FC236}">
                <a16:creationId xmlns:a16="http://schemas.microsoft.com/office/drawing/2014/main" id="{A03096AD-8DED-4E84-A532-AFDA94BE3F56}"/>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79EDA366-3062-488C-AF75-2A7B9F9D0189}"/>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entoring">
            <a:extLst xmlns:a="http://schemas.openxmlformats.org/drawingml/2006/main">
              <a:ext uri="{FF2B5EF4-FFF2-40B4-BE49-F238E27FC236}">
                <a16:creationId xmlns:a16="http://schemas.microsoft.com/office/drawing/2014/main" id="{EE0C2308-421F-4C6B-A042-FE0AE01EB90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Mentoring</a:t>
            </a:r>
          </a:p>
        </p:txBody>
      </p:sp>
      <p:sp>
        <p:nvSpPr>
          <p:cNvPr id="17" name="Helped an intern and junior members with technical questions and ">
            <a:extLst xmlns:a="http://schemas.openxmlformats.org/drawingml/2006/main">
              <a:ext uri="{FF2B5EF4-FFF2-40B4-BE49-F238E27FC236}">
                <a16:creationId xmlns:a16="http://schemas.microsoft.com/office/drawing/2014/main" id="{5E2FBE02-B548-4CA0-A0C3-62A973902880}"/>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Helped an intern and junior members with technical questions and implementation.</a:t>
            </a:r>
          </a:p>
        </p:txBody>
      </p:sp>
      <p:sp>
        <p:nvSpPr>
          <p:cNvPr id="18" name="">
            <a:extLst xmlns:a="http://schemas.openxmlformats.org/drawingml/2006/main">
              <a:ext uri="{FF2B5EF4-FFF2-40B4-BE49-F238E27FC236}">
                <a16:creationId xmlns:a16="http://schemas.microsoft.com/office/drawing/2014/main" id="{91A85F4B-5671-4B37-A33B-A9F028E21D7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ECBD070B-C804-4194-B43E-BAC1C0B94CA5}"/>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Shared understanding">
            <a:extLst xmlns:a="http://schemas.openxmlformats.org/drawingml/2006/main">
              <a:ext uri="{FF2B5EF4-FFF2-40B4-BE49-F238E27FC236}">
                <a16:creationId xmlns:a16="http://schemas.microsoft.com/office/drawing/2014/main" id="{3D8BAA97-74D6-4469-92F7-C8AE53521A1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Shared understanding</a:t>
            </a:r>
          </a:p>
        </p:txBody>
      </p:sp>
      <p:sp>
        <p:nvSpPr>
          <p:cNvPr id="21" name="Created requirements documentation and coordinated workflows with">
            <a:extLst xmlns:a="http://schemas.openxmlformats.org/drawingml/2006/main">
              <a:ext uri="{FF2B5EF4-FFF2-40B4-BE49-F238E27FC236}">
                <a16:creationId xmlns:a16="http://schemas.microsoft.com/office/drawing/2014/main" id="{7912CF2C-111F-4B28-B19D-B6F1DA329D8D}"/>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Created requirements documentation and coordinated workflows with backend teammates.</a:t>
            </a:r>
          </a:p>
        </p:txBody>
      </p:sp>
      <p:sp>
        <p:nvSpPr>
          <p:cNvPr id="22" name="">
            <a:extLst xmlns:a="http://schemas.openxmlformats.org/drawingml/2006/main">
              <a:ext uri="{FF2B5EF4-FFF2-40B4-BE49-F238E27FC236}">
                <a16:creationId xmlns:a16="http://schemas.microsoft.com/office/drawing/2014/main" id="{9FC185D8-D602-474D-94B1-9F579AEFE8D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22405BE6-5D68-40A3-9E40-AFD648D6594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responsibilities expanded to helping other developers move the">
            <a:extLst xmlns:a="http://schemas.openxmlformats.org/drawingml/2006/main">
              <a:ext uri="{FF2B5EF4-FFF2-40B4-BE49-F238E27FC236}">
                <a16:creationId xmlns:a16="http://schemas.microsoft.com/office/drawing/2014/main" id="{56212315-47E1-4C8D-8C83-43335021227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My responsibilities expanded to helping other developers move their work forward.</a:t>
            </a:r>
          </a:p>
        </p:txBody>
      </p:sp>
    </p:spTree>
    <p:extLst>
      <p:ext uri="{BB962C8B-B14F-4D97-AF65-F5344CB8AC3E}">
        <p14:creationId xmlns:p14="http://schemas.microsoft.com/office/powerpoint/2010/main" val="19391352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NY IMPACT">
            <a:extLst xmlns:a="http://schemas.openxmlformats.org/drawingml/2006/main">
              <a:ext uri="{FF2B5EF4-FFF2-40B4-BE49-F238E27FC236}">
                <a16:creationId xmlns:a16="http://schemas.microsoft.com/office/drawing/2014/main" id="{A5E4E5B5-81CF-46B0-B0DC-5C50AE19D0C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COMPANY IMPACT</a:t>
            </a:r>
          </a:p>
        </p:txBody>
      </p:sp>
      <p:sp>
        <p:nvSpPr>
          <p:cNvPr id="2" name="ATLANTA SYSTEMS">
            <a:extLst xmlns:a="http://schemas.openxmlformats.org/drawingml/2006/main">
              <a:ext uri="{FF2B5EF4-FFF2-40B4-BE49-F238E27FC236}">
                <a16:creationId xmlns:a16="http://schemas.microsoft.com/office/drawing/2014/main" id="{5B553CF6-B4F0-456C-A228-683258998DE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Qualitative value, except the reported tender outcome. No adoptio">
            <a:extLst xmlns:a="http://schemas.openxmlformats.org/drawingml/2006/main">
              <a:ext uri="{FF2B5EF4-FFF2-40B4-BE49-F238E27FC236}">
                <a16:creationId xmlns:a16="http://schemas.microsoft.com/office/drawing/2014/main" id="{BE311FE1-7056-4CD5-A24D-8C06A60A2B4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Qualitative value, except the reported tender outcome. No adoption, revenue or time-saving figures are assumed.</a:t>
            </a:r>
          </a:p>
        </p:txBody>
      </p:sp>
      <p:sp>
        <p:nvSpPr>
          <p:cNvPr id="4" name="15 / 18">
            <a:extLst xmlns:a="http://schemas.openxmlformats.org/drawingml/2006/main">
              <a:ext uri="{FF2B5EF4-FFF2-40B4-BE49-F238E27FC236}">
                <a16:creationId xmlns:a16="http://schemas.microsoft.com/office/drawing/2014/main" id="{6799D433-E682-49BB-A70D-AD96BABB2C1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15 / 18</a:t>
            </a:r>
          </a:p>
        </p:txBody>
      </p:sp>
      <p:sp>
        <p:nvSpPr>
          <p:cNvPr id="5" name="What my work enabled for Atlanta">
            <a:extLst xmlns:a="http://schemas.openxmlformats.org/drawingml/2006/main">
              <a:ext uri="{FF2B5EF4-FFF2-40B4-BE49-F238E27FC236}">
                <a16:creationId xmlns:a16="http://schemas.microsoft.com/office/drawing/2014/main" id="{EB51BCEC-137B-49E4-ACD8-A8125BDCFA7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What my work enabled for Atlanta</a:t>
            </a:r>
          </a:p>
        </p:txBody>
      </p:sp>
      <p:graphicFrame>
        <p:nvGraphicFramePr>
          <p:cNvPr id="12" name=""/>
          <p:cNvGraphicFramePr/>
          <p:nvPr/>
        </p:nvGraphicFramePr>
        <p:xfrm>
          <a:off xmlns:a="http://schemas.openxmlformats.org/drawingml/2006/main" x="609600" y="1828800"/>
          <a:ext xmlns:a="http://schemas.openxmlformats.org/drawingml/2006/main" cx="10972800" cy="37433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MY CONTRIBUTION</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VALUE ENABLED</a:t>
                      </a:r>
                    </a:p>
                  </a:txBody>
                  <a:tcPr marL="114300" marR="228600" marT="133350" marB="133350" anchor="t">
                    <a:solidFill>
                      <a:srgbClr val="FFFFFF"/>
                    </a:solidFill>
                  </a:tcPr>
                </a:tc>
              </a:tr>
              <a:tr h="11811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ownership, testing, demonstrations and follow-up support</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 working platform for stakeholder demos and a contribution to the team’s tender win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system design and end-to-end operational features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Connected transport workflows on a reusable frontend foundation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Requirements, architecture migration, complex flows and mentoring</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 clearer structure for continued development across a growing team</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4354930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EXT PHASE / PROPOSED PRIORITIES">
            <a:extLst xmlns:a="http://schemas.openxmlformats.org/drawingml/2006/main">
              <a:ext uri="{FF2B5EF4-FFF2-40B4-BE49-F238E27FC236}">
                <a16:creationId xmlns:a16="http://schemas.microsoft.com/office/drawing/2014/main" id="{E3FA614B-1813-4B83-9BD9-13D73BDD133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NEXT PHASE / PROPOSED PRIORITIES</a:t>
            </a:r>
          </a:p>
        </p:txBody>
      </p:sp>
      <p:sp>
        <p:nvSpPr>
          <p:cNvPr id="2" name="ATLANTA SYSTEMS">
            <a:extLst xmlns:a="http://schemas.openxmlformats.org/drawingml/2006/main">
              <a:ext uri="{FF2B5EF4-FFF2-40B4-BE49-F238E27FC236}">
                <a16:creationId xmlns:a16="http://schemas.microsoft.com/office/drawing/2014/main" id="{1E530F91-1E49-4B9F-A3EC-A7B541E80F3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31951E54-1128-453B-9EA9-19A0BFBBEA7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6 / 18">
            <a:extLst xmlns:a="http://schemas.openxmlformats.org/drawingml/2006/main">
              <a:ext uri="{FF2B5EF4-FFF2-40B4-BE49-F238E27FC236}">
                <a16:creationId xmlns:a16="http://schemas.microsoft.com/office/drawing/2014/main" id="{F5F51A02-DBA0-474A-B4EE-141E30660F6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16 / 18</a:t>
            </a:r>
          </a:p>
        </p:txBody>
      </p:sp>
      <p:sp>
        <p:nvSpPr>
          <p:cNvPr id="5" name="Strengthening delivery in the next year">
            <a:extLst xmlns:a="http://schemas.openxmlformats.org/drawingml/2006/main">
              <a:ext uri="{FF2B5EF4-FFF2-40B4-BE49-F238E27FC236}">
                <a16:creationId xmlns:a16="http://schemas.microsoft.com/office/drawing/2014/main" id="{1CD91070-4776-46B5-8BBB-3FBD972835F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Strengthening delivery in the next year</a:t>
            </a:r>
          </a:p>
        </p:txBody>
      </p:sp>
      <p:sp>
        <p:nvSpPr>
          <p:cNvPr id="6" name="">
            <a:extLst xmlns:a="http://schemas.openxmlformats.org/drawingml/2006/main">
              <a:ext uri="{FF2B5EF4-FFF2-40B4-BE49-F238E27FC236}">
                <a16:creationId xmlns:a16="http://schemas.microsoft.com/office/drawing/2014/main" id="{B0FAC01E-06E3-4DAC-AFEE-691601362127}"/>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93032F69-1C87-4D78-ADDC-3CC41B0C2B1E}"/>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Complete current workflows">
            <a:extLst xmlns:a="http://schemas.openxmlformats.org/drawingml/2006/main">
              <a:ext uri="{FF2B5EF4-FFF2-40B4-BE49-F238E27FC236}">
                <a16:creationId xmlns:a16="http://schemas.microsoft.com/office/drawing/2014/main" id="{ACDCAEC4-C34B-4D91-B907-7E97B07B7A66}"/>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Complete current workflows</a:t>
            </a:r>
          </a:p>
        </p:txBody>
      </p:sp>
      <p:sp>
        <p:nvSpPr>
          <p:cNvPr id="9" name="Continue VLTD permissions and close remaining API and dashboard i">
            <a:extLst xmlns:a="http://schemas.openxmlformats.org/drawingml/2006/main">
              <a:ext uri="{FF2B5EF4-FFF2-40B4-BE49-F238E27FC236}">
                <a16:creationId xmlns:a16="http://schemas.microsoft.com/office/drawing/2014/main" id="{49558404-0C31-441D-9629-46AEB162C8E3}"/>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VLTD permissions and close remaining API and dashboard integration gaps.</a:t>
            </a:r>
          </a:p>
        </p:txBody>
      </p:sp>
      <p:sp>
        <p:nvSpPr>
          <p:cNvPr id="10" name="">
            <a:extLst xmlns:a="http://schemas.openxmlformats.org/drawingml/2006/main">
              <a:ext uri="{FF2B5EF4-FFF2-40B4-BE49-F238E27FC236}">
                <a16:creationId xmlns:a16="http://schemas.microsoft.com/office/drawing/2014/main" id="{EF2BE920-A630-42E1-AF47-645EC09A7781}"/>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739A9C0-3CAF-4CC3-BC5A-F8FD6EDBE56C}"/>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ke quality repeatable">
            <a:extLst xmlns:a="http://schemas.openxmlformats.org/drawingml/2006/main">
              <a:ext uri="{FF2B5EF4-FFF2-40B4-BE49-F238E27FC236}">
                <a16:creationId xmlns:a16="http://schemas.microsoft.com/office/drawing/2014/main" id="{0DF57CA0-0609-47A6-B771-0F646BA63F61}"/>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Make quality repeatable</a:t>
            </a:r>
          </a:p>
        </p:txBody>
      </p:sp>
      <p:sp>
        <p:nvSpPr>
          <p:cNvPr id="13" name="Add focused tests for auth, permissions and critical installation">
            <a:extLst xmlns:a="http://schemas.openxmlformats.org/drawingml/2006/main">
              <a:ext uri="{FF2B5EF4-FFF2-40B4-BE49-F238E27FC236}">
                <a16:creationId xmlns:a16="http://schemas.microsoft.com/office/drawing/2014/main" id="{A710DD5C-D3A3-4FBB-875F-88A27804EC72}"/>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Add focused tests for auth, permissions and critical installation workflows.</a:t>
            </a:r>
          </a:p>
        </p:txBody>
      </p:sp>
      <p:sp>
        <p:nvSpPr>
          <p:cNvPr id="14" name="">
            <a:extLst xmlns:a="http://schemas.openxmlformats.org/drawingml/2006/main">
              <a:ext uri="{FF2B5EF4-FFF2-40B4-BE49-F238E27FC236}">
                <a16:creationId xmlns:a16="http://schemas.microsoft.com/office/drawing/2014/main" id="{D6F21652-3CF8-4270-A3D4-6B7AF3909AA4}"/>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9840AFFB-4543-417D-BE8B-38BBF39B4CBC}"/>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Improve maintainability">
            <a:extLst xmlns:a="http://schemas.openxmlformats.org/drawingml/2006/main">
              <a:ext uri="{FF2B5EF4-FFF2-40B4-BE49-F238E27FC236}">
                <a16:creationId xmlns:a16="http://schemas.microsoft.com/office/drawing/2014/main" id="{B3D27344-6078-4386-A6D8-420DAA9A43B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Improve maintainability</a:t>
            </a:r>
          </a:p>
        </p:txBody>
      </p:sp>
      <p:sp>
        <p:nvSpPr>
          <p:cNvPr id="17" name="Continue shared patterns, simplify large pages and document imple">
            <a:extLst xmlns:a="http://schemas.openxmlformats.org/drawingml/2006/main">
              <a:ext uri="{FF2B5EF4-FFF2-40B4-BE49-F238E27FC236}">
                <a16:creationId xmlns:a16="http://schemas.microsoft.com/office/drawing/2014/main" id="{18B1C081-3405-4979-8AE2-9162FD74187A}"/>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shared patterns, simplify large pages and document implementation decisions.</a:t>
            </a:r>
          </a:p>
        </p:txBody>
      </p:sp>
      <p:sp>
        <p:nvSpPr>
          <p:cNvPr id="18" name="">
            <a:extLst xmlns:a="http://schemas.openxmlformats.org/drawingml/2006/main">
              <a:ext uri="{FF2B5EF4-FFF2-40B4-BE49-F238E27FC236}">
                <a16:creationId xmlns:a16="http://schemas.microsoft.com/office/drawing/2014/main" id="{1E980570-7FE1-461C-AB91-3A4AC53865CD}"/>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B1717E0B-EA71-4B80-8E21-D377B2C93FD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Measure results">
            <a:extLst xmlns:a="http://schemas.openxmlformats.org/drawingml/2006/main">
              <a:ext uri="{FF2B5EF4-FFF2-40B4-BE49-F238E27FC236}">
                <a16:creationId xmlns:a16="http://schemas.microsoft.com/office/drawing/2014/main" id="{BCC46093-211B-4EA6-8AE2-451994BDB23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Measure results</a:t>
            </a:r>
          </a:p>
        </p:txBody>
      </p:sp>
      <p:sp>
        <p:nvSpPr>
          <p:cNvPr id="21" name="Track production usage, reliability and support outcomes with the">
            <a:extLst xmlns:a="http://schemas.openxmlformats.org/drawingml/2006/main">
              <a:ext uri="{FF2B5EF4-FFF2-40B4-BE49-F238E27FC236}">
                <a16:creationId xmlns:a16="http://schemas.microsoft.com/office/drawing/2014/main" id="{C4EED6B9-8DAE-411D-8DBE-52893E2113DB}"/>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Track production usage, reliability and support outcomes with the team.</a:t>
            </a:r>
          </a:p>
        </p:txBody>
      </p:sp>
      <p:sp>
        <p:nvSpPr>
          <p:cNvPr id="22" name="">
            <a:extLst xmlns:a="http://schemas.openxmlformats.org/drawingml/2006/main">
              <a:ext uri="{FF2B5EF4-FFF2-40B4-BE49-F238E27FC236}">
                <a16:creationId xmlns:a16="http://schemas.microsoft.com/office/drawing/2014/main" id="{645D02DC-9B07-420E-82E2-27F3FF4CD9D7}"/>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E7E52F5B-F68D-404E-9A72-CAB2B0930F56}"/>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Take broader frontend ownership while making delivery easier to s">
            <a:extLst xmlns:a="http://schemas.openxmlformats.org/drawingml/2006/main">
              <a:ext uri="{FF2B5EF4-FFF2-40B4-BE49-F238E27FC236}">
                <a16:creationId xmlns:a16="http://schemas.microsoft.com/office/drawing/2014/main" id="{6350D08E-D9F7-4853-A9EC-384BB2F8122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Take broader frontend ownership while making delivery easier to sustain.</a:t>
            </a:r>
          </a:p>
        </p:txBody>
      </p:sp>
    </p:spTree>
    <p:extLst>
      <p:ext uri="{BB962C8B-B14F-4D97-AF65-F5344CB8AC3E}">
        <p14:creationId xmlns:p14="http://schemas.microsoft.com/office/powerpoint/2010/main" val="20907874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 PROJECT-WIDE SCOPE">
            <a:extLst xmlns:a="http://schemas.openxmlformats.org/drawingml/2006/main">
              <a:ext uri="{FF2B5EF4-FFF2-40B4-BE49-F238E27FC236}">
                <a16:creationId xmlns:a16="http://schemas.microsoft.com/office/drawing/2014/main" id="{1D4DFB18-D4F6-4180-A965-95538CD1A5F2}"/>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REFERENCE / PROJECT-WIDE SCOPE</a:t>
            </a:r>
          </a:p>
        </p:txBody>
      </p:sp>
      <p:sp>
        <p:nvSpPr>
          <p:cNvPr id="2" name="ATLANTA SYSTEMS">
            <a:extLst xmlns:a="http://schemas.openxmlformats.org/drawingml/2006/main">
              <a:ext uri="{FF2B5EF4-FFF2-40B4-BE49-F238E27FC236}">
                <a16:creationId xmlns:a16="http://schemas.microsoft.com/office/drawing/2014/main" id="{BB3E5E4C-8A7E-40D9-9387-7118F3714B90}"/>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s use different definitions and perio">
            <a:extLst xmlns:a="http://schemas.openxmlformats.org/drawingml/2006/main">
              <a:ext uri="{FF2B5EF4-FFF2-40B4-BE49-F238E27FC236}">
                <a16:creationId xmlns:a16="http://schemas.microsoft.com/office/drawing/2014/main" id="{F221D1BA-1244-4EF6-A270-A66E1EDEE73B}"/>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snapshots use different definitions and periods. These are team scope indicators, not personal output or business KPIs.</a:t>
            </a:r>
          </a:p>
        </p:txBody>
      </p:sp>
      <p:sp>
        <p:nvSpPr>
          <p:cNvPr id="4" name="17 / 18">
            <a:extLst xmlns:a="http://schemas.openxmlformats.org/drawingml/2006/main">
              <a:ext uri="{FF2B5EF4-FFF2-40B4-BE49-F238E27FC236}">
                <a16:creationId xmlns:a16="http://schemas.microsoft.com/office/drawing/2014/main" id="{4C86882F-A082-47C0-BA5A-954E6303763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17 / 18</a:t>
            </a:r>
          </a:p>
        </p:txBody>
      </p:sp>
      <p:sp>
        <p:nvSpPr>
          <p:cNvPr id="5" name="Repository scale in context">
            <a:extLst xmlns:a="http://schemas.openxmlformats.org/drawingml/2006/main">
              <a:ext uri="{FF2B5EF4-FFF2-40B4-BE49-F238E27FC236}">
                <a16:creationId xmlns:a16="http://schemas.microsoft.com/office/drawing/2014/main" id="{6269430C-F2EA-459F-9744-5B5A7390AE5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Repository scale in context</a:t>
            </a:r>
          </a:p>
        </p:txBody>
      </p:sp>
      <p:graphicFrame>
        <p:nvGraphicFramePr>
          <p:cNvPr id="12" name=""/>
          <p:cNvGraphicFramePr/>
          <p:nvPr/>
        </p:nvGraphicFramePr>
        <p:xfrm>
          <a:off xmlns:a="http://schemas.openxmlformats.org/drawingml/2006/main" x="609600" y="1828800"/>
          <a:ext xmlns:a="http://schemas.openxmlformats.org/drawingml/2006/main" cx="10972800" cy="36290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SOURCE SCOPE</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REUSABLE FRONTEND SCOPE</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340 source files</a:t>
                      </a:r>
                    </a:p>
                    <a:p>
                      <a:pPr algn="l">
                        <a:lnSpc>
                          <a:spcPct val="115000"/>
                        </a:lnSpc>
                        <a:buNone/>
                      </a:pPr>
                      <a:r>
                        <a:rPr sz="1725" b="0">
                          <a:solidFill>
                            <a:srgbClr val="56647A"/>
                          </a:solidFill>
                          <a:latin typeface="Arial"/>
                          <a:ea typeface="Arial"/>
                          <a:cs typeface="Arial"/>
                        </a:rPr>
                        <a:t>309 Vue components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Role layouts, reporting and shared certificate components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590 source files</a:t>
                      </a:r>
                    </a:p>
                    <a:p>
                      <a:pPr algn="l">
                        <a:lnSpc>
                          <a:spcPct val="115000"/>
                        </a:lnSpc>
                        <a:buNone/>
                      </a:pPr>
                      <a:r>
                        <a:rPr sz="1725" b="0">
                          <a:solidFill>
                            <a:srgbClr val="56647A"/>
                          </a:solidFill>
                          <a:latin typeface="Arial"/>
                          <a:ea typeface="Arial"/>
                          <a:cs typeface="Arial"/>
                        </a:rPr>
                        <a:t>304 Vue components / pages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40 shared UI components</a:t>
                      </a:r>
                    </a:p>
                    <a:p>
                      <a:pPr algn="l">
                        <a:lnSpc>
                          <a:spcPct val="115000"/>
                        </a:lnSpc>
                        <a:buNone/>
                      </a:pPr>
                      <a:r>
                        <a:rPr sz="1725" b="0">
                          <a:solidFill>
                            <a:srgbClr val="56647A"/>
                          </a:solidFill>
                          <a:latin typeface="Arial"/>
                          <a:ea typeface="Arial"/>
                          <a:cs typeface="Arial"/>
                        </a:rPr>
                        <a:t>49 feature API modules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602 source files</a:t>
                      </a:r>
                    </a:p>
                    <a:p>
                      <a:pPr algn="l">
                        <a:lnSpc>
                          <a:spcPct val="115000"/>
                        </a:lnSpc>
                        <a:buNone/>
                      </a:pPr>
                      <a:r>
                        <a:rPr sz="1725" b="0">
                          <a:solidFill>
                            <a:srgbClr val="56647A"/>
                          </a:solidFill>
                          <a:latin typeface="Arial"/>
                          <a:ea typeface="Arial"/>
                          <a:cs typeface="Arial"/>
                        </a:rPr>
                        <a:t>373 Vue files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51 shared UI components</a:t>
                      </a:r>
                    </a:p>
                    <a:p>
                      <a:pPr algn="l">
                        <a:lnSpc>
                          <a:spcPct val="115000"/>
                        </a:lnSpc>
                        <a:buNone/>
                      </a:pPr>
                      <a:r>
                        <a:rPr sz="1725" b="0">
                          <a:solidFill>
                            <a:srgbClr val="56647A"/>
                          </a:solidFill>
                          <a:latin typeface="Arial"/>
                          <a:ea typeface="Arial"/>
                          <a:cs typeface="Arial"/>
                        </a:rPr>
                        <a:t>66 feature API / service modules</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577872544"/>
      </p:ext>
    </p:extLst>
  </p:cSld>
</p:sld>
</file>

<file path=ppt/slides/slide1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0" name="MANISH KUMAR / ATLANTA SYSTEMS">
            <a:extLst xmlns:a="http://schemas.openxmlformats.org/drawingml/2006/main">
              <a:ext uri="{FF2B5EF4-FFF2-40B4-BE49-F238E27FC236}">
                <a16:creationId xmlns:a16="http://schemas.microsoft.com/office/drawing/2014/main" id="{C11635CC-D5DD-460A-8547-576D0AB2EA9A}"/>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MANISH KUMAR / ATLANTA SYSTEMS</a:t>
            </a:r>
          </a:p>
        </p:txBody>
      </p:sp>
      <p:sp>
        <p:nvSpPr>
          <p:cNvPr id="2" name="ATLANTA SYSTEMS">
            <a:extLst xmlns:a="http://schemas.openxmlformats.org/drawingml/2006/main">
              <a:ext uri="{FF2B5EF4-FFF2-40B4-BE49-F238E27FC236}">
                <a16:creationId xmlns:a16="http://schemas.microsoft.com/office/drawing/2014/main" id="{4B56B311-726C-4064-8390-099191315EDF}"/>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F9AB00A-42B1-48FA-BF37-ACF0762B469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8 / 18">
            <a:extLst xmlns:a="http://schemas.openxmlformats.org/drawingml/2006/main">
              <a:ext uri="{FF2B5EF4-FFF2-40B4-BE49-F238E27FC236}">
                <a16:creationId xmlns:a16="http://schemas.microsoft.com/office/drawing/2014/main" id="{D091CB40-C36F-4687-BF85-6E9005D1BD3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18 / 18</a:t>
            </a:r>
          </a:p>
        </p:txBody>
      </p:sp>
      <p:sp>
        <p:nvSpPr>
          <p:cNvPr id="5" name="Thank you">
            <a:extLst xmlns:a="http://schemas.openxmlformats.org/drawingml/2006/main">
              <a:ext uri="{FF2B5EF4-FFF2-40B4-BE49-F238E27FC236}">
                <a16:creationId xmlns:a16="http://schemas.microsoft.com/office/drawing/2014/main" id="{72596A5C-F45F-43A2-B984-5F8454729E45}"/>
              </a:ext>
            </a:extLst>
          </p:cNvPr>
          <p:cNvSpPr>
            <a:spLocks xmlns:a="http://schemas.openxmlformats.org/drawingml/2006/main" noGrp="1"/>
          </p:cNvSpPr>
          <p:nvPr/>
        </p:nvSpPr>
        <p:spPr>
          <a:xfrm xmlns:a="http://schemas.openxmlformats.org/drawingml/2006/main">
            <a:off x="609600" y="1971675"/>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400" b="1">
                <a:solidFill>
                  <a:srgbClr val="F6F8FC"/>
                </a:solidFill>
                <a:latin typeface="Arial"/>
                <a:ea typeface="Arial"/>
                <a:cs typeface="Arial"/>
              </a:defRPr>
            </a:pPr>
            <a:r>
              <a:rPr sz="8400" b="1">
                <a:solidFill>
                  <a:srgbClr val="F6F8FC"/>
                </a:solidFill>
                <a:latin typeface="Arial"/>
                <a:ea typeface="Arial"/>
                <a:cs typeface="Arial"/>
              </a:rPr>
              <a:t>Thank you</a:t>
            </a:r>
          </a:p>
        </p:txBody>
      </p:sp>
      <p:sp>
        <p:nvSpPr>
          <p:cNvPr id="6" name="Ready for broader frontend ownership">
            <a:extLst xmlns:a="http://schemas.openxmlformats.org/drawingml/2006/main">
              <a:ext uri="{FF2B5EF4-FFF2-40B4-BE49-F238E27FC236}">
                <a16:creationId xmlns:a16="http://schemas.microsoft.com/office/drawing/2014/main" id="{DAC797B2-5EAE-499C-9859-C7BE19402E59}"/>
              </a:ext>
            </a:extLst>
          </p:cNvPr>
          <p:cNvSpPr>
            <a:spLocks xmlns:a="http://schemas.openxmlformats.org/drawingml/2006/main" noGrp="1"/>
          </p:cNvSpPr>
          <p:nvPr/>
        </p:nvSpPr>
        <p:spPr>
          <a:xfrm xmlns:a="http://schemas.openxmlformats.org/drawingml/2006/main">
            <a:off x="609600" y="34004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400" b="0">
                <a:solidFill>
                  <a:srgbClr val="83AAFF"/>
                </a:solidFill>
                <a:latin typeface="Arial"/>
                <a:ea typeface="Arial"/>
                <a:cs typeface="Arial"/>
              </a:defRPr>
            </a:pPr>
            <a:r>
              <a:rPr sz="2400" b="0">
                <a:solidFill>
                  <a:srgbClr val="83AAFF"/>
                </a:solidFill>
                <a:latin typeface="Arial"/>
                <a:ea typeface="Arial"/>
                <a:cs typeface="Arial"/>
              </a:rPr>
              <a:t>Ready for broader frontend ownership</a:t>
            </a:r>
          </a:p>
        </p:txBody>
      </p:sp>
      <p:sp>
        <p:nvSpPr>
          <p:cNvPr id="7" name="I look forward to building on this experience and contributing mo">
            <a:extLst xmlns:a="http://schemas.openxmlformats.org/drawingml/2006/main">
              <a:ext uri="{FF2B5EF4-FFF2-40B4-BE49-F238E27FC236}">
                <a16:creationId xmlns:a16="http://schemas.microsoft.com/office/drawing/2014/main" id="{F7B3CF52-2D98-4C24-B744-75F7F83CAB92}"/>
              </a:ext>
            </a:extLst>
          </p:cNvPr>
          <p:cNvSpPr>
            <a:spLocks xmlns:a="http://schemas.openxmlformats.org/drawingml/2006/main" noGrp="1"/>
          </p:cNvSpPr>
          <p:nvPr/>
        </p:nvSpPr>
        <p:spPr>
          <a:xfrm xmlns:a="http://schemas.openxmlformats.org/drawingml/2006/main">
            <a:off x="609600" y="3981450"/>
            <a:ext cx="904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B3C0D3"/>
                </a:solidFill>
                <a:latin typeface="Arial"/>
                <a:ea typeface="Arial"/>
                <a:cs typeface="Arial"/>
              </a:defRPr>
            </a:pPr>
            <a:r>
              <a:rPr sz="1725" b="0">
                <a:solidFill>
                  <a:srgbClr val="B3C0D3"/>
                </a:solidFill>
                <a:latin typeface="Arial"/>
                <a:ea typeface="Arial"/>
                <a:cs typeface="Arial"/>
              </a:rPr>
              <a:t>I look forward to building on this experience and contributing more to the team.</a:t>
            </a:r>
          </a:p>
        </p:txBody>
      </p:sp>
      <p:sp>
        <p:nvSpPr>
          <p:cNvPr id="8" name="Manish Kumar">
            <a:extLst xmlns:a="http://schemas.openxmlformats.org/drawingml/2006/main">
              <a:ext uri="{FF2B5EF4-FFF2-40B4-BE49-F238E27FC236}">
                <a16:creationId xmlns:a16="http://schemas.microsoft.com/office/drawing/2014/main" id="{1E9415A7-4E04-4896-984F-1D2EE5C5410E}"/>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E228B25-37C3-4BDA-828E-4C454B83D224}"/>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Tree>
    <p:extLst>
      <p:ext uri="{BB962C8B-B14F-4D97-AF65-F5344CB8AC3E}">
        <p14:creationId xmlns:p14="http://schemas.microsoft.com/office/powerpoint/2010/main" val="1137478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2026-09-10T16:13:46.6520000Z</dcterms:created>
  <dcterms:modified xsi:type="dcterms:W3CDTF">2026-09-10T16:13:46.6520000Z</dcterms:modified>
</coreProperties>
</file>