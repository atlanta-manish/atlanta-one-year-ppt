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4bd6e4a77ab48eb" Type="http://schemas.openxmlformats.org/officeDocument/2006/relationships/extended-properties" Target="docProps/app.xml"/><Relationship Id="Ra532af6fe38d4c34" Type="http://schemas.openxmlformats.org/officeDocument/2006/relationships/officeDocument" Target="ppt/presentation.xml"/><Relationship Id="Rd00f3e7c9ea1424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6bd9f0febb504409"/>
  </p:sldMasterIdLst>
  <p:notesMasterIdLst>
    <p:notesMasterId xmlns:r="http://schemas.openxmlformats.org/officeDocument/2006/relationships" r:id="Rbe705b13b7614e0f"/>
  </p:notesMasterIdLst>
  <p:sldIdLst>
    <p:sldId xmlns:r="http://schemas.openxmlformats.org/officeDocument/2006/relationships" id="256" r:id="R56f5be3b8d844fd7"/>
    <p:sldId xmlns:r="http://schemas.openxmlformats.org/officeDocument/2006/relationships" id="257" r:id="Reb83be51144a41c1"/>
    <p:sldId xmlns:r="http://schemas.openxmlformats.org/officeDocument/2006/relationships" id="258" r:id="R2b4e3c2746444b7d"/>
    <p:sldId xmlns:r="http://schemas.openxmlformats.org/officeDocument/2006/relationships" id="259" r:id="Rda2ae26436d24c74"/>
    <p:sldId xmlns:r="http://schemas.openxmlformats.org/officeDocument/2006/relationships" id="260" r:id="Radfc90f5b03c4979"/>
    <p:sldId xmlns:r="http://schemas.openxmlformats.org/officeDocument/2006/relationships" id="261" r:id="R57fb35ba3d48415d"/>
    <p:sldId xmlns:r="http://schemas.openxmlformats.org/officeDocument/2006/relationships" id="262" r:id="Refcd1f5a2b9e4505"/>
    <p:sldId xmlns:r="http://schemas.openxmlformats.org/officeDocument/2006/relationships" id="263" r:id="Rf1bf4ccc80f042b1"/>
    <p:sldId xmlns:r="http://schemas.openxmlformats.org/officeDocument/2006/relationships" id="264" r:id="Ra430958182a94501"/>
    <p:sldId xmlns:r="http://schemas.openxmlformats.org/officeDocument/2006/relationships" id="265" r:id="R8db5e89c80a644ce"/>
    <p:sldId xmlns:r="http://schemas.openxmlformats.org/officeDocument/2006/relationships" id="266" r:id="R4ece96888c664547"/>
    <p:sldId xmlns:r="http://schemas.openxmlformats.org/officeDocument/2006/relationships" id="267" r:id="R6244a7efe8dd4fd2"/>
    <p:sldId xmlns:r="http://schemas.openxmlformats.org/officeDocument/2006/relationships" id="268" r:id="R6a6b3da78acc47bc"/>
    <p:sldId xmlns:r="http://schemas.openxmlformats.org/officeDocument/2006/relationships" id="269" r:id="R75651c9d91164301"/>
    <p:sldId xmlns:r="http://schemas.openxmlformats.org/officeDocument/2006/relationships" id="270" r:id="Rcc10ac6851a44455"/>
    <p:sldId xmlns:r="http://schemas.openxmlformats.org/officeDocument/2006/relationships" id="271" r:id="R152eb10960584a8a"/>
    <p:sldId xmlns:r="http://schemas.openxmlformats.org/officeDocument/2006/relationships" id="272" r:id="R929c159a50d14a06"/>
    <p:sldId xmlns:r="http://schemas.openxmlformats.org/officeDocument/2006/relationships" id="273" r:id="R3ab27af1d8664f9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52eb10960584a8a" Type="http://schemas.openxmlformats.org/officeDocument/2006/relationships/slide" Target="slides/slide16.xml"/><Relationship Id="R2b4e3c2746444b7d" Type="http://schemas.openxmlformats.org/officeDocument/2006/relationships/slide" Target="slides/slide3.xml"/><Relationship Id="R3ab27af1d8664f92" Type="http://schemas.openxmlformats.org/officeDocument/2006/relationships/slide" Target="slides/slide18.xml"/><Relationship Id="R3f5d6b2d907644a5" Type="http://schemas.openxmlformats.org/officeDocument/2006/relationships/theme" Target="theme/theme1.xml"/><Relationship Id="R4ece96888c664547" Type="http://schemas.openxmlformats.org/officeDocument/2006/relationships/slide" Target="slides/slide11.xml"/><Relationship Id="R51127e84a8954269" Type="http://schemas.openxmlformats.org/officeDocument/2006/relationships/tableStyles" Target="tableStyles.xml"/><Relationship Id="R56f5be3b8d844fd7" Type="http://schemas.openxmlformats.org/officeDocument/2006/relationships/slide" Target="slides/slide1.xml"/><Relationship Id="R57fb35ba3d48415d" Type="http://schemas.openxmlformats.org/officeDocument/2006/relationships/slide" Target="slides/slide6.xml"/><Relationship Id="R6244a7efe8dd4fd2" Type="http://schemas.openxmlformats.org/officeDocument/2006/relationships/slide" Target="slides/slide12.xml"/><Relationship Id="R6a6b3da78acc47bc" Type="http://schemas.openxmlformats.org/officeDocument/2006/relationships/slide" Target="slides/slide13.xml"/><Relationship Id="R6bd9f0febb504409" Type="http://schemas.openxmlformats.org/officeDocument/2006/relationships/slideMaster" Target="slideMasters/slideMaster1.xml"/><Relationship Id="R75651c9d91164301" Type="http://schemas.openxmlformats.org/officeDocument/2006/relationships/slide" Target="slides/slide14.xml"/><Relationship Id="R8db5e89c80a644ce" Type="http://schemas.openxmlformats.org/officeDocument/2006/relationships/slide" Target="slides/slide10.xml"/><Relationship Id="R929c159a50d14a06" Type="http://schemas.openxmlformats.org/officeDocument/2006/relationships/slide" Target="slides/slide17.xml"/><Relationship Id="Ra430958182a94501" Type="http://schemas.openxmlformats.org/officeDocument/2006/relationships/slide" Target="slides/slide9.xml"/><Relationship Id="Radfc90f5b03c4979" Type="http://schemas.openxmlformats.org/officeDocument/2006/relationships/slide" Target="slides/slide5.xml"/><Relationship Id="Rbe705b13b7614e0f" Type="http://schemas.openxmlformats.org/officeDocument/2006/relationships/notesMaster" Target="notesMasters/notesMaster1.xml"/><Relationship Id="Rcc10ac6851a44455" Type="http://schemas.openxmlformats.org/officeDocument/2006/relationships/slide" Target="slides/slide15.xml"/><Relationship Id="Rda2ae26436d24c74" Type="http://schemas.openxmlformats.org/officeDocument/2006/relationships/slide" Target="slides/slide4.xml"/><Relationship Id="Reb83be51144a41c1" Type="http://schemas.openxmlformats.org/officeDocument/2006/relationships/slide" Target="slides/slide2.xml"/><Relationship Id="Refcd1f5a2b9e4505" Type="http://schemas.openxmlformats.org/officeDocument/2006/relationships/slide" Target="slides/slide7.xml"/><Relationship Id="Rf1bf4ccc80f042b1" Type="http://schemas.openxmlformats.org/officeDocument/2006/relationships/slide" Target="slides/slide8.xml"/><Relationship Id="Rf261ed3a2658436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239df456336342e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96926e848f4c41" Type="http://schemas.openxmlformats.org/officeDocument/2006/relationships/slide" Target="../slides/slide1.xml"/><Relationship Id="Radfbc1641fc44fd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dd61d4aa3c94350" Type="http://schemas.openxmlformats.org/officeDocument/2006/relationships/slide" Target="../slides/slide2.xml"/><Relationship Id="Re01061e717d941d8"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43cecad957864f94" Type="http://schemas.openxmlformats.org/officeDocument/2006/relationships/slide" Target="../slides/slide3.xml"/><Relationship Id="R471c76dfb5254315"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3494a30e00b4fea" Type="http://schemas.openxmlformats.org/officeDocument/2006/relationships/notesMaster" Target="../notesMasters/notesMaster1.xml"/><Relationship Id="Rcce97879672e4f3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00d2f66a57c4403" Type="http://schemas.openxmlformats.org/officeDocument/2006/relationships/notesMaster" Target="../notesMasters/notesMaster1.xml"/><Relationship Id="Ra7f4356011c8458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3bc6e6677864c4c" Type="http://schemas.openxmlformats.org/officeDocument/2006/relationships/notesMaster" Target="../notesMasters/notesMaster1.xml"/><Relationship Id="Ra24015ef6f5d454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a7bcb7c89724811" Type="http://schemas.openxmlformats.org/officeDocument/2006/relationships/slide" Target="../slides/slide7.xml"/><Relationship Id="R5a3a106a543748f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9946dec241e4e59" Type="http://schemas.openxmlformats.org/officeDocument/2006/relationships/notesMaster" Target="../notesMasters/notesMaster1.xml"/><Relationship Id="R7cf0a3acc1904b9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6d8d3256b4e41ac" Type="http://schemas.openxmlformats.org/officeDocument/2006/relationships/slide" Target="../slides/slide9.xml"/><Relationship Id="Rcff8f40f0e084e6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4734753e6854aa5" Type="http://schemas.openxmlformats.org/officeDocument/2006/relationships/notesMaster" Target="../notesMasters/notesMaster1.xml"/><Relationship Id="Rea949663acc14c5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655735dde0a44f09" Type="http://schemas.openxmlformats.org/officeDocument/2006/relationships/slide" Target="../slides/slide11.xml"/><Relationship Id="R937616e35736462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8bd17a323f84b45" Type="http://schemas.openxmlformats.org/officeDocument/2006/relationships/slide" Target="../slides/slide12.xml"/><Relationship Id="R91ece734473340f0"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2304ebe7881246bd" Type="http://schemas.openxmlformats.org/officeDocument/2006/relationships/slide" Target="../slides/slide13.xml"/><Relationship Id="R3f6553bcdb0441a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759baf7dd4e465a" Type="http://schemas.openxmlformats.org/officeDocument/2006/relationships/slide" Target="../slides/slide14.xml"/><Relationship Id="R50bf339e4aee4c0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a453753455fd425e" Type="http://schemas.openxmlformats.org/officeDocument/2006/relationships/slide" Target="../slides/slide15.xml"/><Relationship Id="Rd6432d01f01c477a"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79b460a0d5474a24" Type="http://schemas.openxmlformats.org/officeDocument/2006/relationships/slide" Target="../slides/slide16.xml"/><Relationship Id="Rf6b5e7c39b1c48a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6c21461e10f3442d" Type="http://schemas.openxmlformats.org/officeDocument/2006/relationships/slide" Target="../slides/slide17.xml"/><Relationship Id="Rf62857c0bcec47bb"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d791ac3eb244a1e" Type="http://schemas.openxmlformats.org/officeDocument/2006/relationships/notesMaster" Target="../notesMasters/notesMaster1.xml"/><Relationship Id="R8b0e28e039164875" Type="http://schemas.openxmlformats.org/officeDocument/2006/relationships/slide" Target="../slides/slide1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joined Atlanta as a junior frontend developer with internship experience. Over this period, my role expanded into complete frontend ownership, system design, stakeholder demonstrations and supporting other developers. This presentation focuses on the work I contributed and the value it enabled for Atlanta.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strongest contribution was taking responsibility for frontend delivery. I solely built the ITMS frontend from scratch. On VLTD, I lead the frontend work within a six-person team of three frontend and three backend developers. I also researched four to five existing portals before helping define requirements. RTape’s selection for state-level deployment in Madhya Pradesh belongs to the project team. My contribution covered frontend delivery, live testing, demonstrations and follow-up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projects describe a progression in responsibility, rather than a formal change in job title. RTape developed my ownership of delivery. On ITMS, I solely built the complete frontend from scratch, including its architecture and operational workflows. On VLTD, I lead the frontend work, own major modules, plan features and workflows, coordinate page updates with the full team, mentor junior developers and help resolve issues. Work on these projects overlapped.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RTape was my first major project at Atlanta. The system connects manufacturers, fitment centres, transport authorities, inspectors and citizens. I took ownership of the frontend, with initial direction from the team lead and close coordination with my backend teammate. Limited documentation meant I often had to research workflows, clarify requirements and solve technical problems independently, including additional study outside office hours.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supplied RTape review attributes work to me in authentication, complaints, appointments, certificates, localization, inventory workflows and responsive UI. Examples include appointment booking with OTP, complaint lifecycle tracking, inventory discard, OEM price-change approvals, vehicle-fitment verification and public PDF certificates. These capabilities helped make the platform usable for both operational users and citizens.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responsibilities extended beyond implementation. I helped prepare and test the full workflow, participated in demo meetings, presented at the Noida office named BESIL in my account, and supported the team lead during the Madhya Pradesh demonstration. The project was selected for state-level deployment in Madhya Pradesh. I describe that as a team achievement and identify my own support clearly. I also helped with documentation and subsequent updates.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figures from the supplied repository review, not a fresh audit. The review attributes 280 branch-lifetime commits to Manish Kumar, including 89 during 2026, and changes to 168 unique files in 2026. The 64% share applies only to the project’s 2026 commit activity. It does not describe ownership percentage or business value. I use delivered workflows and the state-level selection milestone to explain the impact alongside this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ITMS broadened my work into full frontend ownership. I solely built the complete frontend from scratch, including requirements research, functional and non-functional planning, architecture and end-to-end feature delivery. The platform serves state administration, depot managers and staff, drivers, conductors and passengers. Complex workflows required continuous R&amp;D and coordination with evolving backend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ITMS scope spans workforce and fleet management, depot resources, shift execution, tracking, incident handling and reporting. The ten-report depot area includes missed shifts, login activity, assignment history, vehicle audit, device health and other operational reports. Driver and conductor portals support field workflows, while the Passenger Information System exposes supported bus, route, stop and trip information. This describes implemented scope, not a claim that every module has completed production hardening.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intent was to make the frontend understandable and maintainable as feature coverage grew. Pages focus on UI, composables coordinate workflows, stores manage state, API modules isolate HTTP calls, and adapters normalize backend responses. The supplied review lists 40 shared UI components, 49 feature API modules and 36 response adapters. These are project-wide scope indicators. I am not claiming a measured performance improvement or a time-saving percentage.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VLTD began as a fresh project built by recently joined developers. I lead the frontend work within a six-person team while remaining hands-on with the Transport Department, Fleet Owner, School Management, Driver and project-wide challan workflows. I migrated the entire frontend codebase to another tech stack and improved its architecture for maintainability and scalability. I also plan features, coordinate page updates, mentor junior developers and resolve issues. Other teammates delivered the OEM, FC and RTO panels, including their device workflows.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VLTD delivery scope covers the Transport Department, Fleet Owner, School Management and Driver modules, plus the challan workflow across the project. I also improve the architecture across the frontend, with a focus on clean, maintainable and optimized code. I lead the three-person frontend group within the six-person team. Other team members delivered the OEM, FC and RTO panels, including their device workflows, so I do not present that work as my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Authentication and permissions recur across all three projects. My frontend responsibility includes routes, navigation and permitted actions. The exact implementation differs by project. Backend authorization remains the security boundary, while the frontend gives users a consistent and appropriate experience. I am currently continuing RBAC work in VLTD, so I do not present the whole access-control programme as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Alongside implementation, I lead the three-person frontend group on VLTD within a six-person project team. I plan frontend features and workflows, discuss page updates with frontend and backend teammates, mentor junior developers and help resolve technical and workflow issues. I also participated in hiring interviews for senior and intern frontend roles. These responsibilities show practical leadership without implying a formal management title or claiming an unmeasured productivity 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Atlanta, my contribution has been the ability to take frontend work from ambiguous requirements through implementation and stakeholder review. RTape provides the clearest reported business milestone in its selection for state-level deployment in Madhya Pradesh. On ITMS, I solely built the complete frontend from scratch. On VLTD, I lead the frontend work, own major modules and completed the full frontend codebase migration to a new tech stack. Production adoption, revenue and time-saving metrics were not supplied, so I have not invented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am already familiar with backend concepts and am improving my practical backend skills through implementation and integration work. I am also learning server-side setup, deployment and troubleshooting so I can support the complete project workflow. As these skills grow, I want to take greater ownership from requirements through delivery and support, increasing the work I can handle for Atlanta. I will adapt to new requirements and learn technologies that upcoming projects need. These are future growth goals, not completed achievements or fixed-date commitments.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slide provides a sense of project scope. The counts come from the three supplied reviews and are not normalized or freshly audited. RTape and ITMS count Vue components or pages, while VLTD counts Vue files. They should not be added together or used to compare developer productivity. ITMS personal commit attribution depends on confirmation of two Git identities, so that conditional figure is not used as a personal headline. VLTD counts are explicitly project-wide.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for the opportunities and trust during this period. These projects have helped me grow from a junior developer into someone who can own frontend delivery, make architecture decisions and support teammates. I welcome feedback on my contribution and the responsibilities I should take on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c874c344d154d50"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3e2208c5c5451a" Type="http://schemas.openxmlformats.org/officeDocument/2006/relationships/slideLayout" Target="../slideLayouts/slideLayout1.xml"/><Relationship Id="R970395540c9e4de7"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3e2208c5c545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72a1339a71f4175" Type="http://schemas.openxmlformats.org/officeDocument/2006/relationships/slideLayout" Target="../slideLayouts/slideLayout1.xml"/><Relationship Id="Ra1743ba3be5148e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41ca8cea3020484c" Type="http://schemas.openxmlformats.org/officeDocument/2006/relationships/notesSlide" Target="../notesSlides/notesSlide2.xml"/><Relationship Id="R82bd836fa6df4ccf"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854c43c355bb46fe" Type="http://schemas.openxmlformats.org/officeDocument/2006/relationships/notesSlide" Target="../notesSlides/notesSlide3.xml"/><Relationship Id="Rd66767d93d5f431e"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1b5464a561b7409a" Type="http://schemas.openxmlformats.org/officeDocument/2006/relationships/notesSlide" Target="../notesSlides/notesSlide4.xml"/><Relationship Id="R6f3d57e169ea411c"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5ebf0f28c02545cc" Type="http://schemas.openxmlformats.org/officeDocument/2006/relationships/slideLayout" Target="../slideLayouts/slideLayout1.xml"/><Relationship Id="R97683ee44e9a486b"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6ed51960f2564d5c" Type="http://schemas.openxmlformats.org/officeDocument/2006/relationships/notesSlide" Target="../notesSlides/notesSlide6.xml"/><Relationship Id="R854592714faa4d86"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4a3851bd73ba4cae" Type="http://schemas.openxmlformats.org/officeDocument/2006/relationships/notesSlide" Target="../notesSlides/notesSlide7.xml"/><Relationship Id="R6a477364c53c44e3"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122756092ca24765" Type="http://schemas.openxmlformats.org/officeDocument/2006/relationships/slideLayout" Target="../slideLayouts/slideLayout1.xml"/><Relationship Id="Re48e252c8b59443f"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1105bedddd2463c" Type="http://schemas.openxmlformats.org/officeDocument/2006/relationships/slideLayout" Target="../slideLayouts/slideLayout1.xml"/><Relationship Id="Rbe1f6c8c57174d7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19e989fbce144a2" Type="http://schemas.openxmlformats.org/officeDocument/2006/relationships/slideLayout" Target="../slideLayouts/slideLayout1.xml"/><Relationship Id="R6ab5e94a02f84ec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e93d28294f24d79" Type="http://schemas.openxmlformats.org/officeDocument/2006/relationships/notesSlide" Target="../notesSlides/notesSlide11.xml"/><Relationship Id="R6c107bdec10c47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2ec53757741d481d" Type="http://schemas.openxmlformats.org/officeDocument/2006/relationships/slideLayout" Target="../slideLayouts/slideLayout1.xml"/><Relationship Id="R39851dd6d5554a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0afc096b6004424" Type="http://schemas.openxmlformats.org/officeDocument/2006/relationships/slideLayout" Target="../slideLayouts/slideLayout1.xml"/><Relationship Id="R197a96705637444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983dd97eb164bfe" Type="http://schemas.openxmlformats.org/officeDocument/2006/relationships/slideLayout" Target="../slideLayouts/slideLayout1.xml"/><Relationship Id="R8a24d8940ec54eb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6a8eddb5db2848c3" Type="http://schemas.openxmlformats.org/officeDocument/2006/relationships/slideLayout" Target="../slideLayouts/slideLayout1.xml"/><Relationship Id="Rfcf881b2b8f540e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3765c8625544bb7" Type="http://schemas.openxmlformats.org/officeDocument/2006/relationships/notesSlide" Target="../notesSlides/notesSlide16.xml"/><Relationship Id="R99928c7617b74e4b"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5409cf036b94b66" Type="http://schemas.openxmlformats.org/officeDocument/2006/relationships/slideLayout" Target="../slideLayouts/slideLayout1.xml"/><Relationship Id="Rfd7d3f6083b343ee"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0fa285f04b4041ce" Type="http://schemas.openxmlformats.org/officeDocument/2006/relationships/slideLayout" Target="../slideLayouts/slideLayout1.xml"/><Relationship Id="Rb8ee7af572e94735" Type="http://schemas.openxmlformats.org/officeDocument/2006/relationships/notesSlide" Target="../notesSlides/notesSlide18.xml"/></Relationships>
</file>

<file path=ppt/slides/slide1.xml><?xml version="1.0" encoding="utf-8"?>
<p:sld xmlns:p="http://schemas.openxmlformats.org/presentationml/2006/main">
  <p:cSld>
    <p:bg>
      <p:bgPr>
        <a:solidFill xmlns:a="http://schemas.openxmlformats.org/drawingml/2006/main">
          <a:srgbClr val="132238"/>
        </a:solidFill>
      </p:bgPr>
    </p:bg>
    <p:spTree>
      <p:nvGrpSpPr>
        <p:cNvPr id="1" name=""/>
        <p:cNvGrpSpPr/>
        <p:nvPr/>
      </p:nvGrpSpPr>
      <p:grpSpPr>
        <a:xfrm xmlns:a="http://schemas.openxmlformats.org/drawingml/2006/main"/>
      </p:grpSpPr>
      <p:sp>
        <p:nvSpPr>
          <p:cNvPr id="11" name="ANNUAL PERFORMANCE REVIEW">
            <a:extLst xmlns:a="http://schemas.openxmlformats.org/drawingml/2006/main">
              <a:ext uri="{FF2B5EF4-FFF2-40B4-BE49-F238E27FC236}">
                <a16:creationId xmlns:a16="http://schemas.microsoft.com/office/drawing/2014/main" id="{C2C4003A-9A47-4989-9C54-E2829E89F77C}"/>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83AAFF"/>
                </a:solidFill>
                <a:latin typeface="Arial"/>
                <a:ea typeface="Arial"/>
                <a:cs typeface="Arial"/>
              </a:defRPr>
            </a:pPr>
            <a:r>
              <a:rPr sz="975" b="1">
                <a:solidFill>
                  <a:srgbClr val="83AAFF"/>
                </a:solidFill>
                <a:latin typeface="Arial"/>
                <a:ea typeface="Arial"/>
                <a:cs typeface="Arial"/>
              </a:rPr>
              <a:t>ANNUAL PERFORMANCE REVIEW</a:t>
            </a:r>
          </a:p>
        </p:txBody>
      </p:sp>
      <p:sp>
        <p:nvSpPr>
          <p:cNvPr id="2" name="ATLANTA SYSTEMS">
            <a:extLst xmlns:a="http://schemas.openxmlformats.org/drawingml/2006/main">
              <a:ext uri="{FF2B5EF4-FFF2-40B4-BE49-F238E27FC236}">
                <a16:creationId xmlns:a16="http://schemas.microsoft.com/office/drawing/2014/main" id="{11DC4CA0-5D10-42F1-9BD0-5DB11FA85887}"/>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B3C0D3"/>
                </a:solidFill>
                <a:latin typeface="Arial"/>
                <a:ea typeface="Arial"/>
                <a:cs typeface="Arial"/>
              </a:defRPr>
            </a:pPr>
            <a:r>
              <a:rPr sz="900" b="1">
                <a:solidFill>
                  <a:srgbClr val="B3C0D3"/>
                </a:solidFill>
                <a:latin typeface="Arial"/>
                <a:ea typeface="Arial"/>
                <a:cs typeface="Arial"/>
              </a:rPr>
              <a:t>ATLANTA SYSTEMS</a:t>
            </a:r>
          </a:p>
        </p:txBody>
      </p:sp>
      <p:sp>
        <p:nvSpPr>
          <p:cNvPr id="3" name="RTAPE / ITMS / VLTD">
            <a:extLst xmlns:a="http://schemas.openxmlformats.org/drawingml/2006/main">
              <a:ext uri="{FF2B5EF4-FFF2-40B4-BE49-F238E27FC236}">
                <a16:creationId xmlns:a16="http://schemas.microsoft.com/office/drawing/2014/main" id="{ABF3D87F-D20C-4EC8-A777-7287B69A4CC9}"/>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B3C0D3"/>
                </a:solidFill>
                <a:latin typeface="Arial"/>
                <a:ea typeface="Arial"/>
                <a:cs typeface="Arial"/>
              </a:defRPr>
            </a:pPr>
            <a:r>
              <a:rPr sz="975" b="0">
                <a:solidFill>
                  <a:srgbClr val="B3C0D3"/>
                </a:solidFill>
                <a:latin typeface="Arial"/>
                <a:ea typeface="Arial"/>
                <a:cs typeface="Arial"/>
              </a:rPr>
              <a:t>RTAPE / ITMS / VLTD</a:t>
            </a:r>
          </a:p>
        </p:txBody>
      </p:sp>
      <p:sp>
        <p:nvSpPr>
          <p:cNvPr id="4" name="01 / 18">
            <a:extLst xmlns:a="http://schemas.openxmlformats.org/drawingml/2006/main">
              <a:ext uri="{FF2B5EF4-FFF2-40B4-BE49-F238E27FC236}">
                <a16:creationId xmlns:a16="http://schemas.microsoft.com/office/drawing/2014/main" id="{9B4A1181-2394-47FD-A4D2-F9109C997E05}"/>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B3C0D3"/>
                </a:solidFill>
                <a:latin typeface="Arial"/>
                <a:ea typeface="Arial"/>
                <a:cs typeface="Arial"/>
              </a:defRPr>
            </a:pPr>
            <a:r>
              <a:rPr sz="1125" b="0">
                <a:solidFill>
                  <a:srgbClr val="B3C0D3"/>
                </a:solidFill>
                <a:latin typeface="Arial"/>
                <a:ea typeface="Arial"/>
                <a:cs typeface="Arial"/>
              </a:rPr>
              <a:t>01 / 18</a:t>
            </a:r>
          </a:p>
        </p:txBody>
      </p:sp>
      <p:sp>
        <p:nvSpPr>
          <p:cNvPr id="5" name="One year">
            <a:extLst xmlns:a="http://schemas.openxmlformats.org/drawingml/2006/main">
              <a:ext uri="{FF2B5EF4-FFF2-40B4-BE49-F238E27FC236}">
                <a16:creationId xmlns:a16="http://schemas.microsoft.com/office/drawing/2014/main" id="{CC47A6CD-187D-49B5-8131-36D25AB5D9B9}"/>
              </a:ext>
            </a:extLst>
          </p:cNvPr>
          <p:cNvSpPr>
            <a:spLocks xmlns:a="http://schemas.openxmlformats.org/drawingml/2006/main" noGrp="1"/>
          </p:cNvSpPr>
          <p:nvPr/>
        </p:nvSpPr>
        <p:spPr>
          <a:xfrm xmlns:a="http://schemas.openxmlformats.org/drawingml/2006/main">
            <a:off x="609600" y="1343025"/>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950" b="1">
                <a:solidFill>
                  <a:srgbClr val="F6F8FC"/>
                </a:solidFill>
                <a:latin typeface="Arial"/>
                <a:ea typeface="Arial"/>
                <a:cs typeface="Arial"/>
              </a:defRPr>
            </a:pPr>
            <a:r>
              <a:rPr sz="7950" b="1">
                <a:solidFill>
                  <a:srgbClr val="F6F8FC"/>
                </a:solidFill>
                <a:latin typeface="Arial"/>
                <a:ea typeface="Arial"/>
                <a:cs typeface="Arial"/>
              </a:rPr>
              <a:t>One year</a:t>
            </a:r>
          </a:p>
        </p:txBody>
      </p:sp>
      <p:sp>
        <p:nvSpPr>
          <p:cNvPr id="6" name="at Atlanta">
            <a:extLst xmlns:a="http://schemas.openxmlformats.org/drawingml/2006/main">
              <a:ext uri="{FF2B5EF4-FFF2-40B4-BE49-F238E27FC236}">
                <a16:creationId xmlns:a16="http://schemas.microsoft.com/office/drawing/2014/main" id="{E1392B21-A509-40D0-9FC7-B44ECA346563}"/>
              </a:ext>
            </a:extLst>
          </p:cNvPr>
          <p:cNvSpPr>
            <a:spLocks xmlns:a="http://schemas.openxmlformats.org/drawingml/2006/main" noGrp="1"/>
          </p:cNvSpPr>
          <p:nvPr/>
        </p:nvSpPr>
        <p:spPr>
          <a:xfrm xmlns:a="http://schemas.openxmlformats.org/drawingml/2006/main">
            <a:off x="609600" y="24003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950" b="1">
                <a:solidFill>
                  <a:srgbClr val="F6F8FC"/>
                </a:solidFill>
                <a:latin typeface="Arial"/>
                <a:ea typeface="Arial"/>
                <a:cs typeface="Arial"/>
              </a:defRPr>
            </a:pPr>
            <a:r>
              <a:rPr sz="7950" b="1">
                <a:solidFill>
                  <a:srgbClr val="F6F8FC"/>
                </a:solidFill>
                <a:latin typeface="Arial"/>
                <a:ea typeface="Arial"/>
                <a:cs typeface="Arial"/>
              </a:rPr>
              <a:t>at Atlanta</a:t>
            </a:r>
          </a:p>
        </p:txBody>
      </p:sp>
      <p:sp>
        <p:nvSpPr>
          <p:cNvPr id="7" name="Frontend ownership across RTape, ITMS and VLTD">
            <a:extLst xmlns:a="http://schemas.openxmlformats.org/drawingml/2006/main">
              <a:ext uri="{FF2B5EF4-FFF2-40B4-BE49-F238E27FC236}">
                <a16:creationId xmlns:a16="http://schemas.microsoft.com/office/drawing/2014/main" id="{BB36C112-EA70-4E65-B4B5-E9A2EB693BA5}"/>
              </a:ext>
            </a:extLst>
          </p:cNvPr>
          <p:cNvSpPr>
            <a:spLocks xmlns:a="http://schemas.openxmlformats.org/drawingml/2006/main" noGrp="1"/>
          </p:cNvSpPr>
          <p:nvPr/>
        </p:nvSpPr>
        <p:spPr>
          <a:xfrm xmlns:a="http://schemas.openxmlformats.org/drawingml/2006/main">
            <a:off x="609600" y="405765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2025" b="0">
                <a:solidFill>
                  <a:srgbClr val="B3C0D3"/>
                </a:solidFill>
                <a:latin typeface="Arial"/>
                <a:ea typeface="Arial"/>
                <a:cs typeface="Arial"/>
              </a:defRPr>
            </a:pPr>
            <a:r>
              <a:rPr sz="2025" b="0">
                <a:solidFill>
                  <a:srgbClr val="B3C0D3"/>
                </a:solidFill>
                <a:latin typeface="Arial"/>
                <a:ea typeface="Arial"/>
                <a:cs typeface="Arial"/>
              </a:rPr>
              <a:t>Frontend ownership across RTape, ITMS and VLTD</a:t>
            </a:r>
          </a:p>
        </p:txBody>
      </p:sp>
      <p:sp>
        <p:nvSpPr>
          <p:cNvPr id="8" name="Manish Kumar">
            <a:extLst xmlns:a="http://schemas.openxmlformats.org/drawingml/2006/main">
              <a:ext uri="{FF2B5EF4-FFF2-40B4-BE49-F238E27FC236}">
                <a16:creationId xmlns:a16="http://schemas.microsoft.com/office/drawing/2014/main" id="{B5A10F83-D2BD-44D5-A2F7-893C2B6AB53B}"/>
              </a:ext>
            </a:extLst>
          </p:cNvPr>
          <p:cNvSpPr>
            <a:spLocks xmlns:a="http://schemas.openxmlformats.org/drawingml/2006/main" noGrp="1"/>
          </p:cNvSpPr>
          <p:nvPr/>
        </p:nvSpPr>
        <p:spPr>
          <a:xfrm xmlns:a="http://schemas.openxmlformats.org/drawingml/2006/main">
            <a:off x="609600" y="5067300"/>
            <a:ext cx="7429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Manish Kumar</a:t>
            </a:r>
          </a:p>
        </p:txBody>
      </p:sp>
      <p:sp>
        <p:nvSpPr>
          <p:cNvPr id="9" name="Vue Frontend Developer">
            <a:extLst xmlns:a="http://schemas.openxmlformats.org/drawingml/2006/main">
              <a:ext uri="{FF2B5EF4-FFF2-40B4-BE49-F238E27FC236}">
                <a16:creationId xmlns:a16="http://schemas.microsoft.com/office/drawing/2014/main" id="{ADBE5999-32D0-418D-88B4-C26405B3C280}"/>
              </a:ext>
            </a:extLst>
          </p:cNvPr>
          <p:cNvSpPr>
            <a:spLocks xmlns:a="http://schemas.openxmlformats.org/drawingml/2006/main" noGrp="1"/>
          </p:cNvSpPr>
          <p:nvPr/>
        </p:nvSpPr>
        <p:spPr>
          <a:xfrm xmlns:a="http://schemas.openxmlformats.org/drawingml/2006/main">
            <a:off x="609600" y="5457825"/>
            <a:ext cx="7429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75" b="0">
                <a:solidFill>
                  <a:srgbClr val="B3C0D3"/>
                </a:solidFill>
                <a:latin typeface="Arial"/>
                <a:ea typeface="Arial"/>
                <a:cs typeface="Arial"/>
              </a:defRPr>
            </a:pPr>
            <a:r>
              <a:rPr sz="1275" b="0">
                <a:solidFill>
                  <a:srgbClr val="B3C0D3"/>
                </a:solidFill>
                <a:latin typeface="Arial"/>
                <a:ea typeface="Arial"/>
                <a:cs typeface="Arial"/>
              </a:rPr>
              <a:t>Vue Frontend Developer</a:t>
            </a:r>
          </a:p>
        </p:txBody>
      </p:sp>
      <p:sp>
        <p:nvSpPr>
          <p:cNvPr id="10" name="Atlanta Systems Private Limited">
            <a:extLst xmlns:a="http://schemas.openxmlformats.org/drawingml/2006/main">
              <a:ext uri="{FF2B5EF4-FFF2-40B4-BE49-F238E27FC236}">
                <a16:creationId xmlns:a16="http://schemas.microsoft.com/office/drawing/2014/main" id="{2BC8DC73-913F-4BD8-9CCE-B009508C2FAE}"/>
              </a:ext>
            </a:extLst>
          </p:cNvPr>
          <p:cNvSpPr>
            <a:spLocks xmlns:a="http://schemas.openxmlformats.org/drawingml/2006/main" noGrp="1"/>
          </p:cNvSpPr>
          <p:nvPr/>
        </p:nvSpPr>
        <p:spPr>
          <a:xfrm xmlns:a="http://schemas.openxmlformats.org/drawingml/2006/main">
            <a:off x="609600" y="5743575"/>
            <a:ext cx="762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75" b="0">
                <a:solidFill>
                  <a:srgbClr val="B3C0D3"/>
                </a:solidFill>
                <a:latin typeface="Arial"/>
                <a:ea typeface="Arial"/>
                <a:cs typeface="Arial"/>
              </a:defRPr>
            </a:pPr>
            <a:r>
              <a:rPr sz="1275" b="0">
                <a:solidFill>
                  <a:srgbClr val="B3C0D3"/>
                </a:solidFill>
                <a:latin typeface="Arial"/>
                <a:ea typeface="Arial"/>
                <a:cs typeface="Arial"/>
              </a:rPr>
              <a:t>Atlanta Systems Private Limited</a:t>
            </a:r>
          </a:p>
        </p:txBody>
      </p:sp>
    </p:spTree>
    <p:extLst>
      <p:ext uri="{BB962C8B-B14F-4D97-AF65-F5344CB8AC3E}">
        <p14:creationId xmlns:p14="http://schemas.microsoft.com/office/powerpoint/2010/main" val="570512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YEAR IN REVIEW">
            <a:extLst xmlns:a="http://schemas.openxmlformats.org/drawingml/2006/main">
              <a:ext uri="{FF2B5EF4-FFF2-40B4-BE49-F238E27FC236}">
                <a16:creationId xmlns:a16="http://schemas.microsoft.com/office/drawing/2014/main" id="{A0831A3D-B61A-4C10-A2F4-098B485EC73F}"/>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YEAR IN REVIEW</a:t>
            </a:r>
          </a:p>
        </p:txBody>
      </p:sp>
      <p:sp>
        <p:nvSpPr>
          <p:cNvPr id="2" name="ATLANTA SYSTEMS">
            <a:extLst xmlns:a="http://schemas.openxmlformats.org/drawingml/2006/main">
              <a:ext uri="{FF2B5EF4-FFF2-40B4-BE49-F238E27FC236}">
                <a16:creationId xmlns:a16="http://schemas.microsoft.com/office/drawing/2014/main" id="{945918ED-217A-4DAC-BB07-17935729FEEC}"/>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Team sizes and tender outcome are from my account. The tender is ">
            <a:extLst xmlns:a="http://schemas.openxmlformats.org/drawingml/2006/main">
              <a:ext uri="{FF2B5EF4-FFF2-40B4-BE49-F238E27FC236}">
                <a16:creationId xmlns:a16="http://schemas.microsoft.com/office/drawing/2014/main" id="{EA074F56-A939-450F-8A2D-3FAFB8BF901E}"/>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Project selection and contribution details are from my account. The outcome belongs to the team.</a:t>
            </a:r>
          </a:p>
        </p:txBody>
      </p:sp>
      <p:sp>
        <p:nvSpPr>
          <p:cNvPr id="4" name="02 / 18">
            <a:extLst xmlns:a="http://schemas.openxmlformats.org/drawingml/2006/main">
              <a:ext uri="{FF2B5EF4-FFF2-40B4-BE49-F238E27FC236}">
                <a16:creationId xmlns:a16="http://schemas.microsoft.com/office/drawing/2014/main" id="{E81175E9-3FAA-4313-8405-550E89BEAA17}"/>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02 / 18</a:t>
            </a:r>
          </a:p>
        </p:txBody>
      </p:sp>
      <p:sp>
        <p:nvSpPr>
          <p:cNvPr id="5" name="Contribution at a glance">
            <a:extLst xmlns:a="http://schemas.openxmlformats.org/drawingml/2006/main">
              <a:ext uri="{FF2B5EF4-FFF2-40B4-BE49-F238E27FC236}">
                <a16:creationId xmlns:a16="http://schemas.microsoft.com/office/drawing/2014/main" id="{0C72EB0B-F913-4BFD-A1F5-43007E622F4E}"/>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Contribution at a glance</a:t>
            </a:r>
          </a:p>
        </p:txBody>
      </p:sp>
      <p:sp>
        <p:nvSpPr>
          <p:cNvPr id="6" name="Growing responsibility across delivery, architecture and team sup">
            <a:extLst xmlns:a="http://schemas.openxmlformats.org/drawingml/2006/main">
              <a:ext uri="{FF2B5EF4-FFF2-40B4-BE49-F238E27FC236}">
                <a16:creationId xmlns:a16="http://schemas.microsoft.com/office/drawing/2014/main" id="{1EB38580-3494-42D5-817C-C0A551C336BD}"/>
              </a:ext>
            </a:extLst>
          </p:cNvPr>
          <p:cNvSpPr>
            <a:spLocks xmlns:a="http://schemas.openxmlformats.org/drawingml/2006/main" noGrp="1"/>
          </p:cNvSpPr>
          <p:nvPr/>
        </p:nvSpPr>
        <p:spPr>
          <a:xfrm xmlns:a="http://schemas.openxmlformats.org/drawingml/2006/main">
            <a:off x="609600" y="15716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Growing responsibility across delivery, architecture and team support</a:t>
            </a:r>
          </a:p>
        </p:txBody>
      </p:sp>
      <p:sp>
        <p:nvSpPr>
          <p:cNvPr id="7" name="3">
            <a:extLst xmlns:a="http://schemas.openxmlformats.org/drawingml/2006/main">
              <a:ext uri="{FF2B5EF4-FFF2-40B4-BE49-F238E27FC236}">
                <a16:creationId xmlns:a16="http://schemas.microsoft.com/office/drawing/2014/main" id="{D7213A9F-CCF9-43AE-BA9C-1D69453631FE}"/>
              </a:ext>
            </a:extLst>
          </p:cNvPr>
          <p:cNvSpPr>
            <a:spLocks xmlns:a="http://schemas.openxmlformats.org/drawingml/2006/main" noGrp="1"/>
          </p:cNvSpPr>
          <p:nvPr/>
        </p:nvSpPr>
        <p:spPr>
          <a:xfrm xmlns:a="http://schemas.openxmlformats.org/drawingml/2006/main">
            <a:off x="609600" y="2457450"/>
            <a:ext cx="489204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500" b="1">
                <a:solidFill>
                  <a:srgbClr val="245EE8"/>
                </a:solidFill>
                <a:latin typeface="Arial"/>
                <a:ea typeface="Arial"/>
                <a:cs typeface="Arial"/>
              </a:defRPr>
            </a:pPr>
            <a:r>
              <a:rPr sz="7500" b="1">
                <a:solidFill>
                  <a:srgbClr val="245EE8"/>
                </a:solidFill>
                <a:latin typeface="Arial"/>
                <a:ea typeface="Arial"/>
                <a:cs typeface="Arial"/>
              </a:rPr>
              <a:t>3</a:t>
            </a:r>
          </a:p>
        </p:txBody>
      </p:sp>
      <p:sp>
        <p:nvSpPr>
          <p:cNvPr id="8" name="Major projects">
            <a:extLst xmlns:a="http://schemas.openxmlformats.org/drawingml/2006/main">
              <a:ext uri="{FF2B5EF4-FFF2-40B4-BE49-F238E27FC236}">
                <a16:creationId xmlns:a16="http://schemas.microsoft.com/office/drawing/2014/main" id="{389E0C65-B965-4C12-8275-83B97E8D05F1}"/>
              </a:ext>
            </a:extLst>
          </p:cNvPr>
          <p:cNvSpPr>
            <a:spLocks xmlns:a="http://schemas.openxmlformats.org/drawingml/2006/main" noGrp="1"/>
          </p:cNvSpPr>
          <p:nvPr/>
        </p:nvSpPr>
        <p:spPr>
          <a:xfrm xmlns:a="http://schemas.openxmlformats.org/drawingml/2006/main">
            <a:off x="609600" y="3733800"/>
            <a:ext cx="489204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Major projects</a:t>
            </a:r>
          </a:p>
        </p:txBody>
      </p:sp>
      <p:sp>
        <p:nvSpPr>
          <p:cNvPr id="9" name="RTape, ITMS and VLTD">
            <a:extLst xmlns:a="http://schemas.openxmlformats.org/drawingml/2006/main">
              <a:ext uri="{FF2B5EF4-FFF2-40B4-BE49-F238E27FC236}">
                <a16:creationId xmlns:a16="http://schemas.microsoft.com/office/drawing/2014/main" id="{D352C3BD-41B4-4CB1-8F19-F91EA4831A14}"/>
              </a:ext>
            </a:extLst>
          </p:cNvPr>
          <p:cNvSpPr>
            <a:spLocks xmlns:a="http://schemas.openxmlformats.org/drawingml/2006/main" noGrp="1"/>
          </p:cNvSpPr>
          <p:nvPr/>
        </p:nvSpPr>
        <p:spPr>
          <a:xfrm xmlns:a="http://schemas.openxmlformats.org/drawingml/2006/main">
            <a:off x="609600" y="4162425"/>
            <a:ext cx="475488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00" b="0">
                <a:solidFill>
                  <a:srgbClr val="56647A"/>
                </a:solidFill>
                <a:latin typeface="Arial"/>
                <a:ea typeface="Arial"/>
                <a:cs typeface="Arial"/>
              </a:defRPr>
            </a:pPr>
            <a:r>
              <a:rPr sz="1500" b="0">
                <a:solidFill>
                  <a:srgbClr val="56647A"/>
                </a:solidFill>
                <a:latin typeface="Arial"/>
                <a:ea typeface="Arial"/>
                <a:cs typeface="Arial"/>
              </a:rPr>
              <a:t>RTape, ITMS and VLTD</a:t>
            </a:r>
          </a:p>
        </p:txBody>
      </p:sp>
      <p:sp>
        <p:nvSpPr>
          <p:cNvPr id="13" name="4–5">
            <a:extLst xmlns:a="http://schemas.openxmlformats.org/drawingml/2006/main">
              <a:ext uri="{FF2B5EF4-FFF2-40B4-BE49-F238E27FC236}">
                <a16:creationId xmlns:a16="http://schemas.microsoft.com/office/drawing/2014/main" id="{5CFBF432-5B04-4922-850E-21FA502C55D3}"/>
              </a:ext>
            </a:extLst>
          </p:cNvPr>
          <p:cNvSpPr>
            <a:spLocks xmlns:a="http://schemas.openxmlformats.org/drawingml/2006/main" noGrp="1"/>
          </p:cNvSpPr>
          <p:nvPr/>
        </p:nvSpPr>
        <p:spPr>
          <a:xfrm xmlns:a="http://schemas.openxmlformats.org/drawingml/2006/main">
            <a:off x="6345936" y="2457450"/>
            <a:ext cx="489204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500" b="1">
                <a:solidFill>
                  <a:srgbClr val="245EE8"/>
                </a:solidFill>
                <a:latin typeface="Arial"/>
                <a:ea typeface="Arial"/>
                <a:cs typeface="Arial"/>
              </a:defRPr>
            </a:pPr>
            <a:r>
              <a:rPr sz="7500" b="1">
                <a:solidFill>
                  <a:srgbClr val="245EE8"/>
                </a:solidFill>
                <a:latin typeface="Arial"/>
                <a:ea typeface="Arial"/>
                <a:cs typeface="Arial"/>
              </a:rPr>
              <a:t>4–5</a:t>
            </a:r>
          </a:p>
        </p:txBody>
      </p:sp>
      <p:sp>
        <p:nvSpPr>
          <p:cNvPr id="14" name="Portals researched">
            <a:extLst xmlns:a="http://schemas.openxmlformats.org/drawingml/2006/main">
              <a:ext uri="{FF2B5EF4-FFF2-40B4-BE49-F238E27FC236}">
                <a16:creationId xmlns:a16="http://schemas.microsoft.com/office/drawing/2014/main" id="{CAF7A780-09D6-4D0B-8787-FEB05F8E3A0E}"/>
              </a:ext>
            </a:extLst>
          </p:cNvPr>
          <p:cNvSpPr>
            <a:spLocks xmlns:a="http://schemas.openxmlformats.org/drawingml/2006/main" noGrp="1"/>
          </p:cNvSpPr>
          <p:nvPr/>
        </p:nvSpPr>
        <p:spPr>
          <a:xfrm xmlns:a="http://schemas.openxmlformats.org/drawingml/2006/main">
            <a:off x="6345936" y="3733800"/>
            <a:ext cx="489204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Portals researched</a:t>
            </a:r>
          </a:p>
        </p:txBody>
      </p:sp>
      <p:sp>
        <p:nvSpPr>
          <p:cNvPr id="15" name="To shape VLTD requirements">
            <a:extLst xmlns:a="http://schemas.openxmlformats.org/drawingml/2006/main">
              <a:ext uri="{FF2B5EF4-FFF2-40B4-BE49-F238E27FC236}">
                <a16:creationId xmlns:a16="http://schemas.microsoft.com/office/drawing/2014/main" id="{65CC5C86-9540-4A76-8F1E-75BEB691E75F}"/>
              </a:ext>
            </a:extLst>
          </p:cNvPr>
          <p:cNvSpPr>
            <a:spLocks xmlns:a="http://schemas.openxmlformats.org/drawingml/2006/main" noGrp="1"/>
          </p:cNvSpPr>
          <p:nvPr/>
        </p:nvSpPr>
        <p:spPr>
          <a:xfrm xmlns:a="http://schemas.openxmlformats.org/drawingml/2006/main">
            <a:off x="6345936" y="4162425"/>
            <a:ext cx="475488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00" b="0">
                <a:solidFill>
                  <a:srgbClr val="56647A"/>
                </a:solidFill>
                <a:latin typeface="Arial"/>
                <a:ea typeface="Arial"/>
                <a:cs typeface="Arial"/>
              </a:defRPr>
            </a:pPr>
            <a:r>
              <a:rPr sz="1500" b="0">
                <a:solidFill>
                  <a:srgbClr val="56647A"/>
                </a:solidFill>
                <a:latin typeface="Arial"/>
                <a:ea typeface="Arial"/>
                <a:cs typeface="Arial"/>
              </a:rPr>
              <a:t>To shape VLTD requirements</a:t>
            </a:r>
          </a:p>
        </p:txBody>
      </p:sp>
      <p:sp>
        <p:nvSpPr>
          <p:cNvPr id="16" name="">
            <a:extLst xmlns:a="http://schemas.openxmlformats.org/drawingml/2006/main">
              <a:ext uri="{FF2B5EF4-FFF2-40B4-BE49-F238E27FC236}">
                <a16:creationId xmlns:a16="http://schemas.microsoft.com/office/drawing/2014/main" id="{31C3A778-F65A-4CFF-94E4-BFAADB683C50}"/>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txBody xmlns:a="http://schemas.openxmlformats.org/drawingml/2006/main">
          <a:bodyPr/>
          <a:p/>
        </p:txBody>
      </p:sp>
      <p:sp>
        <p:nvSpPr>
          <p:cNvPr id="17" name="RTape secured a government tender following the team’s developmen">
            <a:extLst xmlns:a="http://schemas.openxmlformats.org/drawingml/2006/main">
              <a:ext uri="{FF2B5EF4-FFF2-40B4-BE49-F238E27FC236}">
                <a16:creationId xmlns:a16="http://schemas.microsoft.com/office/drawing/2014/main" id="{4B089E8B-AEDE-44B2-BD60-53E7D3C260DD}"/>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RTape was selected for state-level deployment in Madhya Pradesh.</a:t>
            </a:r>
          </a:p>
        </p:txBody>
      </p:sp>
    </p:spTree>
    <p:extLst>
      <p:ext uri="{BB962C8B-B14F-4D97-AF65-F5344CB8AC3E}">
        <p14:creationId xmlns:p14="http://schemas.microsoft.com/office/powerpoint/2010/main" val="57562528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PROFESSIONAL GROWTH">
            <a:extLst xmlns:a="http://schemas.openxmlformats.org/drawingml/2006/main">
              <a:ext uri="{FF2B5EF4-FFF2-40B4-BE49-F238E27FC236}">
                <a16:creationId xmlns:a16="http://schemas.microsoft.com/office/drawing/2014/main" id="{1E815D18-D661-4EC7-B688-27C21E87872C}"/>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PROFESSIONAL GROWTH</a:t>
            </a:r>
          </a:p>
        </p:txBody>
      </p:sp>
      <p:sp>
        <p:nvSpPr>
          <p:cNvPr id="2" name="ATLANTA SYSTEMS">
            <a:extLst xmlns:a="http://schemas.openxmlformats.org/drawingml/2006/main">
              <a:ext uri="{FF2B5EF4-FFF2-40B4-BE49-F238E27FC236}">
                <a16:creationId xmlns:a16="http://schemas.microsoft.com/office/drawing/2014/main" id="{3714171F-5222-4AAD-B9F6-3DA9F5A59593}"/>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A8F05739-A731-4827-B3C2-BA63F8AF478A}"/>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03 / 18">
            <a:extLst xmlns:a="http://schemas.openxmlformats.org/drawingml/2006/main">
              <a:ext uri="{FF2B5EF4-FFF2-40B4-BE49-F238E27FC236}">
                <a16:creationId xmlns:a16="http://schemas.microsoft.com/office/drawing/2014/main" id="{1F75CE3D-4F6E-448B-9F1B-8C6A9A3C4DAA}"/>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03 / 18</a:t>
            </a:r>
          </a:p>
        </p:txBody>
      </p:sp>
      <p:sp>
        <p:nvSpPr>
          <p:cNvPr id="5" name="How my responsibility grew">
            <a:extLst xmlns:a="http://schemas.openxmlformats.org/drawingml/2006/main">
              <a:ext uri="{FF2B5EF4-FFF2-40B4-BE49-F238E27FC236}">
                <a16:creationId xmlns:a16="http://schemas.microsoft.com/office/drawing/2014/main" id="{B39D1B05-585B-4AED-A13D-A72208CCCB94}"/>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How my responsibility grew</a:t>
            </a:r>
          </a:p>
        </p:txBody>
      </p:sp>
      <p:sp>
        <p:nvSpPr>
          <p:cNvPr id="6" name="I joined as a junior developer with prior internship experience.">
            <a:extLst xmlns:a="http://schemas.openxmlformats.org/drawingml/2006/main">
              <a:ext uri="{FF2B5EF4-FFF2-40B4-BE49-F238E27FC236}">
                <a16:creationId xmlns:a16="http://schemas.microsoft.com/office/drawing/2014/main" id="{9DF11A15-D76D-4A2A-B4F2-9465077854F4}"/>
              </a:ext>
            </a:extLst>
          </p:cNvPr>
          <p:cNvSpPr>
            <a:spLocks xmlns:a="http://schemas.openxmlformats.org/drawingml/2006/main" noGrp="1"/>
          </p:cNvSpPr>
          <p:nvPr/>
        </p:nvSpPr>
        <p:spPr>
          <a:xfrm xmlns:a="http://schemas.openxmlformats.org/drawingml/2006/main">
            <a:off x="609600" y="15716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I joined as a junior developer with prior internship experience.</a:t>
            </a:r>
          </a:p>
        </p:txBody>
      </p:sp>
      <p:sp>
        <p:nvSpPr>
          <p:cNvPr id="7" name="">
            <a:extLst xmlns:a="http://schemas.openxmlformats.org/drawingml/2006/main">
              <a:ext uri="{FF2B5EF4-FFF2-40B4-BE49-F238E27FC236}">
                <a16:creationId xmlns:a16="http://schemas.microsoft.com/office/drawing/2014/main" id="{472A451E-C147-4C6C-861E-20713CF9F47A}"/>
              </a:ext>
            </a:extLst>
          </p:cNvPr>
          <p:cNvSpPr>
            <a:spLocks xmlns:a="http://schemas.openxmlformats.org/drawingml/2006/main" noGrp="1"/>
          </p:cNvSpPr>
          <p:nvPr/>
        </p:nvSpPr>
        <p:spPr>
          <a:xfrm xmlns:a="http://schemas.openxmlformats.org/drawingml/2006/main">
            <a:off x="609600"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8" name="01">
            <a:extLst xmlns:a="http://schemas.openxmlformats.org/drawingml/2006/main">
              <a:ext uri="{FF2B5EF4-FFF2-40B4-BE49-F238E27FC236}">
                <a16:creationId xmlns:a16="http://schemas.microsoft.com/office/drawing/2014/main" id="{1C43D635-3E98-4F66-8F5B-E4C4AF210249}"/>
              </a:ext>
            </a:extLst>
          </p:cNvPr>
          <p:cNvSpPr>
            <a:spLocks xmlns:a="http://schemas.openxmlformats.org/drawingml/2006/main" noGrp="1"/>
          </p:cNvSpPr>
          <p:nvPr/>
        </p:nvSpPr>
        <p:spPr>
          <a:xfrm xmlns:a="http://schemas.openxmlformats.org/drawingml/2006/main">
            <a:off x="609600"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01</a:t>
            </a:r>
          </a:p>
        </p:txBody>
      </p:sp>
      <p:sp>
        <p:nvSpPr>
          <p:cNvPr id="9" name="RTape">
            <a:extLst xmlns:a="http://schemas.openxmlformats.org/drawingml/2006/main">
              <a:ext uri="{FF2B5EF4-FFF2-40B4-BE49-F238E27FC236}">
                <a16:creationId xmlns:a16="http://schemas.microsoft.com/office/drawing/2014/main" id="{E7FB1719-5169-46AD-84F7-87D068FAF445}"/>
              </a:ext>
            </a:extLst>
          </p:cNvPr>
          <p:cNvSpPr>
            <a:spLocks xmlns:a="http://schemas.openxmlformats.org/drawingml/2006/main" noGrp="1"/>
          </p:cNvSpPr>
          <p:nvPr/>
        </p:nvSpPr>
        <p:spPr>
          <a:xfrm xmlns:a="http://schemas.openxmlformats.org/drawingml/2006/main">
            <a:off x="609600"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RTape</a:t>
            </a:r>
          </a:p>
        </p:txBody>
      </p:sp>
      <p:sp>
        <p:nvSpPr>
          <p:cNvPr id="10" name="Owned the frontend and shaped workflows with a backend teammate.">
            <a:extLst xmlns:a="http://schemas.openxmlformats.org/drawingml/2006/main">
              <a:ext uri="{FF2B5EF4-FFF2-40B4-BE49-F238E27FC236}">
                <a16:creationId xmlns:a16="http://schemas.microsoft.com/office/drawing/2014/main" id="{1DB2AAD1-FACD-495B-A73D-27E8350C679E}"/>
              </a:ext>
            </a:extLst>
          </p:cNvPr>
          <p:cNvSpPr>
            <a:spLocks xmlns:a="http://schemas.openxmlformats.org/drawingml/2006/main" noGrp="1"/>
          </p:cNvSpPr>
          <p:nvPr/>
        </p:nvSpPr>
        <p:spPr>
          <a:xfrm xmlns:a="http://schemas.openxmlformats.org/drawingml/2006/main">
            <a:off x="609600"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Owned the frontend and shaped workflows with a backend teammate.</a:t>
            </a:r>
          </a:p>
        </p:txBody>
      </p:sp>
      <p:sp>
        <p:nvSpPr>
          <p:cNvPr id="11" name="">
            <a:extLst xmlns:a="http://schemas.openxmlformats.org/drawingml/2006/main">
              <a:ext uri="{FF2B5EF4-FFF2-40B4-BE49-F238E27FC236}">
                <a16:creationId xmlns:a16="http://schemas.microsoft.com/office/drawing/2014/main" id="{6EAFDE96-0552-4EF7-A58C-83EF97E77608}"/>
              </a:ext>
            </a:extLst>
          </p:cNvPr>
          <p:cNvSpPr>
            <a:spLocks xmlns:a="http://schemas.openxmlformats.org/drawingml/2006/main" noGrp="1"/>
          </p:cNvSpPr>
          <p:nvPr/>
        </p:nvSpPr>
        <p:spPr>
          <a:xfrm xmlns:a="http://schemas.openxmlformats.org/drawingml/2006/main">
            <a:off x="609600"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2" name="Feature delivery, live testing and demonstrations">
            <a:extLst xmlns:a="http://schemas.openxmlformats.org/drawingml/2006/main">
              <a:ext uri="{FF2B5EF4-FFF2-40B4-BE49-F238E27FC236}">
                <a16:creationId xmlns:a16="http://schemas.microsoft.com/office/drawing/2014/main" id="{685BD2B1-013B-42E4-864D-A0071E270EB3}"/>
              </a:ext>
            </a:extLst>
          </p:cNvPr>
          <p:cNvSpPr>
            <a:spLocks xmlns:a="http://schemas.openxmlformats.org/drawingml/2006/main" noGrp="1"/>
          </p:cNvSpPr>
          <p:nvPr/>
        </p:nvSpPr>
        <p:spPr>
          <a:xfrm xmlns:a="http://schemas.openxmlformats.org/drawingml/2006/main">
            <a:off x="609600"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Feature delivery, live testing and demonstrations</a:t>
            </a:r>
          </a:p>
        </p:txBody>
      </p:sp>
      <p:sp>
        <p:nvSpPr>
          <p:cNvPr id="13" name="">
            <a:extLst xmlns:a="http://schemas.openxmlformats.org/drawingml/2006/main">
              <a:ext uri="{FF2B5EF4-FFF2-40B4-BE49-F238E27FC236}">
                <a16:creationId xmlns:a16="http://schemas.microsoft.com/office/drawing/2014/main" id="{9A65470A-98C3-4293-84DB-2992FA327CD9}"/>
              </a:ext>
            </a:extLst>
          </p:cNvPr>
          <p:cNvSpPr>
            <a:spLocks xmlns:a="http://schemas.openxmlformats.org/drawingml/2006/main" noGrp="1"/>
          </p:cNvSpPr>
          <p:nvPr/>
        </p:nvSpPr>
        <p:spPr>
          <a:xfrm xmlns:a="http://schemas.openxmlformats.org/drawingml/2006/main">
            <a:off x="4410075"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4" name="02">
            <a:extLst xmlns:a="http://schemas.openxmlformats.org/drawingml/2006/main">
              <a:ext uri="{FF2B5EF4-FFF2-40B4-BE49-F238E27FC236}">
                <a16:creationId xmlns:a16="http://schemas.microsoft.com/office/drawing/2014/main" id="{2B4E743E-792A-4BE1-8E8C-F562E5C53CAF}"/>
              </a:ext>
            </a:extLst>
          </p:cNvPr>
          <p:cNvSpPr>
            <a:spLocks xmlns:a="http://schemas.openxmlformats.org/drawingml/2006/main" noGrp="1"/>
          </p:cNvSpPr>
          <p:nvPr/>
        </p:nvSpPr>
        <p:spPr>
          <a:xfrm xmlns:a="http://schemas.openxmlformats.org/drawingml/2006/main">
            <a:off x="4410075"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02</a:t>
            </a:r>
          </a:p>
        </p:txBody>
      </p:sp>
      <p:sp>
        <p:nvSpPr>
          <p:cNvPr id="15" name="ITMS">
            <a:extLst xmlns:a="http://schemas.openxmlformats.org/drawingml/2006/main">
              <a:ext uri="{FF2B5EF4-FFF2-40B4-BE49-F238E27FC236}">
                <a16:creationId xmlns:a16="http://schemas.microsoft.com/office/drawing/2014/main" id="{A14189A6-D82B-4524-9E4B-AD5A79D8D9CA}"/>
              </a:ext>
            </a:extLst>
          </p:cNvPr>
          <p:cNvSpPr>
            <a:spLocks xmlns:a="http://schemas.openxmlformats.org/drawingml/2006/main" noGrp="1"/>
          </p:cNvSpPr>
          <p:nvPr/>
        </p:nvSpPr>
        <p:spPr>
          <a:xfrm xmlns:a="http://schemas.openxmlformats.org/drawingml/2006/main">
            <a:off x="4410075"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ITMS</a:t>
            </a:r>
          </a:p>
        </p:txBody>
      </p:sp>
      <p:sp>
        <p:nvSpPr>
          <p:cNvPr id="16" name="Planned the frontend architecture and built operational features ">
            <a:extLst xmlns:a="http://schemas.openxmlformats.org/drawingml/2006/main">
              <a:ext uri="{FF2B5EF4-FFF2-40B4-BE49-F238E27FC236}">
                <a16:creationId xmlns:a16="http://schemas.microsoft.com/office/drawing/2014/main" id="{FE099085-6E2B-4664-ABE4-4E37FA811702}"/>
              </a:ext>
            </a:extLst>
          </p:cNvPr>
          <p:cNvSpPr>
            <a:spLocks xmlns:a="http://schemas.openxmlformats.org/drawingml/2006/main" noGrp="1"/>
          </p:cNvSpPr>
          <p:nvPr/>
        </p:nvSpPr>
        <p:spPr>
          <a:xfrm xmlns:a="http://schemas.openxmlformats.org/drawingml/2006/main">
            <a:off x="4410075"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Built the entire frontend from scratch, from architecture through delivery.</a:t>
            </a:r>
          </a:p>
        </p:txBody>
      </p:sp>
      <p:sp>
        <p:nvSpPr>
          <p:cNvPr id="17" name="">
            <a:extLst xmlns:a="http://schemas.openxmlformats.org/drawingml/2006/main">
              <a:ext uri="{FF2B5EF4-FFF2-40B4-BE49-F238E27FC236}">
                <a16:creationId xmlns:a16="http://schemas.microsoft.com/office/drawing/2014/main" id="{3F680F72-D3C4-4C79-9E8E-0399373D622E}"/>
              </a:ext>
            </a:extLst>
          </p:cNvPr>
          <p:cNvSpPr>
            <a:spLocks xmlns:a="http://schemas.openxmlformats.org/drawingml/2006/main" noGrp="1"/>
          </p:cNvSpPr>
          <p:nvPr/>
        </p:nvSpPr>
        <p:spPr>
          <a:xfrm xmlns:a="http://schemas.openxmlformats.org/drawingml/2006/main">
            <a:off x="4410075"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8" name="System design and permission-heavy workflows">
            <a:extLst xmlns:a="http://schemas.openxmlformats.org/drawingml/2006/main">
              <a:ext uri="{FF2B5EF4-FFF2-40B4-BE49-F238E27FC236}">
                <a16:creationId xmlns:a16="http://schemas.microsoft.com/office/drawing/2014/main" id="{4659EEE1-7896-4BD4-8AA6-E4562D762F61}"/>
              </a:ext>
            </a:extLst>
          </p:cNvPr>
          <p:cNvSpPr>
            <a:spLocks xmlns:a="http://schemas.openxmlformats.org/drawingml/2006/main" noGrp="1"/>
          </p:cNvSpPr>
          <p:nvPr/>
        </p:nvSpPr>
        <p:spPr>
          <a:xfrm xmlns:a="http://schemas.openxmlformats.org/drawingml/2006/main">
            <a:off x="4410075"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Sole frontend ownership and end-to-end execution</a:t>
            </a:r>
          </a:p>
        </p:txBody>
      </p:sp>
      <p:sp>
        <p:nvSpPr>
          <p:cNvPr id="19" name="">
            <a:extLst xmlns:a="http://schemas.openxmlformats.org/drawingml/2006/main">
              <a:ext uri="{FF2B5EF4-FFF2-40B4-BE49-F238E27FC236}">
                <a16:creationId xmlns:a16="http://schemas.microsoft.com/office/drawing/2014/main" id="{6D12A8B9-EC74-4555-842F-F0A25B605A55}"/>
              </a:ext>
            </a:extLst>
          </p:cNvPr>
          <p:cNvSpPr>
            <a:spLocks xmlns:a="http://schemas.openxmlformats.org/drawingml/2006/main" noGrp="1"/>
          </p:cNvSpPr>
          <p:nvPr/>
        </p:nvSpPr>
        <p:spPr>
          <a:xfrm xmlns:a="http://schemas.openxmlformats.org/drawingml/2006/main">
            <a:off x="8210550"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0" name="03">
            <a:extLst xmlns:a="http://schemas.openxmlformats.org/drawingml/2006/main">
              <a:ext uri="{FF2B5EF4-FFF2-40B4-BE49-F238E27FC236}">
                <a16:creationId xmlns:a16="http://schemas.microsoft.com/office/drawing/2014/main" id="{F861C74B-55EC-4542-A008-7F43319F5BE0}"/>
              </a:ext>
            </a:extLst>
          </p:cNvPr>
          <p:cNvSpPr>
            <a:spLocks xmlns:a="http://schemas.openxmlformats.org/drawingml/2006/main" noGrp="1"/>
          </p:cNvSpPr>
          <p:nvPr/>
        </p:nvSpPr>
        <p:spPr>
          <a:xfrm xmlns:a="http://schemas.openxmlformats.org/drawingml/2006/main">
            <a:off x="8210550"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03</a:t>
            </a:r>
          </a:p>
        </p:txBody>
      </p:sp>
      <p:sp>
        <p:nvSpPr>
          <p:cNvPr id="21" name="VLTD">
            <a:extLst xmlns:a="http://schemas.openxmlformats.org/drawingml/2006/main">
              <a:ext uri="{FF2B5EF4-FFF2-40B4-BE49-F238E27FC236}">
                <a16:creationId xmlns:a16="http://schemas.microsoft.com/office/drawing/2014/main" id="{A3C8CD28-1A39-4EE1-8428-EB159E814B18}"/>
              </a:ext>
            </a:extLst>
          </p:cNvPr>
          <p:cNvSpPr>
            <a:spLocks xmlns:a="http://schemas.openxmlformats.org/drawingml/2006/main" noGrp="1"/>
          </p:cNvSpPr>
          <p:nvPr/>
        </p:nvSpPr>
        <p:spPr>
          <a:xfrm xmlns:a="http://schemas.openxmlformats.org/drawingml/2006/main">
            <a:off x="8210550"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VLTD</a:t>
            </a:r>
          </a:p>
        </p:txBody>
      </p:sp>
      <p:sp>
        <p:nvSpPr>
          <p:cNvPr id="22" name="Improved the architecture while supporting a growing frontend tea">
            <a:extLst xmlns:a="http://schemas.openxmlformats.org/drawingml/2006/main">
              <a:ext uri="{FF2B5EF4-FFF2-40B4-BE49-F238E27FC236}">
                <a16:creationId xmlns:a16="http://schemas.microsoft.com/office/drawing/2014/main" id="{F35CC5BA-E9C1-4548-91F8-1FD57BC882A6}"/>
              </a:ext>
            </a:extLst>
          </p:cNvPr>
          <p:cNvSpPr>
            <a:spLocks xmlns:a="http://schemas.openxmlformats.org/drawingml/2006/main" noGrp="1"/>
          </p:cNvSpPr>
          <p:nvPr/>
        </p:nvSpPr>
        <p:spPr>
          <a:xfrm xmlns:a="http://schemas.openxmlformats.org/drawingml/2006/main">
            <a:off x="8210550"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Lead the three-person frontend team while owning major modules.</a:t>
            </a:r>
          </a:p>
        </p:txBody>
      </p:sp>
      <p:sp>
        <p:nvSpPr>
          <p:cNvPr id="23" name="">
            <a:extLst xmlns:a="http://schemas.openxmlformats.org/drawingml/2006/main">
              <a:ext uri="{FF2B5EF4-FFF2-40B4-BE49-F238E27FC236}">
                <a16:creationId xmlns:a16="http://schemas.microsoft.com/office/drawing/2014/main" id="{1B611ADD-897C-454F-8958-8CE93C2B429E}"/>
              </a:ext>
            </a:extLst>
          </p:cNvPr>
          <p:cNvSpPr>
            <a:spLocks xmlns:a="http://schemas.openxmlformats.org/drawingml/2006/main" noGrp="1"/>
          </p:cNvSpPr>
          <p:nvPr/>
        </p:nvSpPr>
        <p:spPr>
          <a:xfrm xmlns:a="http://schemas.openxmlformats.org/drawingml/2006/main">
            <a:off x="8210550"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4" name="Requirements, mentoring and technical guidance">
            <a:extLst xmlns:a="http://schemas.openxmlformats.org/drawingml/2006/main">
              <a:ext uri="{FF2B5EF4-FFF2-40B4-BE49-F238E27FC236}">
                <a16:creationId xmlns:a16="http://schemas.microsoft.com/office/drawing/2014/main" id="{559884B2-CDA6-46BA-8BE8-A8F00130F287}"/>
              </a:ext>
            </a:extLst>
          </p:cNvPr>
          <p:cNvSpPr>
            <a:spLocks xmlns:a="http://schemas.openxmlformats.org/drawingml/2006/main" noGrp="1"/>
          </p:cNvSpPr>
          <p:nvPr/>
        </p:nvSpPr>
        <p:spPr>
          <a:xfrm xmlns:a="http://schemas.openxmlformats.org/drawingml/2006/main">
            <a:off x="8210550"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Planning, workflow alignment, mentoring and issue resolution</a:t>
            </a:r>
          </a:p>
        </p:txBody>
      </p:sp>
    </p:spTree>
    <p:extLst>
      <p:ext uri="{BB962C8B-B14F-4D97-AF65-F5344CB8AC3E}">
        <p14:creationId xmlns:p14="http://schemas.microsoft.com/office/powerpoint/2010/main" val="214642011"/>
      </p:ext>
    </p:extLst>
  </p:cSld>
</p:sld>
</file>

<file path=ppt/slides/slide4.xml><?xml version="1.0" encoding="utf-8"?>
<p:sld xmlns:p="http://schemas.openxmlformats.org/presentationml/2006/main">
  <p:cSld>
    <p:bg>
      <p:bgPr>
        <a:solidFill xmlns:a="http://schemas.openxmlformats.org/drawingml/2006/main">
          <a:srgbClr val="132238"/>
        </a:solidFill>
      </p:bgPr>
    </p:bg>
    <p:spTree>
      <p:nvGrpSpPr>
        <p:cNvPr id="1" name=""/>
        <p:cNvGrpSpPr/>
        <p:nvPr/>
      </p:nvGrpSpPr>
      <p:grpSpPr>
        <a:xfrm xmlns:a="http://schemas.openxmlformats.org/drawingml/2006/main"/>
      </p:grpSpPr>
      <p:sp>
        <p:nvSpPr>
          <p:cNvPr id="15" name="PROJECT 01 / RTAPE">
            <a:extLst xmlns:a="http://schemas.openxmlformats.org/drawingml/2006/main">
              <a:ext uri="{FF2B5EF4-FFF2-40B4-BE49-F238E27FC236}">
                <a16:creationId xmlns:a16="http://schemas.microsoft.com/office/drawing/2014/main" id="{1F94C9F5-57D5-41E3-A73A-2D258EEA1178}"/>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83AAFF"/>
                </a:solidFill>
                <a:latin typeface="Arial"/>
                <a:ea typeface="Arial"/>
                <a:cs typeface="Arial"/>
              </a:defRPr>
            </a:pPr>
            <a:r>
              <a:rPr sz="975" b="1">
                <a:solidFill>
                  <a:srgbClr val="83AAFF"/>
                </a:solidFill>
                <a:latin typeface="Arial"/>
                <a:ea typeface="Arial"/>
                <a:cs typeface="Arial"/>
              </a:rPr>
              <a:t>PROJECT 01 / RTAPE</a:t>
            </a:r>
          </a:p>
        </p:txBody>
      </p:sp>
      <p:sp>
        <p:nvSpPr>
          <p:cNvPr id="2" name="ATLANTA SYSTEMS">
            <a:extLst xmlns:a="http://schemas.openxmlformats.org/drawingml/2006/main">
              <a:ext uri="{FF2B5EF4-FFF2-40B4-BE49-F238E27FC236}">
                <a16:creationId xmlns:a16="http://schemas.microsoft.com/office/drawing/2014/main" id="{3EC7E647-EC39-4D7B-A76A-4E17286AD8D2}"/>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B3C0D3"/>
                </a:solidFill>
                <a:latin typeface="Arial"/>
                <a:ea typeface="Arial"/>
                <a:cs typeface="Arial"/>
              </a:defRPr>
            </a:pPr>
            <a:r>
              <a:rPr sz="900" b="1">
                <a:solidFill>
                  <a:srgbClr val="B3C0D3"/>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7D5493CF-5CBC-4A92-9709-9AFE004D8214}"/>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B3C0D3"/>
                </a:solidFill>
                <a:latin typeface="Arial"/>
                <a:ea typeface="Arial"/>
                <a:cs typeface="Arial"/>
              </a:defRPr>
            </a:pPr>
            <a:r>
              <a:rPr sz="975" b="0">
                <a:solidFill>
                  <a:srgbClr val="B3C0D3"/>
                </a:solidFill>
                <a:latin typeface="Arial"/>
                <a:ea typeface="Arial"/>
                <a:cs typeface="Arial"/>
              </a:rPr>
              <a:t>Manish Kumar / Annual performance review</a:t>
            </a:r>
          </a:p>
        </p:txBody>
      </p:sp>
      <p:sp>
        <p:nvSpPr>
          <p:cNvPr id="4" name="04 / 18">
            <a:extLst xmlns:a="http://schemas.openxmlformats.org/drawingml/2006/main">
              <a:ext uri="{FF2B5EF4-FFF2-40B4-BE49-F238E27FC236}">
                <a16:creationId xmlns:a16="http://schemas.microsoft.com/office/drawing/2014/main" id="{5FF0B08B-8D7A-4873-83F3-9C5FC04E1223}"/>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B3C0D3"/>
                </a:solidFill>
                <a:latin typeface="Arial"/>
                <a:ea typeface="Arial"/>
                <a:cs typeface="Arial"/>
              </a:defRPr>
            </a:pPr>
            <a:r>
              <a:rPr sz="1125" b="0">
                <a:solidFill>
                  <a:srgbClr val="B3C0D3"/>
                </a:solidFill>
                <a:latin typeface="Arial"/>
                <a:ea typeface="Arial"/>
                <a:cs typeface="Arial"/>
              </a:rPr>
              <a:t>04 / 18</a:t>
            </a:r>
          </a:p>
        </p:txBody>
      </p:sp>
      <p:sp>
        <p:nvSpPr>
          <p:cNvPr id="5" name="Complete frontend ownership">
            <a:extLst xmlns:a="http://schemas.openxmlformats.org/drawingml/2006/main">
              <a:ext uri="{FF2B5EF4-FFF2-40B4-BE49-F238E27FC236}">
                <a16:creationId xmlns:a16="http://schemas.microsoft.com/office/drawing/2014/main" id="{97FBF31C-4CC3-4A09-A146-A1ACCB3DAF49}"/>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F6F8FC"/>
                </a:solidFill>
                <a:latin typeface="Arial"/>
                <a:ea typeface="Arial"/>
                <a:cs typeface="Arial"/>
              </a:defRPr>
            </a:pPr>
            <a:r>
              <a:rPr sz="3675" b="1">
                <a:solidFill>
                  <a:srgbClr val="F6F8FC"/>
                </a:solidFill>
                <a:latin typeface="Arial"/>
                <a:ea typeface="Arial"/>
                <a:cs typeface="Arial"/>
              </a:rPr>
              <a:t>Complete frontend ownership</a:t>
            </a:r>
          </a:p>
        </p:txBody>
      </p:sp>
      <p:sp>
        <p:nvSpPr>
          <p:cNvPr id="6" name="A management information system for certified reflective-tape fit">
            <a:extLst xmlns:a="http://schemas.openxmlformats.org/drawingml/2006/main">
              <a:ext uri="{FF2B5EF4-FFF2-40B4-BE49-F238E27FC236}">
                <a16:creationId xmlns:a16="http://schemas.microsoft.com/office/drawing/2014/main" id="{E8495A76-B454-4064-A2C6-41F996997D17}"/>
              </a:ext>
            </a:extLst>
          </p:cNvPr>
          <p:cNvSpPr>
            <a:spLocks xmlns:a="http://schemas.openxmlformats.org/drawingml/2006/main" noGrp="1"/>
          </p:cNvSpPr>
          <p:nvPr/>
        </p:nvSpPr>
        <p:spPr>
          <a:xfrm xmlns:a="http://schemas.openxmlformats.org/drawingml/2006/main">
            <a:off x="609600" y="15716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B3C0D3"/>
                </a:solidFill>
                <a:latin typeface="Arial"/>
                <a:ea typeface="Arial"/>
                <a:cs typeface="Arial"/>
              </a:defRPr>
            </a:pPr>
            <a:r>
              <a:rPr sz="1650" b="0">
                <a:solidFill>
                  <a:srgbClr val="B3C0D3"/>
                </a:solidFill>
                <a:latin typeface="Arial"/>
                <a:ea typeface="Arial"/>
                <a:cs typeface="Arial"/>
              </a:rPr>
              <a:t>A management information system for certified reflective-tape fitment and verification</a:t>
            </a:r>
          </a:p>
        </p:txBody>
      </p:sp>
      <p:sp>
        <p:nvSpPr>
          <p:cNvPr id="7" name="I owned the frontend across the project’s workflows.">
            <a:extLst xmlns:a="http://schemas.openxmlformats.org/drawingml/2006/main">
              <a:ext uri="{FF2B5EF4-FFF2-40B4-BE49-F238E27FC236}">
                <a16:creationId xmlns:a16="http://schemas.microsoft.com/office/drawing/2014/main" id="{3D132F41-3C73-4EED-8A7C-9E523F8D6F23}"/>
              </a:ext>
            </a:extLst>
          </p:cNvPr>
          <p:cNvSpPr>
            <a:spLocks xmlns:a="http://schemas.openxmlformats.org/drawingml/2006/main" noGrp="1"/>
          </p:cNvSpPr>
          <p:nvPr/>
        </p:nvSpPr>
        <p:spPr>
          <a:xfrm xmlns:a="http://schemas.openxmlformats.org/drawingml/2006/main">
            <a:off x="609600" y="2286000"/>
            <a:ext cx="4048125"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2700" b="0">
                <a:solidFill>
                  <a:srgbClr val="83AAFF"/>
                </a:solidFill>
                <a:latin typeface="Arial"/>
                <a:ea typeface="Arial"/>
                <a:cs typeface="Arial"/>
              </a:defRPr>
            </a:pPr>
            <a:r>
              <a:rPr sz="2700" b="0">
                <a:solidFill>
                  <a:srgbClr val="83AAFF"/>
                </a:solidFill>
                <a:latin typeface="Arial"/>
                <a:ea typeface="Arial"/>
                <a:cs typeface="Arial"/>
              </a:rPr>
              <a:t>I owned the frontend across the project’s workflows.</a:t>
            </a:r>
          </a:p>
        </p:txBody>
      </p:sp>
      <p:sp>
        <p:nvSpPr>
          <p:cNvPr id="8" name="">
            <a:extLst xmlns:a="http://schemas.openxmlformats.org/drawingml/2006/main">
              <a:ext uri="{FF2B5EF4-FFF2-40B4-BE49-F238E27FC236}">
                <a16:creationId xmlns:a16="http://schemas.microsoft.com/office/drawing/2014/main" id="{2E86F17D-3716-4AF8-A4DD-FC2E2A2A15D8}"/>
              </a:ext>
            </a:extLst>
          </p:cNvPr>
          <p:cNvSpPr>
            <a:spLocks xmlns:a="http://schemas.openxmlformats.org/drawingml/2006/main" noGrp="1"/>
          </p:cNvSpPr>
          <p:nvPr/>
        </p:nvSpPr>
        <p:spPr>
          <a:xfrm xmlns:a="http://schemas.openxmlformats.org/drawingml/2006/main">
            <a:off x="5400675" y="2209800"/>
            <a:ext cx="6181725" cy="0"/>
          </a:xfrm>
          <a:prstGeom xmlns:a="http://schemas.openxmlformats.org/drawingml/2006/main" prst="line">
            <a:avLst/>
          </a:prstGeom>
          <a:noFill xmlns:a="http://schemas.openxmlformats.org/drawingml/2006/main"/>
          <a:ln xmlns:a="http://schemas.openxmlformats.org/drawingml/2006/main" w="9525">
            <a:solidFill>
              <a:srgbClr val="35475E"/>
            </a:solidFill>
          </a:ln>
        </p:spPr>
      </p:sp>
      <p:sp>
        <p:nvSpPr>
          <p:cNvPr id="9" name="A two-member team">
            <a:extLst xmlns:a="http://schemas.openxmlformats.org/drawingml/2006/main">
              <a:ext uri="{FF2B5EF4-FFF2-40B4-BE49-F238E27FC236}">
                <a16:creationId xmlns:a16="http://schemas.microsoft.com/office/drawing/2014/main" id="{0C20CBE8-6DFA-45DC-B1EC-FEC3D456F441}"/>
              </a:ext>
            </a:extLst>
          </p:cNvPr>
          <p:cNvSpPr>
            <a:spLocks xmlns:a="http://schemas.openxmlformats.org/drawingml/2006/main" noGrp="1"/>
          </p:cNvSpPr>
          <p:nvPr/>
        </p:nvSpPr>
        <p:spPr>
          <a:xfrm xmlns:a="http://schemas.openxmlformats.org/drawingml/2006/main">
            <a:off x="5400675" y="237172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A two-member team</a:t>
            </a:r>
          </a:p>
        </p:txBody>
      </p:sp>
      <p:sp>
        <p:nvSpPr>
          <p:cNvPr id="10" name="Built with one backend teammate, with guidance from Ritesh sir.">
            <a:extLst xmlns:a="http://schemas.openxmlformats.org/drawingml/2006/main">
              <a:ext uri="{FF2B5EF4-FFF2-40B4-BE49-F238E27FC236}">
                <a16:creationId xmlns:a16="http://schemas.microsoft.com/office/drawing/2014/main" id="{E0238CD1-1556-4EE1-869D-03F716BA6B6B}"/>
              </a:ext>
            </a:extLst>
          </p:cNvPr>
          <p:cNvSpPr>
            <a:spLocks xmlns:a="http://schemas.openxmlformats.org/drawingml/2006/main" noGrp="1"/>
          </p:cNvSpPr>
          <p:nvPr/>
        </p:nvSpPr>
        <p:spPr>
          <a:xfrm xmlns:a="http://schemas.openxmlformats.org/drawingml/2006/main">
            <a:off x="5400675" y="271462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Built with one backend teammate, with guidance from the team lead.</a:t>
            </a:r>
          </a:p>
        </p:txBody>
      </p:sp>
      <p:sp>
        <p:nvSpPr>
          <p:cNvPr id="11" name="Workflow and architecture">
            <a:extLst xmlns:a="http://schemas.openxmlformats.org/drawingml/2006/main">
              <a:ext uri="{FF2B5EF4-FFF2-40B4-BE49-F238E27FC236}">
                <a16:creationId xmlns:a16="http://schemas.microsoft.com/office/drawing/2014/main" id="{8ECA104A-A2EB-41C9-A49A-9DBEFBAA7882}"/>
              </a:ext>
            </a:extLst>
          </p:cNvPr>
          <p:cNvSpPr>
            <a:spLocks xmlns:a="http://schemas.openxmlformats.org/drawingml/2006/main" noGrp="1"/>
          </p:cNvSpPr>
          <p:nvPr/>
        </p:nvSpPr>
        <p:spPr>
          <a:xfrm xmlns:a="http://schemas.openxmlformats.org/drawingml/2006/main">
            <a:off x="5400675" y="3314700"/>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Workflow and architecture</a:t>
            </a:r>
          </a:p>
        </p:txBody>
      </p:sp>
      <p:sp>
        <p:nvSpPr>
          <p:cNvPr id="12" name="Jointly defined feature behavior and integration as requirements ">
            <a:extLst xmlns:a="http://schemas.openxmlformats.org/drawingml/2006/main">
              <a:ext uri="{FF2B5EF4-FFF2-40B4-BE49-F238E27FC236}">
                <a16:creationId xmlns:a16="http://schemas.microsoft.com/office/drawing/2014/main" id="{1CB881D1-AB01-4DB1-80D9-C1654D417EA1}"/>
              </a:ext>
            </a:extLst>
          </p:cNvPr>
          <p:cNvSpPr>
            <a:spLocks xmlns:a="http://schemas.openxmlformats.org/drawingml/2006/main" noGrp="1"/>
          </p:cNvSpPr>
          <p:nvPr/>
        </p:nvSpPr>
        <p:spPr>
          <a:xfrm xmlns:a="http://schemas.openxmlformats.org/drawingml/2006/main">
            <a:off x="5400675" y="3657600"/>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Jointly defined feature behavior and integration as requirements evolved.</a:t>
            </a:r>
          </a:p>
        </p:txBody>
      </p:sp>
      <p:sp>
        <p:nvSpPr>
          <p:cNvPr id="13" name="Independent problem solving">
            <a:extLst xmlns:a="http://schemas.openxmlformats.org/drawingml/2006/main">
              <a:ext uri="{FF2B5EF4-FFF2-40B4-BE49-F238E27FC236}">
                <a16:creationId xmlns:a16="http://schemas.microsoft.com/office/drawing/2014/main" id="{CA1EE77F-92E7-436F-9D6B-5A564525D0AD}"/>
              </a:ext>
            </a:extLst>
          </p:cNvPr>
          <p:cNvSpPr>
            <a:spLocks xmlns:a="http://schemas.openxmlformats.org/drawingml/2006/main" noGrp="1"/>
          </p:cNvSpPr>
          <p:nvPr/>
        </p:nvSpPr>
        <p:spPr>
          <a:xfrm xmlns:a="http://schemas.openxmlformats.org/drawingml/2006/main">
            <a:off x="5400675" y="425767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Independent problem solving</a:t>
            </a:r>
          </a:p>
        </p:txBody>
      </p:sp>
      <p:sp>
        <p:nvSpPr>
          <p:cNvPr id="14" name="Used continuous R&amp;D to resolve gaps in documentation and specific">
            <a:extLst xmlns:a="http://schemas.openxmlformats.org/drawingml/2006/main">
              <a:ext uri="{FF2B5EF4-FFF2-40B4-BE49-F238E27FC236}">
                <a16:creationId xmlns:a16="http://schemas.microsoft.com/office/drawing/2014/main" id="{E14CC7D9-DA1C-4E8D-A806-235227C00E3D}"/>
              </a:ext>
            </a:extLst>
          </p:cNvPr>
          <p:cNvSpPr>
            <a:spLocks xmlns:a="http://schemas.openxmlformats.org/drawingml/2006/main" noGrp="1"/>
          </p:cNvSpPr>
          <p:nvPr/>
        </p:nvSpPr>
        <p:spPr>
          <a:xfrm xmlns:a="http://schemas.openxmlformats.org/drawingml/2006/main">
            <a:off x="5400675" y="460057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Used continuous R&amp;D to resolve gaps in documentation and specifications.</a:t>
            </a:r>
          </a:p>
        </p:txBody>
      </p:sp>
    </p:spTree>
    <p:extLst>
      <p:ext uri="{BB962C8B-B14F-4D97-AF65-F5344CB8AC3E}">
        <p14:creationId xmlns:p14="http://schemas.microsoft.com/office/powerpoint/2010/main" val="114300642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TAPE / MY CONTRIBUTIONS">
            <a:extLst xmlns:a="http://schemas.openxmlformats.org/drawingml/2006/main">
              <a:ext uri="{FF2B5EF4-FFF2-40B4-BE49-F238E27FC236}">
                <a16:creationId xmlns:a16="http://schemas.microsoft.com/office/drawing/2014/main" id="{BE81F05A-20CA-4547-9F09-176138F9E24D}"/>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RTAPE / MY CONTRIBUTIONS</a:t>
            </a:r>
          </a:p>
        </p:txBody>
      </p:sp>
      <p:sp>
        <p:nvSpPr>
          <p:cNvPr id="2" name="ATLANTA SYSTEMS">
            <a:extLst xmlns:a="http://schemas.openxmlformats.org/drawingml/2006/main">
              <a:ext uri="{FF2B5EF4-FFF2-40B4-BE49-F238E27FC236}">
                <a16:creationId xmlns:a16="http://schemas.microsoft.com/office/drawing/2014/main" id="{46E78037-A872-4AD2-BA45-343417A7D695}"/>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15C9B22F-E509-483E-9CAD-2A2E3E531B6A}"/>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05 / 18">
            <a:extLst xmlns:a="http://schemas.openxmlformats.org/drawingml/2006/main">
              <a:ext uri="{FF2B5EF4-FFF2-40B4-BE49-F238E27FC236}">
                <a16:creationId xmlns:a16="http://schemas.microsoft.com/office/drawing/2014/main" id="{0C90D8A6-C539-4190-B1B8-D297A2B4584C}"/>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05 / 18</a:t>
            </a:r>
          </a:p>
        </p:txBody>
      </p:sp>
      <p:sp>
        <p:nvSpPr>
          <p:cNvPr id="5" name="Core workflows I delivered">
            <a:extLst xmlns:a="http://schemas.openxmlformats.org/drawingml/2006/main">
              <a:ext uri="{FF2B5EF4-FFF2-40B4-BE49-F238E27FC236}">
                <a16:creationId xmlns:a16="http://schemas.microsoft.com/office/drawing/2014/main" id="{8E6AB3E2-38EB-469A-8A71-2CC581D054A1}"/>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Core workflows I delivered</a:t>
            </a:r>
          </a:p>
        </p:txBody>
      </p:sp>
      <p:sp>
        <p:nvSpPr>
          <p:cNvPr id="6" name="">
            <a:extLst xmlns:a="http://schemas.openxmlformats.org/drawingml/2006/main">
              <a:ext uri="{FF2B5EF4-FFF2-40B4-BE49-F238E27FC236}">
                <a16:creationId xmlns:a16="http://schemas.microsoft.com/office/drawing/2014/main" id="{B2529B95-32DD-4ACE-A95D-B1C092399AC5}"/>
              </a:ext>
            </a:extLst>
          </p:cNvPr>
          <p:cNvSpPr>
            <a:spLocks xmlns:a="http://schemas.openxmlformats.org/drawingml/2006/main" noGrp="1"/>
          </p:cNvSpPr>
          <p:nvPr/>
        </p:nvSpPr>
        <p:spPr>
          <a:xfrm xmlns:a="http://schemas.openxmlformats.org/drawingml/2006/main">
            <a:off x="609600" y="1828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7" name="01">
            <a:extLst xmlns:a="http://schemas.openxmlformats.org/drawingml/2006/main">
              <a:ext uri="{FF2B5EF4-FFF2-40B4-BE49-F238E27FC236}">
                <a16:creationId xmlns:a16="http://schemas.microsoft.com/office/drawing/2014/main" id="{A3749AB4-9C5B-415B-A62F-F008446AB05F}"/>
              </a:ext>
            </a:extLst>
          </p:cNvPr>
          <p:cNvSpPr>
            <a:spLocks xmlns:a="http://schemas.openxmlformats.org/drawingml/2006/main" noGrp="1"/>
          </p:cNvSpPr>
          <p:nvPr/>
        </p:nvSpPr>
        <p:spPr>
          <a:xfrm xmlns:a="http://schemas.openxmlformats.org/drawingml/2006/main">
            <a:off x="609600" y="206692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01</a:t>
            </a:r>
          </a:p>
        </p:txBody>
      </p:sp>
      <p:sp>
        <p:nvSpPr>
          <p:cNvPr id="8" name="Access and governance">
            <a:extLst xmlns:a="http://schemas.openxmlformats.org/drawingml/2006/main">
              <a:ext uri="{FF2B5EF4-FFF2-40B4-BE49-F238E27FC236}">
                <a16:creationId xmlns:a16="http://schemas.microsoft.com/office/drawing/2014/main" id="{E1EA989C-7713-4209-A21B-2B57E1286D6F}"/>
              </a:ext>
            </a:extLst>
          </p:cNvPr>
          <p:cNvSpPr>
            <a:spLocks xmlns:a="http://schemas.openxmlformats.org/drawingml/2006/main" noGrp="1"/>
          </p:cNvSpPr>
          <p:nvPr/>
        </p:nvSpPr>
        <p:spPr>
          <a:xfrm xmlns:a="http://schemas.openxmlformats.org/drawingml/2006/main">
            <a:off x="1219200" y="200977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Access and governance</a:t>
            </a:r>
          </a:p>
        </p:txBody>
      </p:sp>
      <p:sp>
        <p:nvSpPr>
          <p:cNvPr id="9" name="Role-aware login, permissions, restricted accounts and approval w">
            <a:extLst xmlns:a="http://schemas.openxmlformats.org/drawingml/2006/main">
              <a:ext uri="{FF2B5EF4-FFF2-40B4-BE49-F238E27FC236}">
                <a16:creationId xmlns:a16="http://schemas.microsoft.com/office/drawing/2014/main" id="{33168BC6-BB57-425B-B869-DE7184F69CFF}"/>
              </a:ext>
            </a:extLst>
          </p:cNvPr>
          <p:cNvSpPr>
            <a:spLocks xmlns:a="http://schemas.openxmlformats.org/drawingml/2006/main" noGrp="1"/>
          </p:cNvSpPr>
          <p:nvPr/>
        </p:nvSpPr>
        <p:spPr>
          <a:xfrm xmlns:a="http://schemas.openxmlformats.org/drawingml/2006/main">
            <a:off x="4381500" y="200977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Role-aware login, permissions, restricted accounts and approval workflows.</a:t>
            </a:r>
          </a:p>
        </p:txBody>
      </p:sp>
      <p:sp>
        <p:nvSpPr>
          <p:cNvPr id="10" name="">
            <a:extLst xmlns:a="http://schemas.openxmlformats.org/drawingml/2006/main">
              <a:ext uri="{FF2B5EF4-FFF2-40B4-BE49-F238E27FC236}">
                <a16:creationId xmlns:a16="http://schemas.microsoft.com/office/drawing/2014/main" id="{708A6941-915A-4176-B6B7-8B2AFB9CBCD8}"/>
              </a:ext>
            </a:extLst>
          </p:cNvPr>
          <p:cNvSpPr>
            <a:spLocks xmlns:a="http://schemas.openxmlformats.org/drawingml/2006/main" noGrp="1"/>
          </p:cNvSpPr>
          <p:nvPr/>
        </p:nvSpPr>
        <p:spPr>
          <a:xfrm xmlns:a="http://schemas.openxmlformats.org/drawingml/2006/main">
            <a:off x="609600" y="269557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1" name="02">
            <a:extLst xmlns:a="http://schemas.openxmlformats.org/drawingml/2006/main">
              <a:ext uri="{FF2B5EF4-FFF2-40B4-BE49-F238E27FC236}">
                <a16:creationId xmlns:a16="http://schemas.microsoft.com/office/drawing/2014/main" id="{41AC51F8-ACC4-4339-80FC-067EB7AE78F4}"/>
              </a:ext>
            </a:extLst>
          </p:cNvPr>
          <p:cNvSpPr>
            <a:spLocks xmlns:a="http://schemas.openxmlformats.org/drawingml/2006/main" noGrp="1"/>
          </p:cNvSpPr>
          <p:nvPr/>
        </p:nvSpPr>
        <p:spPr>
          <a:xfrm xmlns:a="http://schemas.openxmlformats.org/drawingml/2006/main">
            <a:off x="609600" y="293370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02</a:t>
            </a:r>
          </a:p>
        </p:txBody>
      </p:sp>
      <p:sp>
        <p:nvSpPr>
          <p:cNvPr id="12" name="Appointments and grievances">
            <a:extLst xmlns:a="http://schemas.openxmlformats.org/drawingml/2006/main">
              <a:ext uri="{FF2B5EF4-FFF2-40B4-BE49-F238E27FC236}">
                <a16:creationId xmlns:a16="http://schemas.microsoft.com/office/drawing/2014/main" id="{E143E777-9D6B-4179-A152-56C2D02E4487}"/>
              </a:ext>
            </a:extLst>
          </p:cNvPr>
          <p:cNvSpPr>
            <a:spLocks xmlns:a="http://schemas.openxmlformats.org/drawingml/2006/main" noGrp="1"/>
          </p:cNvSpPr>
          <p:nvPr/>
        </p:nvSpPr>
        <p:spPr>
          <a:xfrm xmlns:a="http://schemas.openxmlformats.org/drawingml/2006/main">
            <a:off x="1219200" y="287655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Appointments and grievances</a:t>
            </a:r>
          </a:p>
        </p:txBody>
      </p:sp>
      <p:sp>
        <p:nvSpPr>
          <p:cNvPr id="13" name="OTP booking, slots, working hours, complaint tracking and resolut">
            <a:extLst xmlns:a="http://schemas.openxmlformats.org/drawingml/2006/main">
              <a:ext uri="{FF2B5EF4-FFF2-40B4-BE49-F238E27FC236}">
                <a16:creationId xmlns:a16="http://schemas.microsoft.com/office/drawing/2014/main" id="{62D72AE5-09A8-4107-925F-25176A3ACD2D}"/>
              </a:ext>
            </a:extLst>
          </p:cNvPr>
          <p:cNvSpPr>
            <a:spLocks xmlns:a="http://schemas.openxmlformats.org/drawingml/2006/main" noGrp="1"/>
          </p:cNvSpPr>
          <p:nvPr/>
        </p:nvSpPr>
        <p:spPr>
          <a:xfrm xmlns:a="http://schemas.openxmlformats.org/drawingml/2006/main">
            <a:off x="4381500" y="287655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OTP booking, slots, working hours, complaint tracking and resolution flows.</a:t>
            </a:r>
          </a:p>
        </p:txBody>
      </p:sp>
      <p:sp>
        <p:nvSpPr>
          <p:cNvPr id="14" name="">
            <a:extLst xmlns:a="http://schemas.openxmlformats.org/drawingml/2006/main">
              <a:ext uri="{FF2B5EF4-FFF2-40B4-BE49-F238E27FC236}">
                <a16:creationId xmlns:a16="http://schemas.microsoft.com/office/drawing/2014/main" id="{99CF212D-F2B7-49F5-862C-23C31495F00A}"/>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03">
            <a:extLst xmlns:a="http://schemas.openxmlformats.org/drawingml/2006/main">
              <a:ext uri="{FF2B5EF4-FFF2-40B4-BE49-F238E27FC236}">
                <a16:creationId xmlns:a16="http://schemas.microsoft.com/office/drawing/2014/main" id="{09F93348-AFE1-42D4-92AE-DC1BE58B3D42}"/>
              </a:ext>
            </a:extLst>
          </p:cNvPr>
          <p:cNvSpPr>
            <a:spLocks xmlns:a="http://schemas.openxmlformats.org/drawingml/2006/main" noGrp="1"/>
          </p:cNvSpPr>
          <p:nvPr/>
        </p:nvSpPr>
        <p:spPr>
          <a:xfrm xmlns:a="http://schemas.openxmlformats.org/drawingml/2006/main">
            <a:off x="609600" y="380047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03</a:t>
            </a:r>
          </a:p>
        </p:txBody>
      </p:sp>
      <p:sp>
        <p:nvSpPr>
          <p:cNvPr id="16" name="Fitment and inventory">
            <a:extLst xmlns:a="http://schemas.openxmlformats.org/drawingml/2006/main">
              <a:ext uri="{FF2B5EF4-FFF2-40B4-BE49-F238E27FC236}">
                <a16:creationId xmlns:a16="http://schemas.microsoft.com/office/drawing/2014/main" id="{63F39F2E-6A02-4141-85A7-4757338840D3}"/>
              </a:ext>
            </a:extLst>
          </p:cNvPr>
          <p:cNvSpPr>
            <a:spLocks xmlns:a="http://schemas.openxmlformats.org/drawingml/2006/main" noGrp="1"/>
          </p:cNvSpPr>
          <p:nvPr/>
        </p:nvSpPr>
        <p:spPr>
          <a:xfrm xmlns:a="http://schemas.openxmlformats.org/drawingml/2006/main">
            <a:off x="1219200" y="374332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Fitment and inventory</a:t>
            </a:r>
          </a:p>
        </p:txBody>
      </p:sp>
      <p:sp>
        <p:nvSpPr>
          <p:cNvPr id="17" name="Stock allocation, discard flows, price approvals and fitment veri">
            <a:extLst xmlns:a="http://schemas.openxmlformats.org/drawingml/2006/main">
              <a:ext uri="{FF2B5EF4-FFF2-40B4-BE49-F238E27FC236}">
                <a16:creationId xmlns:a16="http://schemas.microsoft.com/office/drawing/2014/main" id="{141B4C3B-4908-4051-A989-A4A871DD8BE2}"/>
              </a:ext>
            </a:extLst>
          </p:cNvPr>
          <p:cNvSpPr>
            <a:spLocks xmlns:a="http://schemas.openxmlformats.org/drawingml/2006/main" noGrp="1"/>
          </p:cNvSpPr>
          <p:nvPr/>
        </p:nvSpPr>
        <p:spPr>
          <a:xfrm xmlns:a="http://schemas.openxmlformats.org/drawingml/2006/main">
            <a:off x="4381500" y="374332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Stock allocation, discard flows, price approvals and fitment verification.</a:t>
            </a:r>
          </a:p>
        </p:txBody>
      </p:sp>
      <p:sp>
        <p:nvSpPr>
          <p:cNvPr id="18" name="">
            <a:extLst xmlns:a="http://schemas.openxmlformats.org/drawingml/2006/main">
              <a:ext uri="{FF2B5EF4-FFF2-40B4-BE49-F238E27FC236}">
                <a16:creationId xmlns:a16="http://schemas.microsoft.com/office/drawing/2014/main" id="{FA6E59A3-9B13-4749-A865-C709895D283F}"/>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9" name="04">
            <a:extLst xmlns:a="http://schemas.openxmlformats.org/drawingml/2006/main">
              <a:ext uri="{FF2B5EF4-FFF2-40B4-BE49-F238E27FC236}">
                <a16:creationId xmlns:a16="http://schemas.microsoft.com/office/drawing/2014/main" id="{8F7179D6-43D0-43FB-A3EA-9872415F89A6}"/>
              </a:ext>
            </a:extLst>
          </p:cNvPr>
          <p:cNvSpPr>
            <a:spLocks xmlns:a="http://schemas.openxmlformats.org/drawingml/2006/main" noGrp="1"/>
          </p:cNvSpPr>
          <p:nvPr/>
        </p:nvSpPr>
        <p:spPr>
          <a:xfrm xmlns:a="http://schemas.openxmlformats.org/drawingml/2006/main">
            <a:off x="609600" y="466725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04</a:t>
            </a:r>
          </a:p>
        </p:txBody>
      </p:sp>
      <p:sp>
        <p:nvSpPr>
          <p:cNvPr id="20" name="Certificates and usability">
            <a:extLst xmlns:a="http://schemas.openxmlformats.org/drawingml/2006/main">
              <a:ext uri="{FF2B5EF4-FFF2-40B4-BE49-F238E27FC236}">
                <a16:creationId xmlns:a16="http://schemas.microsoft.com/office/drawing/2014/main" id="{78A130B7-F6CA-44FD-8AB8-527EC16FCB72}"/>
              </a:ext>
            </a:extLst>
          </p:cNvPr>
          <p:cNvSpPr>
            <a:spLocks xmlns:a="http://schemas.openxmlformats.org/drawingml/2006/main" noGrp="1"/>
          </p:cNvSpPr>
          <p:nvPr/>
        </p:nvSpPr>
        <p:spPr>
          <a:xfrm xmlns:a="http://schemas.openxmlformats.org/drawingml/2006/main">
            <a:off x="1219200" y="461010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Certificates and usability</a:t>
            </a:r>
          </a:p>
        </p:txBody>
      </p:sp>
      <p:sp>
        <p:nvSpPr>
          <p:cNvPr id="21" name="QR verification, PDF certificates, Hindi localization and respons">
            <a:extLst xmlns:a="http://schemas.openxmlformats.org/drawingml/2006/main">
              <a:ext uri="{FF2B5EF4-FFF2-40B4-BE49-F238E27FC236}">
                <a16:creationId xmlns:a16="http://schemas.microsoft.com/office/drawing/2014/main" id="{BDB0F710-C1EB-4477-BB54-401035721E54}"/>
              </a:ext>
            </a:extLst>
          </p:cNvPr>
          <p:cNvSpPr>
            <a:spLocks xmlns:a="http://schemas.openxmlformats.org/drawingml/2006/main" noGrp="1"/>
          </p:cNvSpPr>
          <p:nvPr/>
        </p:nvSpPr>
        <p:spPr>
          <a:xfrm xmlns:a="http://schemas.openxmlformats.org/drawingml/2006/main">
            <a:off x="4381500" y="461010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QR verification, PDF certificates, Hindi localization and responsive screens.</a:t>
            </a:r>
          </a:p>
        </p:txBody>
      </p:sp>
      <p:sp>
        <p:nvSpPr>
          <p:cNvPr id="22" name="">
            <a:extLst xmlns:a="http://schemas.openxmlformats.org/drawingml/2006/main">
              <a:ext uri="{FF2B5EF4-FFF2-40B4-BE49-F238E27FC236}">
                <a16:creationId xmlns:a16="http://schemas.microsoft.com/office/drawing/2014/main" id="{AB984834-2B0A-4980-AE11-82C104A80C48}"/>
              </a:ext>
            </a:extLst>
          </p:cNvPr>
          <p:cNvSpPr>
            <a:spLocks xmlns:a="http://schemas.openxmlformats.org/drawingml/2006/main" noGrp="1"/>
          </p:cNvSpPr>
          <p:nvPr/>
        </p:nvSpPr>
        <p:spPr>
          <a:xfrm xmlns:a="http://schemas.openxmlformats.org/drawingml/2006/main">
            <a:off x="609600" y="52959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3" name="">
            <a:extLst xmlns:a="http://schemas.openxmlformats.org/drawingml/2006/main">
              <a:ext uri="{FF2B5EF4-FFF2-40B4-BE49-F238E27FC236}">
                <a16:creationId xmlns:a16="http://schemas.microsoft.com/office/drawing/2014/main" id="{81A5F9E6-805E-4E2A-9A84-36F9AA7DD408}"/>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4" name="Connected public services and operational workflows within the sa">
            <a:extLst xmlns:a="http://schemas.openxmlformats.org/drawingml/2006/main">
              <a:ext uri="{FF2B5EF4-FFF2-40B4-BE49-F238E27FC236}">
                <a16:creationId xmlns:a16="http://schemas.microsoft.com/office/drawing/2014/main" id="{C79C8A81-E044-4545-954D-C04E4CB39D49}"/>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Connected public services and operational workflows within the same frontend.</a:t>
            </a:r>
          </a:p>
        </p:txBody>
      </p:sp>
    </p:spTree>
    <p:extLst>
      <p:ext uri="{BB962C8B-B14F-4D97-AF65-F5344CB8AC3E}">
        <p14:creationId xmlns:p14="http://schemas.microsoft.com/office/powerpoint/2010/main" val="202733167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RTAPE / DELIVERY AND BUSINESS OUTCOME">
            <a:extLst xmlns:a="http://schemas.openxmlformats.org/drawingml/2006/main">
              <a:ext uri="{FF2B5EF4-FFF2-40B4-BE49-F238E27FC236}">
                <a16:creationId xmlns:a16="http://schemas.microsoft.com/office/drawing/2014/main" id="{79ED7F2C-59BB-4908-BDD6-8FF94782002F}"/>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RTAPE / DELIVERY AND BUSINESS OUTCOME</a:t>
            </a:r>
          </a:p>
        </p:txBody>
      </p:sp>
      <p:sp>
        <p:nvSpPr>
          <p:cNvPr id="2" name="ATLANTA SYSTEMS">
            <a:extLst xmlns:a="http://schemas.openxmlformats.org/drawingml/2006/main">
              <a:ext uri="{FF2B5EF4-FFF2-40B4-BE49-F238E27FC236}">
                <a16:creationId xmlns:a16="http://schemas.microsoft.com/office/drawing/2014/main" id="{C1315D1A-2376-443C-B623-5AB2632069B3}"/>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Tender outcome and demonstration details are reported in my accou">
            <a:extLst xmlns:a="http://schemas.openxmlformats.org/drawingml/2006/main">
              <a:ext uri="{FF2B5EF4-FFF2-40B4-BE49-F238E27FC236}">
                <a16:creationId xmlns:a16="http://schemas.microsoft.com/office/drawing/2014/main" id="{6EFFCC98-7891-48E6-A011-810BDB47BE2E}"/>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Project selection and demonstration details are reported in my account.</a:t>
            </a:r>
          </a:p>
        </p:txBody>
      </p:sp>
      <p:sp>
        <p:nvSpPr>
          <p:cNvPr id="4" name="06 / 18">
            <a:extLst xmlns:a="http://schemas.openxmlformats.org/drawingml/2006/main">
              <a:ext uri="{FF2B5EF4-FFF2-40B4-BE49-F238E27FC236}">
                <a16:creationId xmlns:a16="http://schemas.microsoft.com/office/drawing/2014/main" id="{51AF0143-2DD3-424E-A7B2-FD086DB521C1}"/>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06 / 18</a:t>
            </a:r>
          </a:p>
        </p:txBody>
      </p:sp>
      <p:sp>
        <p:nvSpPr>
          <p:cNvPr id="5" name="Delivery beyond the code">
            <a:extLst xmlns:a="http://schemas.openxmlformats.org/drawingml/2006/main">
              <a:ext uri="{FF2B5EF4-FFF2-40B4-BE49-F238E27FC236}">
                <a16:creationId xmlns:a16="http://schemas.microsoft.com/office/drawing/2014/main" id="{BA0D70B4-819B-4016-BF92-1D23E0257C17}"/>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Delivery beyond the code</a:t>
            </a:r>
          </a:p>
        </p:txBody>
      </p:sp>
      <p:sp>
        <p:nvSpPr>
          <p:cNvPr id="6" name="PROJECT TEAM OUTCOME">
            <a:extLst xmlns:a="http://schemas.openxmlformats.org/drawingml/2006/main">
              <a:ext uri="{FF2B5EF4-FFF2-40B4-BE49-F238E27FC236}">
                <a16:creationId xmlns:a16="http://schemas.microsoft.com/office/drawing/2014/main" id="{A409D604-8AB8-47ED-87A4-7E52B7AB7E89}"/>
              </a:ext>
            </a:extLst>
          </p:cNvPr>
          <p:cNvSpPr>
            <a:spLocks xmlns:a="http://schemas.openxmlformats.org/drawingml/2006/main" noGrp="1"/>
          </p:cNvSpPr>
          <p:nvPr/>
        </p:nvSpPr>
        <p:spPr>
          <a:xfrm xmlns:a="http://schemas.openxmlformats.org/drawingml/2006/main">
            <a:off x="609600" y="2133600"/>
            <a:ext cx="4191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56647A"/>
                </a:solidFill>
                <a:latin typeface="Arial"/>
                <a:ea typeface="Arial"/>
                <a:cs typeface="Arial"/>
              </a:defRPr>
            </a:pPr>
            <a:r>
              <a:rPr sz="975" b="1">
                <a:solidFill>
                  <a:srgbClr val="56647A"/>
                </a:solidFill>
                <a:latin typeface="Arial"/>
                <a:ea typeface="Arial"/>
                <a:cs typeface="Arial"/>
              </a:rPr>
              <a:t>PROJECT TEAM OUTCOME</a:t>
            </a:r>
          </a:p>
        </p:txBody>
      </p:sp>
      <p:sp>
        <p:nvSpPr>
          <p:cNvPr id="7" name="Government&#10;tender won">
            <a:extLst xmlns:a="http://schemas.openxmlformats.org/drawingml/2006/main">
              <a:ext uri="{FF2B5EF4-FFF2-40B4-BE49-F238E27FC236}">
                <a16:creationId xmlns:a16="http://schemas.microsoft.com/office/drawing/2014/main" id="{37984AF9-5EA0-4D70-92DA-CF5AEB72EDF0}"/>
              </a:ext>
            </a:extLst>
          </p:cNvPr>
          <p:cNvSpPr>
            <a:spLocks xmlns:a="http://schemas.openxmlformats.org/drawingml/2006/main" noGrp="1"/>
          </p:cNvSpPr>
          <p:nvPr/>
        </p:nvSpPr>
        <p:spPr>
          <a:xfrm xmlns:a="http://schemas.openxmlformats.org/drawingml/2006/main">
            <a:off x="609600" y="2667000"/>
            <a:ext cx="4286250" cy="2219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4875" b="1">
                <a:solidFill>
                  <a:srgbClr val="245EE8"/>
                </a:solidFill>
                <a:latin typeface="Arial"/>
                <a:ea typeface="Arial"/>
                <a:cs typeface="Arial"/>
              </a:defRPr>
            </a:pPr>
            <a:r>
              <a:rPr sz="3200" b="1">
                <a:solidFill>
                  <a:srgbClr val="245EE8"/>
                </a:solidFill>
                <a:latin typeface="Arial"/>
                <a:ea typeface="Arial"/>
                <a:cs typeface="Arial"/>
              </a:rPr>
              <a:t>Project selected</a:t>
            </a:r>
          </a:p>
          <a:p xmlns:a="http://schemas.openxmlformats.org/drawingml/2006/main">
            <a:pPr algn="l">
              <a:lnSpc>
                <a:spcPct val="110000"/>
              </a:lnSpc>
              <a:buNone/>
              <a:defRPr sz="4875" b="1">
                <a:solidFill>
                  <a:srgbClr val="245EE8"/>
                </a:solidFill>
                <a:latin typeface="Arial"/>
                <a:ea typeface="Arial"/>
                <a:cs typeface="Arial"/>
              </a:defRPr>
            </a:pPr>
            <a:r>
              <a:rPr sz="3200" b="1">
                <a:solidFill>
                  <a:srgbClr val="245EE8"/>
                </a:solidFill>
                <a:latin typeface="Arial"/>
                <a:ea typeface="Arial"/>
                <a:cs typeface="Arial"/>
              </a:rPr>
              <a:t>for state-level</a:t>
            </a:r>
          </a:p>
          <a:p xmlns:a="http://schemas.openxmlformats.org/drawingml/2006/main">
            <a:pPr algn="l">
              <a:lnSpc>
                <a:spcPct val="110000"/>
              </a:lnSpc>
              <a:buNone/>
              <a:defRPr sz="4875" b="1">
                <a:solidFill>
                  <a:srgbClr val="245EE8"/>
                </a:solidFill>
                <a:latin typeface="Arial"/>
                <a:ea typeface="Arial"/>
                <a:cs typeface="Arial"/>
              </a:defRPr>
            </a:pPr>
            <a:r>
              <a:rPr sz="3200" b="1">
                <a:solidFill>
                  <a:srgbClr val="245EE8"/>
                </a:solidFill>
                <a:latin typeface="Arial"/>
                <a:ea typeface="Arial"/>
                <a:cs typeface="Arial"/>
              </a:rPr>
              <a:t>deployment in</a:t>
            </a:r>
          </a:p>
          <a:p xmlns:a="http://schemas.openxmlformats.org/drawingml/2006/main">
            <a:pPr algn="l">
              <a:lnSpc>
                <a:spcPct val="110000"/>
              </a:lnSpc>
              <a:buNone/>
              <a:defRPr sz="4875" b="1">
                <a:solidFill>
                  <a:srgbClr val="245EE8"/>
                </a:solidFill>
                <a:latin typeface="Arial"/>
                <a:ea typeface="Arial"/>
                <a:cs typeface="Arial"/>
              </a:defRPr>
            </a:pPr>
            <a:r>
              <a:rPr sz="3200" b="1">
                <a:solidFill>
                  <a:srgbClr val="245EE8"/>
                </a:solidFill>
                <a:latin typeface="Arial"/>
                <a:ea typeface="Arial"/>
                <a:cs typeface="Arial"/>
              </a:rPr>
              <a:t>Madhya Pradesh</a:t>
            </a:r>
          </a:p>
        </p:txBody>
      </p:sp>
      <p:sp>
        <p:nvSpPr>
          <p:cNvPr id="8" name="">
            <a:extLst xmlns:a="http://schemas.openxmlformats.org/drawingml/2006/main">
              <a:ext uri="{FF2B5EF4-FFF2-40B4-BE49-F238E27FC236}">
                <a16:creationId xmlns:a16="http://schemas.microsoft.com/office/drawing/2014/main" id="{FE7390C0-B69D-414F-B1BA-1B9ECEFF18EB}"/>
              </a:ext>
            </a:extLst>
          </p:cNvPr>
          <p:cNvSpPr>
            <a:spLocks xmlns:a="http://schemas.openxmlformats.org/drawingml/2006/main" noGrp="1"/>
          </p:cNvSpPr>
          <p:nvPr/>
        </p:nvSpPr>
        <p:spPr>
          <a:xfrm xmlns:a="http://schemas.openxmlformats.org/drawingml/2006/main">
            <a:off x="5400675" y="1828800"/>
            <a:ext cx="6181725"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9" name="Live workflow testing">
            <a:extLst xmlns:a="http://schemas.openxmlformats.org/drawingml/2006/main">
              <a:ext uri="{FF2B5EF4-FFF2-40B4-BE49-F238E27FC236}">
                <a16:creationId xmlns:a16="http://schemas.microsoft.com/office/drawing/2014/main" id="{7C70C458-A9FE-4C0F-ACD3-5CBB462BEC3B}"/>
              </a:ext>
            </a:extLst>
          </p:cNvPr>
          <p:cNvSpPr>
            <a:spLocks xmlns:a="http://schemas.openxmlformats.org/drawingml/2006/main" noGrp="1"/>
          </p:cNvSpPr>
          <p:nvPr/>
        </p:nvSpPr>
        <p:spPr>
          <a:xfrm xmlns:a="http://schemas.openxmlformats.org/drawingml/2006/main">
            <a:off x="5400675" y="1981200"/>
            <a:ext cx="6181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1">
                <a:solidFill>
                  <a:srgbClr val="142137"/>
                </a:solidFill>
                <a:latin typeface="Arial"/>
                <a:ea typeface="Arial"/>
                <a:cs typeface="Arial"/>
              </a:defRPr>
            </a:pPr>
            <a:r>
              <a:rPr sz="1725" b="1">
                <a:solidFill>
                  <a:srgbClr val="142137"/>
                </a:solidFill>
                <a:latin typeface="Arial"/>
                <a:ea typeface="Arial"/>
                <a:cs typeface="Arial"/>
              </a:rPr>
              <a:t>Live workflow testing</a:t>
            </a:r>
          </a:p>
        </p:txBody>
      </p:sp>
      <p:sp>
        <p:nvSpPr>
          <p:cNvPr id="10" name="Planned real-world checks and resolved issues from demo feedback.">
            <a:extLst xmlns:a="http://schemas.openxmlformats.org/drawingml/2006/main">
              <a:ext uri="{FF2B5EF4-FFF2-40B4-BE49-F238E27FC236}">
                <a16:creationId xmlns:a16="http://schemas.microsoft.com/office/drawing/2014/main" id="{1A2D5798-AC14-4306-9894-F98B3EBE434E}"/>
              </a:ext>
            </a:extLst>
          </p:cNvPr>
          <p:cNvSpPr>
            <a:spLocks xmlns:a="http://schemas.openxmlformats.org/drawingml/2006/main" noGrp="1"/>
          </p:cNvSpPr>
          <p:nvPr/>
        </p:nvSpPr>
        <p:spPr>
          <a:xfrm xmlns:a="http://schemas.openxmlformats.org/drawingml/2006/main">
            <a:off x="5400675" y="2324100"/>
            <a:ext cx="61817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Planned real-world checks and resolved issues from demo feedback.</a:t>
            </a:r>
          </a:p>
        </p:txBody>
      </p:sp>
      <p:sp>
        <p:nvSpPr>
          <p:cNvPr id="11" name="">
            <a:extLst xmlns:a="http://schemas.openxmlformats.org/drawingml/2006/main">
              <a:ext uri="{FF2B5EF4-FFF2-40B4-BE49-F238E27FC236}">
                <a16:creationId xmlns:a16="http://schemas.microsoft.com/office/drawing/2014/main" id="{1B1FA561-51B6-4503-8DCB-48E85AA527CE}"/>
              </a:ext>
            </a:extLst>
          </p:cNvPr>
          <p:cNvSpPr>
            <a:spLocks xmlns:a="http://schemas.openxmlformats.org/drawingml/2006/main" noGrp="1"/>
          </p:cNvSpPr>
          <p:nvPr/>
        </p:nvSpPr>
        <p:spPr>
          <a:xfrm xmlns:a="http://schemas.openxmlformats.org/drawingml/2006/main">
            <a:off x="5400675" y="2762250"/>
            <a:ext cx="6181725"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2" name="Stakeholder demonstrations">
            <a:extLst xmlns:a="http://schemas.openxmlformats.org/drawingml/2006/main">
              <a:ext uri="{FF2B5EF4-FFF2-40B4-BE49-F238E27FC236}">
                <a16:creationId xmlns:a16="http://schemas.microsoft.com/office/drawing/2014/main" id="{855FF5F9-53FD-4E6A-B48B-F7B002CE01EA}"/>
              </a:ext>
            </a:extLst>
          </p:cNvPr>
          <p:cNvSpPr>
            <a:spLocks xmlns:a="http://schemas.openxmlformats.org/drawingml/2006/main" noGrp="1"/>
          </p:cNvSpPr>
          <p:nvPr/>
        </p:nvSpPr>
        <p:spPr>
          <a:xfrm xmlns:a="http://schemas.openxmlformats.org/drawingml/2006/main">
            <a:off x="5400675" y="2914650"/>
            <a:ext cx="6181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1">
                <a:solidFill>
                  <a:srgbClr val="142137"/>
                </a:solidFill>
                <a:latin typeface="Arial"/>
                <a:ea typeface="Arial"/>
                <a:cs typeface="Arial"/>
              </a:defRPr>
            </a:pPr>
            <a:r>
              <a:rPr sz="1725" b="1">
                <a:solidFill>
                  <a:srgbClr val="142137"/>
                </a:solidFill>
                <a:latin typeface="Arial"/>
                <a:ea typeface="Arial"/>
                <a:cs typeface="Arial"/>
              </a:rPr>
              <a:t>Stakeholder demonstrations</a:t>
            </a:r>
          </a:p>
        </p:txBody>
      </p:sp>
      <p:sp>
        <p:nvSpPr>
          <p:cNvPr id="13" name="Presented at BESIL’s Noida office and joined project demo meeting">
            <a:extLst xmlns:a="http://schemas.openxmlformats.org/drawingml/2006/main">
              <a:ext uri="{FF2B5EF4-FFF2-40B4-BE49-F238E27FC236}">
                <a16:creationId xmlns:a16="http://schemas.microsoft.com/office/drawing/2014/main" id="{DFC15C3B-9CBA-49A5-9DF1-923704FBEDB8}"/>
              </a:ext>
            </a:extLst>
          </p:cNvPr>
          <p:cNvSpPr>
            <a:spLocks xmlns:a="http://schemas.openxmlformats.org/drawingml/2006/main" noGrp="1"/>
          </p:cNvSpPr>
          <p:nvPr/>
        </p:nvSpPr>
        <p:spPr>
          <a:xfrm xmlns:a="http://schemas.openxmlformats.org/drawingml/2006/main">
            <a:off x="5400675" y="3257550"/>
            <a:ext cx="61817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Presented at BESIL’s Noida office and joined project demo meetings.</a:t>
            </a:r>
          </a:p>
        </p:txBody>
      </p:sp>
      <p:sp>
        <p:nvSpPr>
          <p:cNvPr id="14" name="">
            <a:extLst xmlns:a="http://schemas.openxmlformats.org/drawingml/2006/main">
              <a:ext uri="{FF2B5EF4-FFF2-40B4-BE49-F238E27FC236}">
                <a16:creationId xmlns:a16="http://schemas.microsoft.com/office/drawing/2014/main" id="{BED46FBA-C0D8-4D54-B2EA-5E060812AFA3}"/>
              </a:ext>
            </a:extLst>
          </p:cNvPr>
          <p:cNvSpPr>
            <a:spLocks xmlns:a="http://schemas.openxmlformats.org/drawingml/2006/main" noGrp="1"/>
          </p:cNvSpPr>
          <p:nvPr/>
        </p:nvSpPr>
        <p:spPr>
          <a:xfrm xmlns:a="http://schemas.openxmlformats.org/drawingml/2006/main">
            <a:off x="5400675" y="3695700"/>
            <a:ext cx="6181725"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On-ground demo support">
            <a:extLst xmlns:a="http://schemas.openxmlformats.org/drawingml/2006/main">
              <a:ext uri="{FF2B5EF4-FFF2-40B4-BE49-F238E27FC236}">
                <a16:creationId xmlns:a16="http://schemas.microsoft.com/office/drawing/2014/main" id="{6AA5955B-4CB7-4B7D-A206-CC11D7B893B1}"/>
              </a:ext>
            </a:extLst>
          </p:cNvPr>
          <p:cNvSpPr>
            <a:spLocks xmlns:a="http://schemas.openxmlformats.org/drawingml/2006/main" noGrp="1"/>
          </p:cNvSpPr>
          <p:nvPr/>
        </p:nvSpPr>
        <p:spPr>
          <a:xfrm xmlns:a="http://schemas.openxmlformats.org/drawingml/2006/main">
            <a:off x="5400675" y="3848100"/>
            <a:ext cx="6181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1">
                <a:solidFill>
                  <a:srgbClr val="142137"/>
                </a:solidFill>
                <a:latin typeface="Arial"/>
                <a:ea typeface="Arial"/>
                <a:cs typeface="Arial"/>
              </a:defRPr>
            </a:pPr>
            <a:r>
              <a:rPr sz="1725" b="1">
                <a:solidFill>
                  <a:srgbClr val="142137"/>
                </a:solidFill>
                <a:latin typeface="Arial"/>
                <a:ea typeface="Arial"/>
                <a:cs typeface="Arial"/>
              </a:rPr>
              <a:t>On-ground demo support</a:t>
            </a:r>
          </a:p>
        </p:txBody>
      </p:sp>
      <p:sp>
        <p:nvSpPr>
          <p:cNvPr id="16" name="Supported Ritesh sir during the Madhya Pradesh demonstration.">
            <a:extLst xmlns:a="http://schemas.openxmlformats.org/drawingml/2006/main">
              <a:ext uri="{FF2B5EF4-FFF2-40B4-BE49-F238E27FC236}">
                <a16:creationId xmlns:a16="http://schemas.microsoft.com/office/drawing/2014/main" id="{E3CB37D4-2778-417C-BAEC-870A7F1D336B}"/>
              </a:ext>
            </a:extLst>
          </p:cNvPr>
          <p:cNvSpPr>
            <a:spLocks xmlns:a="http://schemas.openxmlformats.org/drawingml/2006/main" noGrp="1"/>
          </p:cNvSpPr>
          <p:nvPr/>
        </p:nvSpPr>
        <p:spPr>
          <a:xfrm xmlns:a="http://schemas.openxmlformats.org/drawingml/2006/main">
            <a:off x="5400675" y="4191000"/>
            <a:ext cx="61817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Supported the team lead during the Madhya Pradesh demonstration.</a:t>
            </a:r>
          </a:p>
        </p:txBody>
      </p:sp>
      <p:sp>
        <p:nvSpPr>
          <p:cNvPr id="17" name="">
            <a:extLst xmlns:a="http://schemas.openxmlformats.org/drawingml/2006/main">
              <a:ext uri="{FF2B5EF4-FFF2-40B4-BE49-F238E27FC236}">
                <a16:creationId xmlns:a16="http://schemas.microsoft.com/office/drawing/2014/main" id="{78DD5E16-7151-4E9A-BC6B-3CB64C06AF42}"/>
              </a:ext>
            </a:extLst>
          </p:cNvPr>
          <p:cNvSpPr>
            <a:spLocks xmlns:a="http://schemas.openxmlformats.org/drawingml/2006/main" noGrp="1"/>
          </p:cNvSpPr>
          <p:nvPr/>
        </p:nvSpPr>
        <p:spPr>
          <a:xfrm xmlns:a="http://schemas.openxmlformats.org/drawingml/2006/main">
            <a:off x="5400675" y="4629150"/>
            <a:ext cx="6181725"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8" name="Follow-through">
            <a:extLst xmlns:a="http://schemas.openxmlformats.org/drawingml/2006/main">
              <a:ext uri="{FF2B5EF4-FFF2-40B4-BE49-F238E27FC236}">
                <a16:creationId xmlns:a16="http://schemas.microsoft.com/office/drawing/2014/main" id="{2C700E44-C1E7-451F-A258-D234F431AB7A}"/>
              </a:ext>
            </a:extLst>
          </p:cNvPr>
          <p:cNvSpPr>
            <a:spLocks xmlns:a="http://schemas.openxmlformats.org/drawingml/2006/main" noGrp="1"/>
          </p:cNvSpPr>
          <p:nvPr/>
        </p:nvSpPr>
        <p:spPr>
          <a:xfrm xmlns:a="http://schemas.openxmlformats.org/drawingml/2006/main">
            <a:off x="5400675" y="4781550"/>
            <a:ext cx="61817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1">
                <a:solidFill>
                  <a:srgbClr val="142137"/>
                </a:solidFill>
                <a:latin typeface="Arial"/>
                <a:ea typeface="Arial"/>
                <a:cs typeface="Arial"/>
              </a:defRPr>
            </a:pPr>
            <a:r>
              <a:rPr sz="1725" b="1">
                <a:solidFill>
                  <a:srgbClr val="142137"/>
                </a:solidFill>
                <a:latin typeface="Arial"/>
                <a:ea typeface="Arial"/>
                <a:cs typeface="Arial"/>
              </a:rPr>
              <a:t>Follow-through</a:t>
            </a:r>
          </a:p>
        </p:txBody>
      </p:sp>
      <p:sp>
        <p:nvSpPr>
          <p:cNvPr id="19" name="Helped with documentation and post-demo updates.">
            <a:extLst xmlns:a="http://schemas.openxmlformats.org/drawingml/2006/main">
              <a:ext uri="{FF2B5EF4-FFF2-40B4-BE49-F238E27FC236}">
                <a16:creationId xmlns:a16="http://schemas.microsoft.com/office/drawing/2014/main" id="{22C7C25A-EEB4-437F-BECB-C69D8BE2D9FE}"/>
              </a:ext>
            </a:extLst>
          </p:cNvPr>
          <p:cNvSpPr>
            <a:spLocks xmlns:a="http://schemas.openxmlformats.org/drawingml/2006/main" noGrp="1"/>
          </p:cNvSpPr>
          <p:nvPr/>
        </p:nvSpPr>
        <p:spPr>
          <a:xfrm xmlns:a="http://schemas.openxmlformats.org/drawingml/2006/main">
            <a:off x="5400675" y="5124450"/>
            <a:ext cx="618172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Helped with documentation and post-demo updates.</a:t>
            </a:r>
          </a:p>
        </p:txBody>
      </p:sp>
    </p:spTree>
    <p:extLst>
      <p:ext uri="{BB962C8B-B14F-4D97-AF65-F5344CB8AC3E}">
        <p14:creationId xmlns:p14="http://schemas.microsoft.com/office/powerpoint/2010/main" val="13723284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TAPE / CONTRIBUTION EVIDENCE">
            <a:extLst xmlns:a="http://schemas.openxmlformats.org/drawingml/2006/main">
              <a:ext uri="{FF2B5EF4-FFF2-40B4-BE49-F238E27FC236}">
                <a16:creationId xmlns:a16="http://schemas.microsoft.com/office/drawing/2014/main" id="{2F92AE01-2006-4F5C-8718-D56171BD340E}"/>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RTAPE / CONTRIBUTION EVIDENCE</a:t>
            </a:r>
          </a:p>
        </p:txBody>
      </p:sp>
      <p:sp>
        <p:nvSpPr>
          <p:cNvPr id="2" name="ATLANTA SYSTEMS">
            <a:extLst xmlns:a="http://schemas.openxmlformats.org/drawingml/2006/main">
              <a:ext uri="{FF2B5EF4-FFF2-40B4-BE49-F238E27FC236}">
                <a16:creationId xmlns:a16="http://schemas.microsoft.com/office/drawing/2014/main" id="{4E5C6D66-664E-4C7B-A527-8062E5A0D0D4}"/>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Supplied repository snapshot. Commit and file counts describe act">
            <a:extLst xmlns:a="http://schemas.openxmlformats.org/drawingml/2006/main">
              <a:ext uri="{FF2B5EF4-FFF2-40B4-BE49-F238E27FC236}">
                <a16:creationId xmlns:a16="http://schemas.microsoft.com/office/drawing/2014/main" id="{0302AFA5-94CC-4B5D-9079-04C44025BE83}"/>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Supplied repository snapshot. Commit and file counts describe activity, not production impact.</a:t>
            </a:r>
          </a:p>
        </p:txBody>
      </p:sp>
      <p:sp>
        <p:nvSpPr>
          <p:cNvPr id="4" name="07 / 18">
            <a:extLst xmlns:a="http://schemas.openxmlformats.org/drawingml/2006/main">
              <a:ext uri="{FF2B5EF4-FFF2-40B4-BE49-F238E27FC236}">
                <a16:creationId xmlns:a16="http://schemas.microsoft.com/office/drawing/2014/main" id="{241F680C-DCEE-44BE-BA9C-DBF050799F50}"/>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07 / 18</a:t>
            </a:r>
          </a:p>
        </p:txBody>
      </p:sp>
      <p:sp>
        <p:nvSpPr>
          <p:cNvPr id="5" name="A sustained contribution to RTape">
            <a:extLst xmlns:a="http://schemas.openxmlformats.org/drawingml/2006/main">
              <a:ext uri="{FF2B5EF4-FFF2-40B4-BE49-F238E27FC236}">
                <a16:creationId xmlns:a16="http://schemas.microsoft.com/office/drawing/2014/main" id="{1CC1344A-8A10-4930-8891-C636EA410594}"/>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A sustained contribution to RTape</a:t>
            </a:r>
          </a:p>
        </p:txBody>
      </p:sp>
      <p:sp>
        <p:nvSpPr>
          <p:cNvPr id="7" name="280">
            <a:extLst xmlns:a="http://schemas.openxmlformats.org/drawingml/2006/main">
              <a:ext uri="{FF2B5EF4-FFF2-40B4-BE49-F238E27FC236}">
                <a16:creationId xmlns:a16="http://schemas.microsoft.com/office/drawing/2014/main" id="{ABB7B88E-29EA-4409-B9C5-5B1D51F05A75}"/>
              </a:ext>
            </a:extLst>
          </p:cNvPr>
          <p:cNvSpPr>
            <a:spLocks xmlns:a="http://schemas.openxmlformats.org/drawingml/2006/main" noGrp="1"/>
          </p:cNvSpPr>
          <p:nvPr/>
        </p:nvSpPr>
        <p:spPr>
          <a:xfrm xmlns:a="http://schemas.openxmlformats.org/drawingml/2006/main">
            <a:off x="609600" y="2457450"/>
            <a:ext cx="33718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500" b="1">
                <a:solidFill>
                  <a:srgbClr val="245EE8"/>
                </a:solidFill>
                <a:latin typeface="Arial"/>
                <a:ea typeface="Arial"/>
                <a:cs typeface="Arial"/>
              </a:defRPr>
            </a:pPr>
            <a:r>
              <a:rPr sz="7500" b="1">
                <a:solidFill>
                  <a:srgbClr val="245EE8"/>
                </a:solidFill>
                <a:latin typeface="Arial"/>
                <a:ea typeface="Arial"/>
                <a:cs typeface="Arial"/>
              </a:rPr>
              <a:t>280</a:t>
            </a:r>
          </a:p>
        </p:txBody>
      </p:sp>
      <p:sp>
        <p:nvSpPr>
          <p:cNvPr id="8" name="Attributed commits">
            <a:extLst xmlns:a="http://schemas.openxmlformats.org/drawingml/2006/main">
              <a:ext uri="{FF2B5EF4-FFF2-40B4-BE49-F238E27FC236}">
                <a16:creationId xmlns:a16="http://schemas.microsoft.com/office/drawing/2014/main" id="{998F57A6-4FE8-40EA-A6C6-9E224C7872EC}"/>
              </a:ext>
            </a:extLst>
          </p:cNvPr>
          <p:cNvSpPr>
            <a:spLocks xmlns:a="http://schemas.openxmlformats.org/drawingml/2006/main" noGrp="1"/>
          </p:cNvSpPr>
          <p:nvPr/>
        </p:nvSpPr>
        <p:spPr>
          <a:xfrm xmlns:a="http://schemas.openxmlformats.org/drawingml/2006/main">
            <a:off x="609600" y="3733800"/>
            <a:ext cx="33718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Attributed commits</a:t>
            </a:r>
          </a:p>
        </p:txBody>
      </p:sp>
      <p:sp>
        <p:nvSpPr>
          <p:cNvPr id="9" name="Across the reviewed branch’s lifetime">
            <a:extLst xmlns:a="http://schemas.openxmlformats.org/drawingml/2006/main">
              <a:ext uri="{FF2B5EF4-FFF2-40B4-BE49-F238E27FC236}">
                <a16:creationId xmlns:a16="http://schemas.microsoft.com/office/drawing/2014/main" id="{14842A91-7640-43D1-9554-56BFECB7A73B}"/>
              </a:ext>
            </a:extLst>
          </p:cNvPr>
          <p:cNvSpPr>
            <a:spLocks xmlns:a="http://schemas.openxmlformats.org/drawingml/2006/main" noGrp="1"/>
          </p:cNvSpPr>
          <p:nvPr/>
        </p:nvSpPr>
        <p:spPr>
          <a:xfrm xmlns:a="http://schemas.openxmlformats.org/drawingml/2006/main">
            <a:off x="609600" y="4162425"/>
            <a:ext cx="323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00" b="0">
                <a:solidFill>
                  <a:srgbClr val="56647A"/>
                </a:solidFill>
                <a:latin typeface="Arial"/>
                <a:ea typeface="Arial"/>
                <a:cs typeface="Arial"/>
              </a:defRPr>
            </a:pPr>
            <a:r>
              <a:rPr sz="1500" b="0">
                <a:solidFill>
                  <a:srgbClr val="56647A"/>
                </a:solidFill>
                <a:latin typeface="Arial"/>
                <a:ea typeface="Arial"/>
                <a:cs typeface="Arial"/>
              </a:rPr>
              <a:t>Across the reviewed branch’s lifetime</a:t>
            </a:r>
          </a:p>
        </p:txBody>
      </p:sp>
      <p:sp>
        <p:nvSpPr>
          <p:cNvPr id="10" name="89">
            <a:extLst xmlns:a="http://schemas.openxmlformats.org/drawingml/2006/main">
              <a:ext uri="{FF2B5EF4-FFF2-40B4-BE49-F238E27FC236}">
                <a16:creationId xmlns:a16="http://schemas.microsoft.com/office/drawing/2014/main" id="{C7FE4C41-29FA-46D3-B282-162C66071EDF}"/>
              </a:ext>
            </a:extLst>
          </p:cNvPr>
          <p:cNvSpPr>
            <a:spLocks xmlns:a="http://schemas.openxmlformats.org/drawingml/2006/main" noGrp="1"/>
          </p:cNvSpPr>
          <p:nvPr/>
        </p:nvSpPr>
        <p:spPr>
          <a:xfrm xmlns:a="http://schemas.openxmlformats.org/drawingml/2006/main">
            <a:off x="4352925" y="2457450"/>
            <a:ext cx="33718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500" b="1">
                <a:solidFill>
                  <a:srgbClr val="245EE8"/>
                </a:solidFill>
                <a:latin typeface="Arial"/>
                <a:ea typeface="Arial"/>
                <a:cs typeface="Arial"/>
              </a:defRPr>
            </a:pPr>
            <a:r>
              <a:rPr sz="7500" b="1">
                <a:solidFill>
                  <a:srgbClr val="245EE8"/>
                </a:solidFill>
                <a:latin typeface="Arial"/>
                <a:ea typeface="Arial"/>
                <a:cs typeface="Arial"/>
              </a:rPr>
              <a:t>89</a:t>
            </a:r>
          </a:p>
        </p:txBody>
      </p:sp>
      <p:sp>
        <p:nvSpPr>
          <p:cNvPr id="11" name="Commits during 2026">
            <a:extLst xmlns:a="http://schemas.openxmlformats.org/drawingml/2006/main">
              <a:ext uri="{FF2B5EF4-FFF2-40B4-BE49-F238E27FC236}">
                <a16:creationId xmlns:a16="http://schemas.microsoft.com/office/drawing/2014/main" id="{6E7889EE-7320-4F02-B9EF-D4147FDF12F0}"/>
              </a:ext>
            </a:extLst>
          </p:cNvPr>
          <p:cNvSpPr>
            <a:spLocks xmlns:a="http://schemas.openxmlformats.org/drawingml/2006/main" noGrp="1"/>
          </p:cNvSpPr>
          <p:nvPr/>
        </p:nvSpPr>
        <p:spPr>
          <a:xfrm xmlns:a="http://schemas.openxmlformats.org/drawingml/2006/main">
            <a:off x="4352925" y="3733800"/>
            <a:ext cx="33718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Commits during 2026</a:t>
            </a:r>
          </a:p>
        </p:txBody>
      </p:sp>
      <p:sp>
        <p:nvSpPr>
          <p:cNvPr id="12" name="About 64% of 2026 project commits">
            <a:extLst xmlns:a="http://schemas.openxmlformats.org/drawingml/2006/main">
              <a:ext uri="{FF2B5EF4-FFF2-40B4-BE49-F238E27FC236}">
                <a16:creationId xmlns:a16="http://schemas.microsoft.com/office/drawing/2014/main" id="{0D7A90A1-B84F-4BB4-A4FC-123FA4AC81E1}"/>
              </a:ext>
            </a:extLst>
          </p:cNvPr>
          <p:cNvSpPr>
            <a:spLocks xmlns:a="http://schemas.openxmlformats.org/drawingml/2006/main" noGrp="1"/>
          </p:cNvSpPr>
          <p:nvPr/>
        </p:nvSpPr>
        <p:spPr>
          <a:xfrm xmlns:a="http://schemas.openxmlformats.org/drawingml/2006/main">
            <a:off x="4352925" y="4162425"/>
            <a:ext cx="323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00" b="0">
                <a:solidFill>
                  <a:srgbClr val="56647A"/>
                </a:solidFill>
                <a:latin typeface="Arial"/>
                <a:ea typeface="Arial"/>
                <a:cs typeface="Arial"/>
              </a:defRPr>
            </a:pPr>
            <a:r>
              <a:rPr sz="1500" b="0">
                <a:solidFill>
                  <a:srgbClr val="56647A"/>
                </a:solidFill>
                <a:latin typeface="Arial"/>
                <a:ea typeface="Arial"/>
                <a:cs typeface="Arial"/>
              </a:rPr>
              <a:t>About 64% of 2026 project commits</a:t>
            </a:r>
          </a:p>
        </p:txBody>
      </p:sp>
      <p:sp>
        <p:nvSpPr>
          <p:cNvPr id="13" name="168">
            <a:extLst xmlns:a="http://schemas.openxmlformats.org/drawingml/2006/main">
              <a:ext uri="{FF2B5EF4-FFF2-40B4-BE49-F238E27FC236}">
                <a16:creationId xmlns:a16="http://schemas.microsoft.com/office/drawing/2014/main" id="{7F3A927A-6258-4628-A005-56FB6D570147}"/>
              </a:ext>
            </a:extLst>
          </p:cNvPr>
          <p:cNvSpPr>
            <a:spLocks xmlns:a="http://schemas.openxmlformats.org/drawingml/2006/main" noGrp="1"/>
          </p:cNvSpPr>
          <p:nvPr/>
        </p:nvSpPr>
        <p:spPr>
          <a:xfrm xmlns:a="http://schemas.openxmlformats.org/drawingml/2006/main">
            <a:off x="8096250" y="2457450"/>
            <a:ext cx="33718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7500" b="1">
                <a:solidFill>
                  <a:srgbClr val="245EE8"/>
                </a:solidFill>
                <a:latin typeface="Arial"/>
                <a:ea typeface="Arial"/>
                <a:cs typeface="Arial"/>
              </a:defRPr>
            </a:pPr>
            <a:r>
              <a:rPr sz="7500" b="1">
                <a:solidFill>
                  <a:srgbClr val="245EE8"/>
                </a:solidFill>
                <a:latin typeface="Arial"/>
                <a:ea typeface="Arial"/>
                <a:cs typeface="Arial"/>
              </a:rPr>
              <a:t>168</a:t>
            </a:r>
          </a:p>
        </p:txBody>
      </p:sp>
      <p:sp>
        <p:nvSpPr>
          <p:cNvPr id="14" name="Unique files changed">
            <a:extLst xmlns:a="http://schemas.openxmlformats.org/drawingml/2006/main">
              <a:ext uri="{FF2B5EF4-FFF2-40B4-BE49-F238E27FC236}">
                <a16:creationId xmlns:a16="http://schemas.microsoft.com/office/drawing/2014/main" id="{F0702648-A5C8-4A5F-AE04-181E5BD15F58}"/>
              </a:ext>
            </a:extLst>
          </p:cNvPr>
          <p:cNvSpPr>
            <a:spLocks xmlns:a="http://schemas.openxmlformats.org/drawingml/2006/main" noGrp="1"/>
          </p:cNvSpPr>
          <p:nvPr/>
        </p:nvSpPr>
        <p:spPr>
          <a:xfrm xmlns:a="http://schemas.openxmlformats.org/drawingml/2006/main">
            <a:off x="8096250" y="3733800"/>
            <a:ext cx="33718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Unique files changed</a:t>
            </a:r>
          </a:p>
        </p:txBody>
      </p:sp>
      <p:sp>
        <p:nvSpPr>
          <p:cNvPr id="15" name="During the 2026 review period">
            <a:extLst xmlns:a="http://schemas.openxmlformats.org/drawingml/2006/main">
              <a:ext uri="{FF2B5EF4-FFF2-40B4-BE49-F238E27FC236}">
                <a16:creationId xmlns:a16="http://schemas.microsoft.com/office/drawing/2014/main" id="{15FEE591-56F9-467E-908C-15E5C9CD86FE}"/>
              </a:ext>
            </a:extLst>
          </p:cNvPr>
          <p:cNvSpPr>
            <a:spLocks xmlns:a="http://schemas.openxmlformats.org/drawingml/2006/main" noGrp="1"/>
          </p:cNvSpPr>
          <p:nvPr/>
        </p:nvSpPr>
        <p:spPr>
          <a:xfrm xmlns:a="http://schemas.openxmlformats.org/drawingml/2006/main">
            <a:off x="8096250" y="4162425"/>
            <a:ext cx="323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00" b="0">
                <a:solidFill>
                  <a:srgbClr val="56647A"/>
                </a:solidFill>
                <a:latin typeface="Arial"/>
                <a:ea typeface="Arial"/>
                <a:cs typeface="Arial"/>
              </a:defRPr>
            </a:pPr>
            <a:r>
              <a:rPr sz="1500" b="0">
                <a:solidFill>
                  <a:srgbClr val="56647A"/>
                </a:solidFill>
                <a:latin typeface="Arial"/>
                <a:ea typeface="Arial"/>
                <a:cs typeface="Arial"/>
              </a:rPr>
              <a:t>During the 2026 review period</a:t>
            </a:r>
          </a:p>
        </p:txBody>
      </p:sp>
      <p:sp>
        <p:nvSpPr>
          <p:cNvPr id="16" name="">
            <a:extLst xmlns:a="http://schemas.openxmlformats.org/drawingml/2006/main">
              <a:ext uri="{FF2B5EF4-FFF2-40B4-BE49-F238E27FC236}">
                <a16:creationId xmlns:a16="http://schemas.microsoft.com/office/drawing/2014/main" id="{7A04A286-B41E-4088-BED5-593A1146F03E}"/>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17" name="Feature development continued alongside refactoring, issue resolu">
            <a:extLst xmlns:a="http://schemas.openxmlformats.org/drawingml/2006/main">
              <a:ext uri="{FF2B5EF4-FFF2-40B4-BE49-F238E27FC236}">
                <a16:creationId xmlns:a16="http://schemas.microsoft.com/office/drawing/2014/main" id="{2EDE62B6-D8AE-49B7-801E-9F1335FFEFD9}"/>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Feature development continued alongside refactoring, issue resolution and stakeholder changes.</a:t>
            </a:r>
          </a:p>
        </p:txBody>
      </p:sp>
    </p:spTree>
    <p:extLst>
      <p:ext uri="{BB962C8B-B14F-4D97-AF65-F5344CB8AC3E}">
        <p14:creationId xmlns:p14="http://schemas.microsoft.com/office/powerpoint/2010/main" val="15894867"/>
      </p:ext>
    </p:extLst>
  </p:cSld>
</p:sld>
</file>

<file path=ppt/slides/slide8.xml><?xml version="1.0" encoding="utf-8"?>
<p:sld xmlns:p="http://schemas.openxmlformats.org/presentationml/2006/main">
  <p:cSld>
    <p:bg>
      <p:bgPr>
        <a:solidFill xmlns:a="http://schemas.openxmlformats.org/drawingml/2006/main">
          <a:srgbClr val="132238"/>
        </a:solidFill>
      </p:bgPr>
    </p:bg>
    <p:spTree>
      <p:nvGrpSpPr>
        <p:cNvPr id="1" name=""/>
        <p:cNvGrpSpPr/>
        <p:nvPr/>
      </p:nvGrpSpPr>
      <p:grpSpPr>
        <a:xfrm xmlns:a="http://schemas.openxmlformats.org/drawingml/2006/main"/>
      </p:grpSpPr>
      <p:sp>
        <p:nvSpPr>
          <p:cNvPr id="15" name="PROJECT 02 / ITMS">
            <a:extLst xmlns:a="http://schemas.openxmlformats.org/drawingml/2006/main">
              <a:ext uri="{FF2B5EF4-FFF2-40B4-BE49-F238E27FC236}">
                <a16:creationId xmlns:a16="http://schemas.microsoft.com/office/drawing/2014/main" id="{62D126F5-53FA-4258-B269-9FA1BE0F3DE5}"/>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83AAFF"/>
                </a:solidFill>
                <a:latin typeface="Arial"/>
                <a:ea typeface="Arial"/>
                <a:cs typeface="Arial"/>
              </a:defRPr>
            </a:pPr>
            <a:r>
              <a:rPr sz="975" b="1">
                <a:solidFill>
                  <a:srgbClr val="83AAFF"/>
                </a:solidFill>
                <a:latin typeface="Arial"/>
                <a:ea typeface="Arial"/>
                <a:cs typeface="Arial"/>
              </a:rPr>
              <a:t>PROJECT 02 / ITMS</a:t>
            </a:r>
          </a:p>
        </p:txBody>
      </p:sp>
      <p:sp>
        <p:nvSpPr>
          <p:cNvPr id="2" name="ATLANTA SYSTEMS">
            <a:extLst xmlns:a="http://schemas.openxmlformats.org/drawingml/2006/main">
              <a:ext uri="{FF2B5EF4-FFF2-40B4-BE49-F238E27FC236}">
                <a16:creationId xmlns:a16="http://schemas.microsoft.com/office/drawing/2014/main" id="{2BEFAFF6-7A8D-4894-A81E-097F93EC9479}"/>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B3C0D3"/>
                </a:solidFill>
                <a:latin typeface="Arial"/>
                <a:ea typeface="Arial"/>
                <a:cs typeface="Arial"/>
              </a:defRPr>
            </a:pPr>
            <a:r>
              <a:rPr sz="900" b="1">
                <a:solidFill>
                  <a:srgbClr val="B3C0D3"/>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B085A93D-BD47-4979-A45C-A58B5021CBBF}"/>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B3C0D3"/>
                </a:solidFill>
                <a:latin typeface="Arial"/>
                <a:ea typeface="Arial"/>
                <a:cs typeface="Arial"/>
              </a:defRPr>
            </a:pPr>
            <a:r>
              <a:rPr sz="975" b="0">
                <a:solidFill>
                  <a:srgbClr val="B3C0D3"/>
                </a:solidFill>
                <a:latin typeface="Arial"/>
                <a:ea typeface="Arial"/>
                <a:cs typeface="Arial"/>
              </a:rPr>
              <a:t>Manish Kumar / Annual performance review</a:t>
            </a:r>
          </a:p>
        </p:txBody>
      </p:sp>
      <p:sp>
        <p:nvSpPr>
          <p:cNvPr id="4" name="08 / 18">
            <a:extLst xmlns:a="http://schemas.openxmlformats.org/drawingml/2006/main">
              <a:ext uri="{FF2B5EF4-FFF2-40B4-BE49-F238E27FC236}">
                <a16:creationId xmlns:a16="http://schemas.microsoft.com/office/drawing/2014/main" id="{D04F18AC-9E9D-4F36-800F-9E071D66DA94}"/>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B3C0D3"/>
                </a:solidFill>
                <a:latin typeface="Arial"/>
                <a:ea typeface="Arial"/>
                <a:cs typeface="Arial"/>
              </a:defRPr>
            </a:pPr>
            <a:r>
              <a:rPr sz="1125" b="0">
                <a:solidFill>
                  <a:srgbClr val="B3C0D3"/>
                </a:solidFill>
                <a:latin typeface="Arial"/>
                <a:ea typeface="Arial"/>
                <a:cs typeface="Arial"/>
              </a:rPr>
              <a:t>08 / 18</a:t>
            </a:r>
          </a:p>
        </p:txBody>
      </p:sp>
      <p:sp>
        <p:nvSpPr>
          <p:cNvPr id="5" name="Architecture and delivery&#10;for transport operations">
            <a:extLst xmlns:a="http://schemas.openxmlformats.org/drawingml/2006/main">
              <a:ext uri="{FF2B5EF4-FFF2-40B4-BE49-F238E27FC236}">
                <a16:creationId xmlns:a16="http://schemas.microsoft.com/office/drawing/2014/main" id="{50A76697-442A-4584-9948-A0D344AE2AD2}"/>
              </a:ext>
            </a:extLst>
          </p:cNvPr>
          <p:cNvSpPr>
            <a:spLocks xmlns:a="http://schemas.openxmlformats.org/drawingml/2006/main" noGrp="1"/>
          </p:cNvSpPr>
          <p:nvPr/>
        </p:nvSpPr>
        <p:spPr>
          <a:xfrm xmlns:a="http://schemas.openxmlformats.org/drawingml/2006/main">
            <a:off x="609600" y="87630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F6F8FC"/>
                </a:solidFill>
                <a:latin typeface="Arial"/>
                <a:ea typeface="Arial"/>
                <a:cs typeface="Arial"/>
              </a:defRPr>
            </a:pPr>
            <a:r>
              <a:rPr sz="3675" b="1">
                <a:solidFill>
                  <a:srgbClr val="F6F8FC"/>
                </a:solidFill>
                <a:latin typeface="Arial"/>
                <a:ea typeface="Arial"/>
                <a:cs typeface="Arial"/>
              </a:rPr>
              <a:t>The complete frontend,</a:t>
            </a:r>
          </a:p>
          <a:p xmlns:a="http://schemas.openxmlformats.org/drawingml/2006/main">
            <a:pPr algn="l">
              <a:lnSpc>
                <a:spcPct val="110000"/>
              </a:lnSpc>
              <a:buNone/>
              <a:defRPr sz="3675" b="1">
                <a:solidFill>
                  <a:srgbClr val="F6F8FC"/>
                </a:solidFill>
                <a:latin typeface="Arial"/>
                <a:ea typeface="Arial"/>
                <a:cs typeface="Arial"/>
              </a:defRPr>
            </a:pPr>
            <a:r>
              <a:rPr sz="3675" b="1">
                <a:solidFill>
                  <a:srgbClr val="F6F8FC"/>
                </a:solidFill>
                <a:latin typeface="Arial"/>
                <a:ea typeface="Arial"/>
                <a:cs typeface="Arial"/>
              </a:rPr>
              <a:t>built from scratch</a:t>
            </a:r>
          </a:p>
        </p:txBody>
      </p:sp>
      <p:sp>
        <p:nvSpPr>
          <p:cNvPr id="6" name="A multi-role bus management frontend built by a two-member team">
            <a:extLst xmlns:a="http://schemas.openxmlformats.org/drawingml/2006/main">
              <a:ext uri="{FF2B5EF4-FFF2-40B4-BE49-F238E27FC236}">
                <a16:creationId xmlns:a16="http://schemas.microsoft.com/office/drawing/2014/main" id="{D19653EB-8E49-4AA1-9D59-04F55853C9E8}"/>
              </a:ext>
            </a:extLst>
          </p:cNvPr>
          <p:cNvSpPr>
            <a:spLocks xmlns:a="http://schemas.openxmlformats.org/drawingml/2006/main" noGrp="1"/>
          </p:cNvSpPr>
          <p:nvPr/>
        </p:nvSpPr>
        <p:spPr>
          <a:xfrm xmlns:a="http://schemas.openxmlformats.org/drawingml/2006/main">
            <a:off x="609600" y="21050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B3C0D3"/>
                </a:solidFill>
                <a:latin typeface="Arial"/>
                <a:ea typeface="Arial"/>
                <a:cs typeface="Arial"/>
              </a:defRPr>
            </a:pPr>
            <a:r>
              <a:rPr sz="1650" b="0">
                <a:solidFill>
                  <a:srgbClr val="B3C0D3"/>
                </a:solidFill>
                <a:latin typeface="Arial"/>
                <a:ea typeface="Arial"/>
                <a:cs typeface="Arial"/>
              </a:rPr>
              <a:t>A multi-role bus management platform with sole frontend ownership</a:t>
            </a:r>
          </a:p>
        </p:txBody>
      </p:sp>
      <p:sp>
        <p:nvSpPr>
          <p:cNvPr id="7" name="I planned the frontend and worked on features end to end.">
            <a:extLst xmlns:a="http://schemas.openxmlformats.org/drawingml/2006/main">
              <a:ext uri="{FF2B5EF4-FFF2-40B4-BE49-F238E27FC236}">
                <a16:creationId xmlns:a16="http://schemas.microsoft.com/office/drawing/2014/main" id="{6FBFC337-5865-45B9-B7C6-99EE4D0DD3A6}"/>
              </a:ext>
            </a:extLst>
          </p:cNvPr>
          <p:cNvSpPr>
            <a:spLocks xmlns:a="http://schemas.openxmlformats.org/drawingml/2006/main" noGrp="1"/>
          </p:cNvSpPr>
          <p:nvPr/>
        </p:nvSpPr>
        <p:spPr>
          <a:xfrm xmlns:a="http://schemas.openxmlformats.org/drawingml/2006/main">
            <a:off x="609600" y="2819400"/>
            <a:ext cx="4048125"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2700" b="0">
                <a:solidFill>
                  <a:srgbClr val="83AAFF"/>
                </a:solidFill>
                <a:latin typeface="Arial"/>
                <a:ea typeface="Arial"/>
                <a:cs typeface="Arial"/>
              </a:defRPr>
            </a:pPr>
            <a:r>
              <a:rPr sz="2700" b="0">
                <a:solidFill>
                  <a:srgbClr val="83AAFF"/>
                </a:solidFill>
                <a:latin typeface="Arial"/>
                <a:ea typeface="Arial"/>
                <a:cs typeface="Arial"/>
              </a:rPr>
              <a:t>I planned and built the entire frontend from the ground up.</a:t>
            </a:r>
          </a:p>
        </p:txBody>
      </p:sp>
      <p:sp>
        <p:nvSpPr>
          <p:cNvPr id="8" name="">
            <a:extLst xmlns:a="http://schemas.openxmlformats.org/drawingml/2006/main">
              <a:ext uri="{FF2B5EF4-FFF2-40B4-BE49-F238E27FC236}">
                <a16:creationId xmlns:a16="http://schemas.microsoft.com/office/drawing/2014/main" id="{16330087-734C-45A3-BA81-1A964DFCEA38}"/>
              </a:ext>
            </a:extLst>
          </p:cNvPr>
          <p:cNvSpPr>
            <a:spLocks xmlns:a="http://schemas.openxmlformats.org/drawingml/2006/main" noGrp="1"/>
          </p:cNvSpPr>
          <p:nvPr/>
        </p:nvSpPr>
        <p:spPr>
          <a:xfrm xmlns:a="http://schemas.openxmlformats.org/drawingml/2006/main">
            <a:off x="5400675" y="2743200"/>
            <a:ext cx="6181725" cy="0"/>
          </a:xfrm>
          <a:prstGeom xmlns:a="http://schemas.openxmlformats.org/drawingml/2006/main" prst="line">
            <a:avLst/>
          </a:prstGeom>
          <a:noFill xmlns:a="http://schemas.openxmlformats.org/drawingml/2006/main"/>
          <a:ln xmlns:a="http://schemas.openxmlformats.org/drawingml/2006/main" w="9525">
            <a:solidFill>
              <a:srgbClr val="35475E"/>
            </a:solidFill>
          </a:ln>
        </p:spPr>
      </p:sp>
      <p:sp>
        <p:nvSpPr>
          <p:cNvPr id="9" name="Requirements and R&amp;D">
            <a:extLst xmlns:a="http://schemas.openxmlformats.org/drawingml/2006/main">
              <a:ext uri="{FF2B5EF4-FFF2-40B4-BE49-F238E27FC236}">
                <a16:creationId xmlns:a16="http://schemas.microsoft.com/office/drawing/2014/main" id="{C964F81F-A78F-48F4-A4DA-9B1C15AFFE23}"/>
              </a:ext>
            </a:extLst>
          </p:cNvPr>
          <p:cNvSpPr>
            <a:spLocks xmlns:a="http://schemas.openxmlformats.org/drawingml/2006/main" noGrp="1"/>
          </p:cNvSpPr>
          <p:nvPr/>
        </p:nvSpPr>
        <p:spPr>
          <a:xfrm xmlns:a="http://schemas.openxmlformats.org/drawingml/2006/main">
            <a:off x="5400675" y="290512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Requirements and R&amp;D</a:t>
            </a:r>
          </a:p>
        </p:txBody>
      </p:sp>
      <p:sp>
        <p:nvSpPr>
          <p:cNvPr id="10" name="Planned functional and non-functional requirements for the platfo">
            <a:extLst xmlns:a="http://schemas.openxmlformats.org/drawingml/2006/main">
              <a:ext uri="{FF2B5EF4-FFF2-40B4-BE49-F238E27FC236}">
                <a16:creationId xmlns:a16="http://schemas.microsoft.com/office/drawing/2014/main" id="{47FA1CFB-B606-4BAC-8038-9D4CAA94340E}"/>
              </a:ext>
            </a:extLst>
          </p:cNvPr>
          <p:cNvSpPr>
            <a:spLocks xmlns:a="http://schemas.openxmlformats.org/drawingml/2006/main" noGrp="1"/>
          </p:cNvSpPr>
          <p:nvPr/>
        </p:nvSpPr>
        <p:spPr>
          <a:xfrm xmlns:a="http://schemas.openxmlformats.org/drawingml/2006/main">
            <a:off x="5400675" y="324802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Planned functional and non-functional requirements for the platform.</a:t>
            </a:r>
          </a:p>
        </p:txBody>
      </p:sp>
      <p:sp>
        <p:nvSpPr>
          <p:cNvPr id="11" name="Frontend system design">
            <a:extLst xmlns:a="http://schemas.openxmlformats.org/drawingml/2006/main">
              <a:ext uri="{FF2B5EF4-FFF2-40B4-BE49-F238E27FC236}">
                <a16:creationId xmlns:a16="http://schemas.microsoft.com/office/drawing/2014/main" id="{3DFF874A-84BA-41B1-AE7E-0932D301DCE6}"/>
              </a:ext>
            </a:extLst>
          </p:cNvPr>
          <p:cNvSpPr>
            <a:spLocks xmlns:a="http://schemas.openxmlformats.org/drawingml/2006/main" noGrp="1"/>
          </p:cNvSpPr>
          <p:nvPr/>
        </p:nvSpPr>
        <p:spPr>
          <a:xfrm xmlns:a="http://schemas.openxmlformats.org/drawingml/2006/main">
            <a:off x="5400675" y="3848100"/>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Frontend system design</a:t>
            </a:r>
          </a:p>
        </p:txBody>
      </p:sp>
      <p:sp>
        <p:nvSpPr>
          <p:cNvPr id="12" name="Designed a maintainable structure and reusable workflow patterns.">
            <a:extLst xmlns:a="http://schemas.openxmlformats.org/drawingml/2006/main">
              <a:ext uri="{FF2B5EF4-FFF2-40B4-BE49-F238E27FC236}">
                <a16:creationId xmlns:a16="http://schemas.microsoft.com/office/drawing/2014/main" id="{FA54C55B-8EEF-4D36-AA24-E9C677A15548}"/>
              </a:ext>
            </a:extLst>
          </p:cNvPr>
          <p:cNvSpPr>
            <a:spLocks xmlns:a="http://schemas.openxmlformats.org/drawingml/2006/main" noGrp="1"/>
          </p:cNvSpPr>
          <p:nvPr/>
        </p:nvSpPr>
        <p:spPr>
          <a:xfrm xmlns:a="http://schemas.openxmlformats.org/drawingml/2006/main">
            <a:off x="5400675" y="4191000"/>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Designed a maintainable structure and reusable workflow patterns.</a:t>
            </a:r>
          </a:p>
        </p:txBody>
      </p:sp>
      <p:sp>
        <p:nvSpPr>
          <p:cNvPr id="13" name="Role-specific operations">
            <a:extLst xmlns:a="http://schemas.openxmlformats.org/drawingml/2006/main">
              <a:ext uri="{FF2B5EF4-FFF2-40B4-BE49-F238E27FC236}">
                <a16:creationId xmlns:a16="http://schemas.microsoft.com/office/drawing/2014/main" id="{2729B414-4E4D-45EB-952C-6B977E6C56EA}"/>
              </a:ext>
            </a:extLst>
          </p:cNvPr>
          <p:cNvSpPr>
            <a:spLocks xmlns:a="http://schemas.openxmlformats.org/drawingml/2006/main" noGrp="1"/>
          </p:cNvSpPr>
          <p:nvPr/>
        </p:nvSpPr>
        <p:spPr>
          <a:xfrm xmlns:a="http://schemas.openxmlformats.org/drawingml/2006/main">
            <a:off x="5400675" y="479107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End-to-end delivery</a:t>
            </a:r>
          </a:p>
        </p:txBody>
      </p:sp>
      <p:sp>
        <p:nvSpPr>
          <p:cNvPr id="14" name="Built permission-heavy workflows for different transport users.">
            <a:extLst xmlns:a="http://schemas.openxmlformats.org/drawingml/2006/main">
              <a:ext uri="{FF2B5EF4-FFF2-40B4-BE49-F238E27FC236}">
                <a16:creationId xmlns:a16="http://schemas.microsoft.com/office/drawing/2014/main" id="{A626151D-AE0D-4F00-88B9-E95F08D23A09}"/>
              </a:ext>
            </a:extLst>
          </p:cNvPr>
          <p:cNvSpPr>
            <a:spLocks xmlns:a="http://schemas.openxmlformats.org/drawingml/2006/main" noGrp="1"/>
          </p:cNvSpPr>
          <p:nvPr/>
        </p:nvSpPr>
        <p:spPr>
          <a:xfrm xmlns:a="http://schemas.openxmlformats.org/drawingml/2006/main">
            <a:off x="5400675" y="513397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Implemented role-specific operational workflows across the complete frontend.</a:t>
            </a:r>
          </a:p>
        </p:txBody>
      </p:sp>
    </p:spTree>
    <p:extLst>
      <p:ext uri="{BB962C8B-B14F-4D97-AF65-F5344CB8AC3E}">
        <p14:creationId xmlns:p14="http://schemas.microsoft.com/office/powerpoint/2010/main" val="7087974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ITMS / FEATURE DELIVERY">
            <a:extLst xmlns:a="http://schemas.openxmlformats.org/drawingml/2006/main">
              <a:ext uri="{FF2B5EF4-FFF2-40B4-BE49-F238E27FC236}">
                <a16:creationId xmlns:a16="http://schemas.microsoft.com/office/drawing/2014/main" id="{DDAF43FF-2F85-4E83-815D-F293D668A437}"/>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ITMS / FEATURE DELIVERY</a:t>
            </a:r>
          </a:p>
        </p:txBody>
      </p:sp>
      <p:sp>
        <p:nvSpPr>
          <p:cNvPr id="2" name="ATLANTA SYSTEMS">
            <a:extLst xmlns:a="http://schemas.openxmlformats.org/drawingml/2006/main">
              <a:ext uri="{FF2B5EF4-FFF2-40B4-BE49-F238E27FC236}">
                <a16:creationId xmlns:a16="http://schemas.microsoft.com/office/drawing/2014/main" id="{311E082C-D6F7-4094-9F5C-2E91E0745919}"/>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CFA6BF93-10A5-40BF-B943-11907E8FB692}"/>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09 / 18">
            <a:extLst xmlns:a="http://schemas.openxmlformats.org/drawingml/2006/main">
              <a:ext uri="{FF2B5EF4-FFF2-40B4-BE49-F238E27FC236}">
                <a16:creationId xmlns:a16="http://schemas.microsoft.com/office/drawing/2014/main" id="{A6C8A09B-923B-4C9A-8339-704EFB803A7B}"/>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09 / 18</a:t>
            </a:r>
          </a:p>
        </p:txBody>
      </p:sp>
      <p:sp>
        <p:nvSpPr>
          <p:cNvPr id="5" name="Operational workflows built end to end">
            <a:extLst xmlns:a="http://schemas.openxmlformats.org/drawingml/2006/main">
              <a:ext uri="{FF2B5EF4-FFF2-40B4-BE49-F238E27FC236}">
                <a16:creationId xmlns:a16="http://schemas.microsoft.com/office/drawing/2014/main" id="{29C96A2A-6900-479B-BA8E-7C1DD6BE3824}"/>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Operational workflows built end to end</a:t>
            </a:r>
          </a:p>
        </p:txBody>
      </p:sp>
      <p:sp>
        <p:nvSpPr>
          <p:cNvPr id="6" name="">
            <a:extLst xmlns:a="http://schemas.openxmlformats.org/drawingml/2006/main">
              <a:ext uri="{FF2B5EF4-FFF2-40B4-BE49-F238E27FC236}">
                <a16:creationId xmlns:a16="http://schemas.microsoft.com/office/drawing/2014/main" id="{E5B7C107-8A52-4756-84EC-DBD67138E02E}"/>
              </a:ext>
            </a:extLst>
          </p:cNvPr>
          <p:cNvSpPr>
            <a:spLocks xmlns:a="http://schemas.openxmlformats.org/drawingml/2006/main" noGrp="1"/>
          </p:cNvSpPr>
          <p:nvPr/>
        </p:nvSpPr>
        <p:spPr>
          <a:xfrm xmlns:a="http://schemas.openxmlformats.org/drawingml/2006/main">
            <a:off x="609600" y="1828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7" name="01">
            <a:extLst xmlns:a="http://schemas.openxmlformats.org/drawingml/2006/main">
              <a:ext uri="{FF2B5EF4-FFF2-40B4-BE49-F238E27FC236}">
                <a16:creationId xmlns:a16="http://schemas.microsoft.com/office/drawing/2014/main" id="{ECEAB063-733E-4FAC-B6FD-6E8B531284B5}"/>
              </a:ext>
            </a:extLst>
          </p:cNvPr>
          <p:cNvSpPr>
            <a:spLocks xmlns:a="http://schemas.openxmlformats.org/drawingml/2006/main" noGrp="1"/>
          </p:cNvSpPr>
          <p:nvPr/>
        </p:nvSpPr>
        <p:spPr>
          <a:xfrm xmlns:a="http://schemas.openxmlformats.org/drawingml/2006/main">
            <a:off x="609600" y="206692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01</a:t>
            </a:r>
          </a:p>
        </p:txBody>
      </p:sp>
      <p:sp>
        <p:nvSpPr>
          <p:cNvPr id="8" name="People and vehicles">
            <a:extLst xmlns:a="http://schemas.openxmlformats.org/drawingml/2006/main">
              <a:ext uri="{FF2B5EF4-FFF2-40B4-BE49-F238E27FC236}">
                <a16:creationId xmlns:a16="http://schemas.microsoft.com/office/drawing/2014/main" id="{313C5767-10D1-47EC-904F-13A316087C40}"/>
              </a:ext>
            </a:extLst>
          </p:cNvPr>
          <p:cNvSpPr>
            <a:spLocks xmlns:a="http://schemas.openxmlformats.org/drawingml/2006/main" noGrp="1"/>
          </p:cNvSpPr>
          <p:nvPr/>
        </p:nvSpPr>
        <p:spPr>
          <a:xfrm xmlns:a="http://schemas.openxmlformats.org/drawingml/2006/main">
            <a:off x="1219200" y="200977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People and vehicles</a:t>
            </a:r>
          </a:p>
        </p:txBody>
      </p:sp>
      <p:sp>
        <p:nvSpPr>
          <p:cNvPr id="9" name="Driver and staff management, attendance, permissions, vehicles an">
            <a:extLst xmlns:a="http://schemas.openxmlformats.org/drawingml/2006/main">
              <a:ext uri="{FF2B5EF4-FFF2-40B4-BE49-F238E27FC236}">
                <a16:creationId xmlns:a16="http://schemas.microsoft.com/office/drawing/2014/main" id="{04369567-4904-4B66-A772-0EA8F4204A5C}"/>
              </a:ext>
            </a:extLst>
          </p:cNvPr>
          <p:cNvSpPr>
            <a:spLocks xmlns:a="http://schemas.openxmlformats.org/drawingml/2006/main" noGrp="1"/>
          </p:cNvSpPr>
          <p:nvPr/>
        </p:nvSpPr>
        <p:spPr>
          <a:xfrm xmlns:a="http://schemas.openxmlformats.org/drawingml/2006/main">
            <a:off x="4381500" y="200977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Driver and staff management, attendance, permissions, vehicles and device mapping.</a:t>
            </a:r>
          </a:p>
        </p:txBody>
      </p:sp>
      <p:sp>
        <p:nvSpPr>
          <p:cNvPr id="10" name="">
            <a:extLst xmlns:a="http://schemas.openxmlformats.org/drawingml/2006/main">
              <a:ext uri="{FF2B5EF4-FFF2-40B4-BE49-F238E27FC236}">
                <a16:creationId xmlns:a16="http://schemas.microsoft.com/office/drawing/2014/main" id="{AEF76C8C-B70E-4294-A802-68EB64A33A22}"/>
              </a:ext>
            </a:extLst>
          </p:cNvPr>
          <p:cNvSpPr>
            <a:spLocks xmlns:a="http://schemas.openxmlformats.org/drawingml/2006/main" noGrp="1"/>
          </p:cNvSpPr>
          <p:nvPr/>
        </p:nvSpPr>
        <p:spPr>
          <a:xfrm xmlns:a="http://schemas.openxmlformats.org/drawingml/2006/main">
            <a:off x="609600" y="269557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1" name="02">
            <a:extLst xmlns:a="http://schemas.openxmlformats.org/drawingml/2006/main">
              <a:ext uri="{FF2B5EF4-FFF2-40B4-BE49-F238E27FC236}">
                <a16:creationId xmlns:a16="http://schemas.microsoft.com/office/drawing/2014/main" id="{EA626FED-7A14-468D-A2BC-F557A19014B5}"/>
              </a:ext>
            </a:extLst>
          </p:cNvPr>
          <p:cNvSpPr>
            <a:spLocks xmlns:a="http://schemas.openxmlformats.org/drawingml/2006/main" noGrp="1"/>
          </p:cNvSpPr>
          <p:nvPr/>
        </p:nvSpPr>
        <p:spPr>
          <a:xfrm xmlns:a="http://schemas.openxmlformats.org/drawingml/2006/main">
            <a:off x="609600" y="293370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02</a:t>
            </a:r>
          </a:p>
        </p:txBody>
      </p:sp>
      <p:sp>
        <p:nvSpPr>
          <p:cNvPr id="12" name="Daily depot operations">
            <a:extLst xmlns:a="http://schemas.openxmlformats.org/drawingml/2006/main">
              <a:ext uri="{FF2B5EF4-FFF2-40B4-BE49-F238E27FC236}">
                <a16:creationId xmlns:a16="http://schemas.microsoft.com/office/drawing/2014/main" id="{D50473E3-50D2-4FA4-8990-468C15D21FC4}"/>
              </a:ext>
            </a:extLst>
          </p:cNvPr>
          <p:cNvSpPr>
            <a:spLocks xmlns:a="http://schemas.openxmlformats.org/drawingml/2006/main" noGrp="1"/>
          </p:cNvSpPr>
          <p:nvPr/>
        </p:nvSpPr>
        <p:spPr>
          <a:xfrm xmlns:a="http://schemas.openxmlformats.org/drawingml/2006/main">
            <a:off x="1219200" y="287655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Daily depot operations</a:t>
            </a:r>
          </a:p>
        </p:txBody>
      </p:sp>
      <p:sp>
        <p:nvSpPr>
          <p:cNvPr id="13" name="Shift templates, rosters, live duties, inventory, fueling and EV ">
            <a:extLst xmlns:a="http://schemas.openxmlformats.org/drawingml/2006/main">
              <a:ext uri="{FF2B5EF4-FFF2-40B4-BE49-F238E27FC236}">
                <a16:creationId xmlns:a16="http://schemas.microsoft.com/office/drawing/2014/main" id="{E92E1252-B67A-4FB7-8560-87A84E647B67}"/>
              </a:ext>
            </a:extLst>
          </p:cNvPr>
          <p:cNvSpPr>
            <a:spLocks xmlns:a="http://schemas.openxmlformats.org/drawingml/2006/main" noGrp="1"/>
          </p:cNvSpPr>
          <p:nvPr/>
        </p:nvSpPr>
        <p:spPr>
          <a:xfrm xmlns:a="http://schemas.openxmlformats.org/drawingml/2006/main">
            <a:off x="4381500" y="287655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Shift templates, rosters, live duties, inventory, fueling and EV chargers.</a:t>
            </a:r>
          </a:p>
        </p:txBody>
      </p:sp>
      <p:sp>
        <p:nvSpPr>
          <p:cNvPr id="14" name="">
            <a:extLst xmlns:a="http://schemas.openxmlformats.org/drawingml/2006/main">
              <a:ext uri="{FF2B5EF4-FFF2-40B4-BE49-F238E27FC236}">
                <a16:creationId xmlns:a16="http://schemas.microsoft.com/office/drawing/2014/main" id="{20E867DE-618B-4F1E-8585-6C5E03F2B133}"/>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03">
            <a:extLst xmlns:a="http://schemas.openxmlformats.org/drawingml/2006/main">
              <a:ext uri="{FF2B5EF4-FFF2-40B4-BE49-F238E27FC236}">
                <a16:creationId xmlns:a16="http://schemas.microsoft.com/office/drawing/2014/main" id="{CF1C93AA-A25F-4DCA-B4D2-62E9EAF2A49E}"/>
              </a:ext>
            </a:extLst>
          </p:cNvPr>
          <p:cNvSpPr>
            <a:spLocks xmlns:a="http://schemas.openxmlformats.org/drawingml/2006/main" noGrp="1"/>
          </p:cNvSpPr>
          <p:nvPr/>
        </p:nvSpPr>
        <p:spPr>
          <a:xfrm xmlns:a="http://schemas.openxmlformats.org/drawingml/2006/main">
            <a:off x="609600" y="380047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03</a:t>
            </a:r>
          </a:p>
        </p:txBody>
      </p:sp>
      <p:sp>
        <p:nvSpPr>
          <p:cNvPr id="16" name="Monitoring and support">
            <a:extLst xmlns:a="http://schemas.openxmlformats.org/drawingml/2006/main">
              <a:ext uri="{FF2B5EF4-FFF2-40B4-BE49-F238E27FC236}">
                <a16:creationId xmlns:a16="http://schemas.microsoft.com/office/drawing/2014/main" id="{4BE51E9A-CC0A-4434-A18D-EC7605F63F06}"/>
              </a:ext>
            </a:extLst>
          </p:cNvPr>
          <p:cNvSpPr>
            <a:spLocks xmlns:a="http://schemas.openxmlformats.org/drawingml/2006/main" noGrp="1"/>
          </p:cNvSpPr>
          <p:nvPr/>
        </p:nvSpPr>
        <p:spPr>
          <a:xfrm xmlns:a="http://schemas.openxmlformats.org/drawingml/2006/main">
            <a:off x="1219200" y="374332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Monitoring and support</a:t>
            </a:r>
          </a:p>
        </p:txBody>
      </p:sp>
      <p:sp>
        <p:nvSpPr>
          <p:cNvPr id="17" name="GPS tracking, incident workflows, evidence, helpdesk tickets and ">
            <a:extLst xmlns:a="http://schemas.openxmlformats.org/drawingml/2006/main">
              <a:ext uri="{FF2B5EF4-FFF2-40B4-BE49-F238E27FC236}">
                <a16:creationId xmlns:a16="http://schemas.microsoft.com/office/drawing/2014/main" id="{05430E59-7FF6-49AF-A1FB-F5E94D6BB873}"/>
              </a:ext>
            </a:extLst>
          </p:cNvPr>
          <p:cNvSpPr>
            <a:spLocks xmlns:a="http://schemas.openxmlformats.org/drawingml/2006/main" noGrp="1"/>
          </p:cNvSpPr>
          <p:nvPr/>
        </p:nvSpPr>
        <p:spPr>
          <a:xfrm xmlns:a="http://schemas.openxmlformats.org/drawingml/2006/main">
            <a:off x="4381500" y="374332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GPS tracking, incident workflows, evidence, helpdesk tickets and notifications.</a:t>
            </a:r>
          </a:p>
        </p:txBody>
      </p:sp>
      <p:sp>
        <p:nvSpPr>
          <p:cNvPr id="18" name="">
            <a:extLst xmlns:a="http://schemas.openxmlformats.org/drawingml/2006/main">
              <a:ext uri="{FF2B5EF4-FFF2-40B4-BE49-F238E27FC236}">
                <a16:creationId xmlns:a16="http://schemas.microsoft.com/office/drawing/2014/main" id="{29D8CD10-E49A-4371-B3A2-AAFFC388C323}"/>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9" name="04">
            <a:extLst xmlns:a="http://schemas.openxmlformats.org/drawingml/2006/main">
              <a:ext uri="{FF2B5EF4-FFF2-40B4-BE49-F238E27FC236}">
                <a16:creationId xmlns:a16="http://schemas.microsoft.com/office/drawing/2014/main" id="{9EBD5806-C70F-4C52-8E58-90A04A7A8E21}"/>
              </a:ext>
            </a:extLst>
          </p:cNvPr>
          <p:cNvSpPr>
            <a:spLocks xmlns:a="http://schemas.openxmlformats.org/drawingml/2006/main" noGrp="1"/>
          </p:cNvSpPr>
          <p:nvPr/>
        </p:nvSpPr>
        <p:spPr>
          <a:xfrm xmlns:a="http://schemas.openxmlformats.org/drawingml/2006/main">
            <a:off x="609600" y="466725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04</a:t>
            </a:r>
          </a:p>
        </p:txBody>
      </p:sp>
      <p:sp>
        <p:nvSpPr>
          <p:cNvPr id="20" name="Reports and field portals">
            <a:extLst xmlns:a="http://schemas.openxmlformats.org/drawingml/2006/main">
              <a:ext uri="{FF2B5EF4-FFF2-40B4-BE49-F238E27FC236}">
                <a16:creationId xmlns:a16="http://schemas.microsoft.com/office/drawing/2014/main" id="{FDCF0CD4-7062-4289-9F5A-4652A92DF622}"/>
              </a:ext>
            </a:extLst>
          </p:cNvPr>
          <p:cNvSpPr>
            <a:spLocks xmlns:a="http://schemas.openxmlformats.org/drawingml/2006/main" noGrp="1"/>
          </p:cNvSpPr>
          <p:nvPr/>
        </p:nvSpPr>
        <p:spPr>
          <a:xfrm xmlns:a="http://schemas.openxmlformats.org/drawingml/2006/main">
            <a:off x="1219200" y="461010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Reports and field portals</a:t>
            </a:r>
          </a:p>
        </p:txBody>
      </p:sp>
      <p:sp>
        <p:nvSpPr>
          <p:cNvPr id="21" name="Ten operational reports, driver and conductor portals, and public">
            <a:extLst xmlns:a="http://schemas.openxmlformats.org/drawingml/2006/main">
              <a:ext uri="{FF2B5EF4-FFF2-40B4-BE49-F238E27FC236}">
                <a16:creationId xmlns:a16="http://schemas.microsoft.com/office/drawing/2014/main" id="{FBFC3B36-9AB4-43E9-B584-197CE8715852}"/>
              </a:ext>
            </a:extLst>
          </p:cNvPr>
          <p:cNvSpPr>
            <a:spLocks xmlns:a="http://schemas.openxmlformats.org/drawingml/2006/main" noGrp="1"/>
          </p:cNvSpPr>
          <p:nvPr/>
        </p:nvSpPr>
        <p:spPr>
          <a:xfrm xmlns:a="http://schemas.openxmlformats.org/drawingml/2006/main">
            <a:off x="4381500" y="461010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Ten operational reports, driver and conductor portals, and public bus information.</a:t>
            </a:r>
          </a:p>
        </p:txBody>
      </p:sp>
      <p:sp>
        <p:nvSpPr>
          <p:cNvPr id="22" name="">
            <a:extLst xmlns:a="http://schemas.openxmlformats.org/drawingml/2006/main">
              <a:ext uri="{FF2B5EF4-FFF2-40B4-BE49-F238E27FC236}">
                <a16:creationId xmlns:a16="http://schemas.microsoft.com/office/drawing/2014/main" id="{029F63E9-2048-48C1-8947-F1049326BD6C}"/>
              </a:ext>
            </a:extLst>
          </p:cNvPr>
          <p:cNvSpPr>
            <a:spLocks xmlns:a="http://schemas.openxmlformats.org/drawingml/2006/main" noGrp="1"/>
          </p:cNvSpPr>
          <p:nvPr/>
        </p:nvSpPr>
        <p:spPr>
          <a:xfrm xmlns:a="http://schemas.openxmlformats.org/drawingml/2006/main">
            <a:off x="609600" y="52959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3" name="">
            <a:extLst xmlns:a="http://schemas.openxmlformats.org/drawingml/2006/main">
              <a:ext uri="{FF2B5EF4-FFF2-40B4-BE49-F238E27FC236}">
                <a16:creationId xmlns:a16="http://schemas.microsoft.com/office/drawing/2014/main" id="{97F331AD-670C-447F-868A-7E920EC2FBA2}"/>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4" name="Gave transport users a common frontend for connected daily operat">
            <a:extLst xmlns:a="http://schemas.openxmlformats.org/drawingml/2006/main">
              <a:ext uri="{FF2B5EF4-FFF2-40B4-BE49-F238E27FC236}">
                <a16:creationId xmlns:a16="http://schemas.microsoft.com/office/drawing/2014/main" id="{B2EA4D6E-075B-4FC3-A30F-3C570F3A7A2F}"/>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Gave transport users a common frontend for connected daily operations.</a:t>
            </a:r>
          </a:p>
        </p:txBody>
      </p:sp>
    </p:spTree>
    <p:extLst>
      <p:ext uri="{BB962C8B-B14F-4D97-AF65-F5344CB8AC3E}">
        <p14:creationId xmlns:p14="http://schemas.microsoft.com/office/powerpoint/2010/main" val="2198318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ITMS / ENGINEERING FOUNDATION">
            <a:extLst xmlns:a="http://schemas.openxmlformats.org/drawingml/2006/main">
              <a:ext uri="{FF2B5EF4-FFF2-40B4-BE49-F238E27FC236}">
                <a16:creationId xmlns:a16="http://schemas.microsoft.com/office/drawing/2014/main" id="{156F3F2C-F20E-4914-8BD3-E6173E720F1C}"/>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ITMS / ENGINEERING FOUNDATION</a:t>
            </a:r>
          </a:p>
        </p:txBody>
      </p:sp>
      <p:sp>
        <p:nvSpPr>
          <p:cNvPr id="2" name="ATLANTA SYSTEMS">
            <a:extLst xmlns:a="http://schemas.openxmlformats.org/drawingml/2006/main">
              <a:ext uri="{FF2B5EF4-FFF2-40B4-BE49-F238E27FC236}">
                <a16:creationId xmlns:a16="http://schemas.microsoft.com/office/drawing/2014/main" id="{8B1FFC1B-BC70-4098-B46F-E82BF42A9C7E}"/>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Project-wide repository counts from the supplied ITMS review.">
            <a:extLst xmlns:a="http://schemas.openxmlformats.org/drawingml/2006/main">
              <a:ext uri="{FF2B5EF4-FFF2-40B4-BE49-F238E27FC236}">
                <a16:creationId xmlns:a16="http://schemas.microsoft.com/office/drawing/2014/main" id="{A9DED36E-974B-4AA7-80CD-5522BFB878E4}"/>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Project-wide repository counts from the supplied ITMS review.</a:t>
            </a:r>
          </a:p>
        </p:txBody>
      </p:sp>
      <p:sp>
        <p:nvSpPr>
          <p:cNvPr id="4" name="10 / 18">
            <a:extLst xmlns:a="http://schemas.openxmlformats.org/drawingml/2006/main">
              <a:ext uri="{FF2B5EF4-FFF2-40B4-BE49-F238E27FC236}">
                <a16:creationId xmlns:a16="http://schemas.microsoft.com/office/drawing/2014/main" id="{00756DEF-F421-4AF2-B2B8-593762DCE7D7}"/>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10 / 18</a:t>
            </a:r>
          </a:p>
        </p:txBody>
      </p:sp>
      <p:sp>
        <p:nvSpPr>
          <p:cNvPr id="5" name="An architecture the team can maintain">
            <a:extLst xmlns:a="http://schemas.openxmlformats.org/drawingml/2006/main">
              <a:ext uri="{FF2B5EF4-FFF2-40B4-BE49-F238E27FC236}">
                <a16:creationId xmlns:a16="http://schemas.microsoft.com/office/drawing/2014/main" id="{3E270D3F-61C1-410D-94DF-AE36EAE41389}"/>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An architecture the team can maintain</a:t>
            </a:r>
          </a:p>
        </p:txBody>
      </p:sp>
      <p:sp>
        <p:nvSpPr>
          <p:cNvPr id="6" name="Clear responsibilities for presentation, state and backend integr">
            <a:extLst xmlns:a="http://schemas.openxmlformats.org/drawingml/2006/main">
              <a:ext uri="{FF2B5EF4-FFF2-40B4-BE49-F238E27FC236}">
                <a16:creationId xmlns:a16="http://schemas.microsoft.com/office/drawing/2014/main" id="{2E057002-61F8-48D3-9F4A-161BB3B973CD}"/>
              </a:ext>
            </a:extLst>
          </p:cNvPr>
          <p:cNvSpPr>
            <a:spLocks xmlns:a="http://schemas.openxmlformats.org/drawingml/2006/main" noGrp="1"/>
          </p:cNvSpPr>
          <p:nvPr/>
        </p:nvSpPr>
        <p:spPr>
          <a:xfrm xmlns:a="http://schemas.openxmlformats.org/drawingml/2006/main">
            <a:off x="609600" y="15716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Clear responsibilities for presentation, state and backend integration</a:t>
            </a:r>
          </a:p>
        </p:txBody>
      </p:sp>
      <p:sp>
        <p:nvSpPr>
          <p:cNvPr id="7" name="">
            <a:extLst xmlns:a="http://schemas.openxmlformats.org/drawingml/2006/main">
              <a:ext uri="{FF2B5EF4-FFF2-40B4-BE49-F238E27FC236}">
                <a16:creationId xmlns:a16="http://schemas.microsoft.com/office/drawing/2014/main" id="{19D44F69-2C94-408A-8411-DF869C1A8420}"/>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8" name="01">
            <a:extLst xmlns:a="http://schemas.openxmlformats.org/drawingml/2006/main">
              <a:ext uri="{FF2B5EF4-FFF2-40B4-BE49-F238E27FC236}">
                <a16:creationId xmlns:a16="http://schemas.microsoft.com/office/drawing/2014/main" id="{D91C5708-770C-4C88-81D5-CD080D5E7070}"/>
              </a:ext>
            </a:extLst>
          </p:cNvPr>
          <p:cNvSpPr>
            <a:spLocks xmlns:a="http://schemas.openxmlformats.org/drawingml/2006/main" noGrp="1"/>
          </p:cNvSpPr>
          <p:nvPr/>
        </p:nvSpPr>
        <p:spPr>
          <a:xfrm xmlns:a="http://schemas.openxmlformats.org/drawingml/2006/main">
            <a:off x="609600" y="2438400"/>
            <a:ext cx="409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0">
                <a:solidFill>
                  <a:srgbClr val="245EE8"/>
                </a:solidFill>
                <a:latin typeface="Arial"/>
                <a:ea typeface="Arial"/>
                <a:cs typeface="Arial"/>
              </a:defRPr>
            </a:pPr>
            <a:r>
              <a:rPr sz="1125" b="0">
                <a:solidFill>
                  <a:srgbClr val="245EE8"/>
                </a:solidFill>
                <a:latin typeface="Arial"/>
                <a:ea typeface="Arial"/>
                <a:cs typeface="Arial"/>
              </a:rPr>
              <a:t>01</a:t>
            </a:r>
          </a:p>
        </p:txBody>
      </p:sp>
      <p:sp>
        <p:nvSpPr>
          <p:cNvPr id="9" name="Pages and shared UI">
            <a:extLst xmlns:a="http://schemas.openxmlformats.org/drawingml/2006/main">
              <a:ext uri="{FF2B5EF4-FFF2-40B4-BE49-F238E27FC236}">
                <a16:creationId xmlns:a16="http://schemas.microsoft.com/office/drawing/2014/main" id="{D564BC3D-7D84-40C5-9A66-0AB9EFE912A8}"/>
              </a:ext>
            </a:extLst>
          </p:cNvPr>
          <p:cNvSpPr>
            <a:spLocks xmlns:a="http://schemas.openxmlformats.org/drawingml/2006/main" noGrp="1"/>
          </p:cNvSpPr>
          <p:nvPr/>
        </p:nvSpPr>
        <p:spPr>
          <a:xfrm xmlns:a="http://schemas.openxmlformats.org/drawingml/2006/main">
            <a:off x="1219200" y="239077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Pages and shared UI</a:t>
            </a:r>
          </a:p>
        </p:txBody>
      </p:sp>
      <p:sp>
        <p:nvSpPr>
          <p:cNvPr id="10" name="Reusable controls and consistent loading, empty and error states.">
            <a:extLst xmlns:a="http://schemas.openxmlformats.org/drawingml/2006/main">
              <a:ext uri="{FF2B5EF4-FFF2-40B4-BE49-F238E27FC236}">
                <a16:creationId xmlns:a16="http://schemas.microsoft.com/office/drawing/2014/main" id="{4924729C-D47E-429F-8FEE-CF4652E9ECD2}"/>
              </a:ext>
            </a:extLst>
          </p:cNvPr>
          <p:cNvSpPr>
            <a:spLocks xmlns:a="http://schemas.openxmlformats.org/drawingml/2006/main" noGrp="1"/>
          </p:cNvSpPr>
          <p:nvPr/>
        </p:nvSpPr>
        <p:spPr>
          <a:xfrm xmlns:a="http://schemas.openxmlformats.org/drawingml/2006/main">
            <a:off x="4857750" y="2390775"/>
            <a:ext cx="67246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Reusable controls and consistent loading, empty and error states.</a:t>
            </a:r>
          </a:p>
        </p:txBody>
      </p:sp>
      <p:sp>
        <p:nvSpPr>
          <p:cNvPr id="11" name="">
            <a:extLst xmlns:a="http://schemas.openxmlformats.org/drawingml/2006/main">
              <a:ext uri="{FF2B5EF4-FFF2-40B4-BE49-F238E27FC236}">
                <a16:creationId xmlns:a16="http://schemas.microsoft.com/office/drawing/2014/main" id="{4AC7B3F4-A71E-4971-A0A6-2864D569146D}"/>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2" name="02">
            <a:extLst xmlns:a="http://schemas.openxmlformats.org/drawingml/2006/main">
              <a:ext uri="{FF2B5EF4-FFF2-40B4-BE49-F238E27FC236}">
                <a16:creationId xmlns:a16="http://schemas.microsoft.com/office/drawing/2014/main" id="{1263BE9F-63A7-4521-9F98-83ACC18FFD3E}"/>
              </a:ext>
            </a:extLst>
          </p:cNvPr>
          <p:cNvSpPr>
            <a:spLocks xmlns:a="http://schemas.openxmlformats.org/drawingml/2006/main" noGrp="1"/>
          </p:cNvSpPr>
          <p:nvPr/>
        </p:nvSpPr>
        <p:spPr>
          <a:xfrm xmlns:a="http://schemas.openxmlformats.org/drawingml/2006/main">
            <a:off x="609600" y="3276600"/>
            <a:ext cx="409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0">
                <a:solidFill>
                  <a:srgbClr val="245EE8"/>
                </a:solidFill>
                <a:latin typeface="Arial"/>
                <a:ea typeface="Arial"/>
                <a:cs typeface="Arial"/>
              </a:defRPr>
            </a:pPr>
            <a:r>
              <a:rPr sz="1125" b="0">
                <a:solidFill>
                  <a:srgbClr val="245EE8"/>
                </a:solidFill>
                <a:latin typeface="Arial"/>
                <a:ea typeface="Arial"/>
                <a:cs typeface="Arial"/>
              </a:rPr>
              <a:t>02</a:t>
            </a:r>
          </a:p>
        </p:txBody>
      </p:sp>
      <p:sp>
        <p:nvSpPr>
          <p:cNvPr id="13" name="Composables and stores">
            <a:extLst xmlns:a="http://schemas.openxmlformats.org/drawingml/2006/main">
              <a:ext uri="{FF2B5EF4-FFF2-40B4-BE49-F238E27FC236}">
                <a16:creationId xmlns:a16="http://schemas.microsoft.com/office/drawing/2014/main" id="{6157AF3C-FB83-4F53-A96C-992486D7D446}"/>
              </a:ext>
            </a:extLst>
          </p:cNvPr>
          <p:cNvSpPr>
            <a:spLocks xmlns:a="http://schemas.openxmlformats.org/drawingml/2006/main" noGrp="1"/>
          </p:cNvSpPr>
          <p:nvPr/>
        </p:nvSpPr>
        <p:spPr>
          <a:xfrm xmlns:a="http://schemas.openxmlformats.org/drawingml/2006/main">
            <a:off x="1219200" y="322897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Composables and stores</a:t>
            </a:r>
          </a:p>
        </p:txBody>
      </p:sp>
      <p:sp>
        <p:nvSpPr>
          <p:cNvPr id="14" name="Workflow coordination and state management outside page markup.">
            <a:extLst xmlns:a="http://schemas.openxmlformats.org/drawingml/2006/main">
              <a:ext uri="{FF2B5EF4-FFF2-40B4-BE49-F238E27FC236}">
                <a16:creationId xmlns:a16="http://schemas.microsoft.com/office/drawing/2014/main" id="{C7AC5681-8829-47EE-867F-9B5194BE154B}"/>
              </a:ext>
            </a:extLst>
          </p:cNvPr>
          <p:cNvSpPr>
            <a:spLocks xmlns:a="http://schemas.openxmlformats.org/drawingml/2006/main" noGrp="1"/>
          </p:cNvSpPr>
          <p:nvPr/>
        </p:nvSpPr>
        <p:spPr>
          <a:xfrm xmlns:a="http://schemas.openxmlformats.org/drawingml/2006/main">
            <a:off x="4857750" y="3228975"/>
            <a:ext cx="67246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Workflow coordination and state management outside page markup.</a:t>
            </a:r>
          </a:p>
        </p:txBody>
      </p:sp>
      <p:sp>
        <p:nvSpPr>
          <p:cNvPr id="15" name="">
            <a:extLst xmlns:a="http://schemas.openxmlformats.org/drawingml/2006/main">
              <a:ext uri="{FF2B5EF4-FFF2-40B4-BE49-F238E27FC236}">
                <a16:creationId xmlns:a16="http://schemas.microsoft.com/office/drawing/2014/main" id="{3252DB56-1531-404D-B720-BA450CFE9539}"/>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6" name="03">
            <a:extLst xmlns:a="http://schemas.openxmlformats.org/drawingml/2006/main">
              <a:ext uri="{FF2B5EF4-FFF2-40B4-BE49-F238E27FC236}">
                <a16:creationId xmlns:a16="http://schemas.microsoft.com/office/drawing/2014/main" id="{3B9E22F3-64CF-4A2E-9A5F-C362D0B95630}"/>
              </a:ext>
            </a:extLst>
          </p:cNvPr>
          <p:cNvSpPr>
            <a:spLocks xmlns:a="http://schemas.openxmlformats.org/drawingml/2006/main" noGrp="1"/>
          </p:cNvSpPr>
          <p:nvPr/>
        </p:nvSpPr>
        <p:spPr>
          <a:xfrm xmlns:a="http://schemas.openxmlformats.org/drawingml/2006/main">
            <a:off x="609600" y="4114800"/>
            <a:ext cx="4095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0">
                <a:solidFill>
                  <a:srgbClr val="245EE8"/>
                </a:solidFill>
                <a:latin typeface="Arial"/>
                <a:ea typeface="Arial"/>
                <a:cs typeface="Arial"/>
              </a:defRPr>
            </a:pPr>
            <a:r>
              <a:rPr sz="1125" b="0">
                <a:solidFill>
                  <a:srgbClr val="245EE8"/>
                </a:solidFill>
                <a:latin typeface="Arial"/>
                <a:ea typeface="Arial"/>
                <a:cs typeface="Arial"/>
              </a:rPr>
              <a:t>03</a:t>
            </a:r>
          </a:p>
        </p:txBody>
      </p:sp>
      <p:sp>
        <p:nvSpPr>
          <p:cNvPr id="17" name="API modules and adapters">
            <a:extLst xmlns:a="http://schemas.openxmlformats.org/drawingml/2006/main">
              <a:ext uri="{FF2B5EF4-FFF2-40B4-BE49-F238E27FC236}">
                <a16:creationId xmlns:a16="http://schemas.microsoft.com/office/drawing/2014/main" id="{55856189-B2FB-4FB4-A949-E645F39605BE}"/>
              </a:ext>
            </a:extLst>
          </p:cNvPr>
          <p:cNvSpPr>
            <a:spLocks xmlns:a="http://schemas.openxmlformats.org/drawingml/2006/main" noGrp="1"/>
          </p:cNvSpPr>
          <p:nvPr/>
        </p:nvSpPr>
        <p:spPr>
          <a:xfrm xmlns:a="http://schemas.openxmlformats.org/drawingml/2006/main">
            <a:off x="1219200" y="406717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API modules and adapters</a:t>
            </a:r>
          </a:p>
        </p:txBody>
      </p:sp>
      <p:sp>
        <p:nvSpPr>
          <p:cNvPr id="18" name="Named HTTP operations, stable UI models and normalized payloads.">
            <a:extLst xmlns:a="http://schemas.openxmlformats.org/drawingml/2006/main">
              <a:ext uri="{FF2B5EF4-FFF2-40B4-BE49-F238E27FC236}">
                <a16:creationId xmlns:a16="http://schemas.microsoft.com/office/drawing/2014/main" id="{633B37D1-6EEE-48F3-B806-C84F6E0700FD}"/>
              </a:ext>
            </a:extLst>
          </p:cNvPr>
          <p:cNvSpPr>
            <a:spLocks xmlns:a="http://schemas.openxmlformats.org/drawingml/2006/main" noGrp="1"/>
          </p:cNvSpPr>
          <p:nvPr/>
        </p:nvSpPr>
        <p:spPr>
          <a:xfrm xmlns:a="http://schemas.openxmlformats.org/drawingml/2006/main">
            <a:off x="4857750" y="4067175"/>
            <a:ext cx="67246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56647A"/>
                </a:solidFill>
                <a:latin typeface="Arial"/>
                <a:ea typeface="Arial"/>
                <a:cs typeface="Arial"/>
              </a:defRPr>
            </a:pPr>
            <a:r>
              <a:rPr sz="1575" b="0">
                <a:solidFill>
                  <a:srgbClr val="56647A"/>
                </a:solidFill>
                <a:latin typeface="Arial"/>
                <a:ea typeface="Arial"/>
                <a:cs typeface="Arial"/>
              </a:rPr>
              <a:t>Named HTTP operations, stable UI models and normalized payloads.</a:t>
            </a:r>
          </a:p>
        </p:txBody>
      </p:sp>
      <p:sp>
        <p:nvSpPr>
          <p:cNvPr id="19" name="">
            <a:extLst xmlns:a="http://schemas.openxmlformats.org/drawingml/2006/main">
              <a:ext uri="{FF2B5EF4-FFF2-40B4-BE49-F238E27FC236}">
                <a16:creationId xmlns:a16="http://schemas.microsoft.com/office/drawing/2014/main" id="{EB8275AC-CD83-4D0E-A778-6AEAD4227F9F}"/>
              </a:ext>
            </a:extLst>
          </p:cNvPr>
          <p:cNvSpPr>
            <a:spLocks xmlns:a="http://schemas.openxmlformats.org/drawingml/2006/main" noGrp="1"/>
          </p:cNvSpPr>
          <p:nvPr/>
        </p:nvSpPr>
        <p:spPr>
          <a:xfrm xmlns:a="http://schemas.openxmlformats.org/drawingml/2006/main">
            <a:off x="609600" y="47244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0" name="40">
            <a:extLst xmlns:a="http://schemas.openxmlformats.org/drawingml/2006/main">
              <a:ext uri="{FF2B5EF4-FFF2-40B4-BE49-F238E27FC236}">
                <a16:creationId xmlns:a16="http://schemas.microsoft.com/office/drawing/2014/main" id="{DE01A84B-85D2-4FFA-B52B-6A5AB9CB2989}"/>
              </a:ext>
            </a:extLst>
          </p:cNvPr>
          <p:cNvSpPr>
            <a:spLocks xmlns:a="http://schemas.openxmlformats.org/drawingml/2006/main" noGrp="1"/>
          </p:cNvSpPr>
          <p:nvPr/>
        </p:nvSpPr>
        <p:spPr>
          <a:xfrm xmlns:a="http://schemas.openxmlformats.org/drawingml/2006/main">
            <a:off x="609600" y="5057775"/>
            <a:ext cx="8286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245EE8"/>
                </a:solidFill>
                <a:latin typeface="Arial"/>
                <a:ea typeface="Arial"/>
                <a:cs typeface="Arial"/>
              </a:defRPr>
            </a:pPr>
            <a:r>
              <a:rPr sz="3675" b="1">
                <a:solidFill>
                  <a:srgbClr val="245EE8"/>
                </a:solidFill>
                <a:latin typeface="Arial"/>
                <a:ea typeface="Arial"/>
                <a:cs typeface="Arial"/>
              </a:rPr>
              <a:t>40</a:t>
            </a:r>
          </a:p>
        </p:txBody>
      </p:sp>
      <p:sp>
        <p:nvSpPr>
          <p:cNvPr id="21" name="Shared UI components">
            <a:extLst xmlns:a="http://schemas.openxmlformats.org/drawingml/2006/main">
              <a:ext uri="{FF2B5EF4-FFF2-40B4-BE49-F238E27FC236}">
                <a16:creationId xmlns:a16="http://schemas.microsoft.com/office/drawing/2014/main" id="{41F39652-5451-411A-8E39-59A757DB16AC}"/>
              </a:ext>
            </a:extLst>
          </p:cNvPr>
          <p:cNvSpPr>
            <a:spLocks xmlns:a="http://schemas.openxmlformats.org/drawingml/2006/main" noGrp="1"/>
          </p:cNvSpPr>
          <p:nvPr/>
        </p:nvSpPr>
        <p:spPr>
          <a:xfrm xmlns:a="http://schemas.openxmlformats.org/drawingml/2006/main">
            <a:off x="1609725" y="51625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425" b="0">
                <a:solidFill>
                  <a:srgbClr val="142137"/>
                </a:solidFill>
                <a:latin typeface="Arial"/>
                <a:ea typeface="Arial"/>
                <a:cs typeface="Arial"/>
              </a:defRPr>
            </a:pPr>
            <a:r>
              <a:rPr sz="1425" b="0">
                <a:solidFill>
                  <a:srgbClr val="142137"/>
                </a:solidFill>
                <a:latin typeface="Arial"/>
                <a:ea typeface="Arial"/>
                <a:cs typeface="Arial"/>
              </a:rPr>
              <a:t>Shared UI components</a:t>
            </a:r>
          </a:p>
        </p:txBody>
      </p:sp>
      <p:sp>
        <p:nvSpPr>
          <p:cNvPr id="22" name="49">
            <a:extLst xmlns:a="http://schemas.openxmlformats.org/drawingml/2006/main">
              <a:ext uri="{FF2B5EF4-FFF2-40B4-BE49-F238E27FC236}">
                <a16:creationId xmlns:a16="http://schemas.microsoft.com/office/drawing/2014/main" id="{FAF0E18F-EE43-48BB-A85F-5E0CF70D4AD4}"/>
              </a:ext>
            </a:extLst>
          </p:cNvPr>
          <p:cNvSpPr>
            <a:spLocks xmlns:a="http://schemas.openxmlformats.org/drawingml/2006/main" noGrp="1"/>
          </p:cNvSpPr>
          <p:nvPr/>
        </p:nvSpPr>
        <p:spPr>
          <a:xfrm xmlns:a="http://schemas.openxmlformats.org/drawingml/2006/main">
            <a:off x="4352925" y="5057775"/>
            <a:ext cx="8286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245EE8"/>
                </a:solidFill>
                <a:latin typeface="Arial"/>
                <a:ea typeface="Arial"/>
                <a:cs typeface="Arial"/>
              </a:defRPr>
            </a:pPr>
            <a:r>
              <a:rPr sz="3675" b="1">
                <a:solidFill>
                  <a:srgbClr val="245EE8"/>
                </a:solidFill>
                <a:latin typeface="Arial"/>
                <a:ea typeface="Arial"/>
                <a:cs typeface="Arial"/>
              </a:rPr>
              <a:t>49</a:t>
            </a:r>
          </a:p>
        </p:txBody>
      </p:sp>
      <p:sp>
        <p:nvSpPr>
          <p:cNvPr id="23" name="Feature API modules">
            <a:extLst xmlns:a="http://schemas.openxmlformats.org/drawingml/2006/main">
              <a:ext uri="{FF2B5EF4-FFF2-40B4-BE49-F238E27FC236}">
                <a16:creationId xmlns:a16="http://schemas.microsoft.com/office/drawing/2014/main" id="{1BE327B1-8AEA-45FA-8A09-A0E8ABC5AA0B}"/>
              </a:ext>
            </a:extLst>
          </p:cNvPr>
          <p:cNvSpPr>
            <a:spLocks xmlns:a="http://schemas.openxmlformats.org/drawingml/2006/main" noGrp="1"/>
          </p:cNvSpPr>
          <p:nvPr/>
        </p:nvSpPr>
        <p:spPr>
          <a:xfrm xmlns:a="http://schemas.openxmlformats.org/drawingml/2006/main">
            <a:off x="5353050" y="51625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425" b="0">
                <a:solidFill>
                  <a:srgbClr val="142137"/>
                </a:solidFill>
                <a:latin typeface="Arial"/>
                <a:ea typeface="Arial"/>
                <a:cs typeface="Arial"/>
              </a:defRPr>
            </a:pPr>
            <a:r>
              <a:rPr sz="1425" b="0">
                <a:solidFill>
                  <a:srgbClr val="142137"/>
                </a:solidFill>
                <a:latin typeface="Arial"/>
                <a:ea typeface="Arial"/>
                <a:cs typeface="Arial"/>
              </a:rPr>
              <a:t>Feature API modules</a:t>
            </a:r>
          </a:p>
        </p:txBody>
      </p:sp>
      <p:sp>
        <p:nvSpPr>
          <p:cNvPr id="24" name="36">
            <a:extLst xmlns:a="http://schemas.openxmlformats.org/drawingml/2006/main">
              <a:ext uri="{FF2B5EF4-FFF2-40B4-BE49-F238E27FC236}">
                <a16:creationId xmlns:a16="http://schemas.microsoft.com/office/drawing/2014/main" id="{EE728117-B5E4-4FF5-A643-18EE6FECBD1A}"/>
              </a:ext>
            </a:extLst>
          </p:cNvPr>
          <p:cNvSpPr>
            <a:spLocks xmlns:a="http://schemas.openxmlformats.org/drawingml/2006/main" noGrp="1"/>
          </p:cNvSpPr>
          <p:nvPr/>
        </p:nvSpPr>
        <p:spPr>
          <a:xfrm xmlns:a="http://schemas.openxmlformats.org/drawingml/2006/main">
            <a:off x="8096250" y="5057775"/>
            <a:ext cx="8286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245EE8"/>
                </a:solidFill>
                <a:latin typeface="Arial"/>
                <a:ea typeface="Arial"/>
                <a:cs typeface="Arial"/>
              </a:defRPr>
            </a:pPr>
            <a:r>
              <a:rPr sz="3675" b="1">
                <a:solidFill>
                  <a:srgbClr val="245EE8"/>
                </a:solidFill>
                <a:latin typeface="Arial"/>
                <a:ea typeface="Arial"/>
                <a:cs typeface="Arial"/>
              </a:rPr>
              <a:t>36</a:t>
            </a:r>
          </a:p>
        </p:txBody>
      </p:sp>
      <p:sp>
        <p:nvSpPr>
          <p:cNvPr id="25" name="Response adapters">
            <a:extLst xmlns:a="http://schemas.openxmlformats.org/drawingml/2006/main">
              <a:ext uri="{FF2B5EF4-FFF2-40B4-BE49-F238E27FC236}">
                <a16:creationId xmlns:a16="http://schemas.microsoft.com/office/drawing/2014/main" id="{5515AAA4-F319-4F78-9564-AEB7D61FBEB4}"/>
              </a:ext>
            </a:extLst>
          </p:cNvPr>
          <p:cNvSpPr>
            <a:spLocks xmlns:a="http://schemas.openxmlformats.org/drawingml/2006/main" noGrp="1"/>
          </p:cNvSpPr>
          <p:nvPr/>
        </p:nvSpPr>
        <p:spPr>
          <a:xfrm xmlns:a="http://schemas.openxmlformats.org/drawingml/2006/main">
            <a:off x="9096375" y="51625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425" b="0">
                <a:solidFill>
                  <a:srgbClr val="142137"/>
                </a:solidFill>
                <a:latin typeface="Arial"/>
                <a:ea typeface="Arial"/>
                <a:cs typeface="Arial"/>
              </a:defRPr>
            </a:pPr>
            <a:r>
              <a:rPr sz="1425" b="0">
                <a:solidFill>
                  <a:srgbClr val="142137"/>
                </a:solidFill>
                <a:latin typeface="Arial"/>
                <a:ea typeface="Arial"/>
                <a:cs typeface="Arial"/>
              </a:rPr>
              <a:t>Response adapters</a:t>
            </a:r>
          </a:p>
        </p:txBody>
      </p:sp>
    </p:spTree>
    <p:extLst>
      <p:ext uri="{BB962C8B-B14F-4D97-AF65-F5344CB8AC3E}">
        <p14:creationId xmlns:p14="http://schemas.microsoft.com/office/powerpoint/2010/main" val="1797930391"/>
      </p:ext>
    </p:extLst>
  </p:cSld>
</p:sld>
</file>

<file path=ppt/slides/slide11.xml><?xml version="1.0" encoding="utf-8"?>
<p:sld xmlns:p="http://schemas.openxmlformats.org/presentationml/2006/main">
  <p:cSld>
    <p:bg>
      <p:bgPr>
        <a:solidFill xmlns:a="http://schemas.openxmlformats.org/drawingml/2006/main">
          <a:srgbClr val="132238"/>
        </a:solidFill>
      </p:bgPr>
    </p:bg>
    <p:spTree>
      <p:nvGrpSpPr>
        <p:cNvPr id="1" name=""/>
        <p:cNvGrpSpPr/>
        <p:nvPr/>
      </p:nvGrpSpPr>
      <p:grpSpPr>
        <a:xfrm xmlns:a="http://schemas.openxmlformats.org/drawingml/2006/main"/>
      </p:grpSpPr>
      <p:sp>
        <p:nvSpPr>
          <p:cNvPr id="15" name="PROJECT 03 / VLTD">
            <a:extLst xmlns:a="http://schemas.openxmlformats.org/drawingml/2006/main">
              <a:ext uri="{FF2B5EF4-FFF2-40B4-BE49-F238E27FC236}">
                <a16:creationId xmlns:a16="http://schemas.microsoft.com/office/drawing/2014/main" id="{0DF153C5-F794-489D-AEE8-DC2AEA399D35}"/>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83AAFF"/>
                </a:solidFill>
                <a:latin typeface="Arial"/>
                <a:ea typeface="Arial"/>
                <a:cs typeface="Arial"/>
              </a:defRPr>
            </a:pPr>
            <a:r>
              <a:rPr sz="975" b="1">
                <a:solidFill>
                  <a:srgbClr val="83AAFF"/>
                </a:solidFill>
                <a:latin typeface="Arial"/>
                <a:ea typeface="Arial"/>
                <a:cs typeface="Arial"/>
              </a:rPr>
              <a:t>PROJECT 03 / VLTD</a:t>
            </a:r>
          </a:p>
        </p:txBody>
      </p:sp>
      <p:sp>
        <p:nvSpPr>
          <p:cNvPr id="2" name="ATLANTA SYSTEMS">
            <a:extLst xmlns:a="http://schemas.openxmlformats.org/drawingml/2006/main">
              <a:ext uri="{FF2B5EF4-FFF2-40B4-BE49-F238E27FC236}">
                <a16:creationId xmlns:a16="http://schemas.microsoft.com/office/drawing/2014/main" id="{66BBDDCA-C065-4A24-A2A9-50ACA4D42CBC}"/>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B3C0D3"/>
                </a:solidFill>
                <a:latin typeface="Arial"/>
                <a:ea typeface="Arial"/>
                <a:cs typeface="Arial"/>
              </a:defRPr>
            </a:pPr>
            <a:r>
              <a:rPr sz="900" b="1">
                <a:solidFill>
                  <a:srgbClr val="B3C0D3"/>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9D111E52-B288-456C-92E3-3F32881AC9C5}"/>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B3C0D3"/>
                </a:solidFill>
                <a:latin typeface="Arial"/>
                <a:ea typeface="Arial"/>
                <a:cs typeface="Arial"/>
              </a:defRPr>
            </a:pPr>
            <a:r>
              <a:rPr sz="975" b="0">
                <a:solidFill>
                  <a:srgbClr val="B3C0D3"/>
                </a:solidFill>
                <a:latin typeface="Arial"/>
                <a:ea typeface="Arial"/>
                <a:cs typeface="Arial"/>
              </a:rPr>
              <a:t>Manish Kumar / Annual performance review</a:t>
            </a:r>
          </a:p>
        </p:txBody>
      </p:sp>
      <p:sp>
        <p:nvSpPr>
          <p:cNvPr id="4" name="11 / 18">
            <a:extLst xmlns:a="http://schemas.openxmlformats.org/drawingml/2006/main">
              <a:ext uri="{FF2B5EF4-FFF2-40B4-BE49-F238E27FC236}">
                <a16:creationId xmlns:a16="http://schemas.microsoft.com/office/drawing/2014/main" id="{B2083754-E1E0-40B2-9D2B-9F3B61F98A97}"/>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B3C0D3"/>
                </a:solidFill>
                <a:latin typeface="Arial"/>
                <a:ea typeface="Arial"/>
                <a:cs typeface="Arial"/>
              </a:defRPr>
            </a:pPr>
            <a:r>
              <a:rPr sz="1125" b="0">
                <a:solidFill>
                  <a:srgbClr val="B3C0D3"/>
                </a:solidFill>
                <a:latin typeface="Arial"/>
                <a:ea typeface="Arial"/>
                <a:cs typeface="Arial"/>
              </a:rPr>
              <a:t>11 / 18</a:t>
            </a:r>
          </a:p>
        </p:txBody>
      </p:sp>
      <p:sp>
        <p:nvSpPr>
          <p:cNvPr id="5" name="Taking over&#10;an evolving platform">
            <a:extLst xmlns:a="http://schemas.openxmlformats.org/drawingml/2006/main">
              <a:ext uri="{FF2B5EF4-FFF2-40B4-BE49-F238E27FC236}">
                <a16:creationId xmlns:a16="http://schemas.microsoft.com/office/drawing/2014/main" id="{2036192E-FED1-4393-A9CF-B47259F8959D}"/>
              </a:ext>
            </a:extLst>
          </p:cNvPr>
          <p:cNvSpPr>
            <a:spLocks xmlns:a="http://schemas.openxmlformats.org/drawingml/2006/main" noGrp="1"/>
          </p:cNvSpPr>
          <p:nvPr/>
        </p:nvSpPr>
        <p:spPr>
          <a:xfrm xmlns:a="http://schemas.openxmlformats.org/drawingml/2006/main">
            <a:off x="609600" y="87630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F6F8FC"/>
                </a:solidFill>
                <a:latin typeface="Arial"/>
                <a:ea typeface="Arial"/>
                <a:cs typeface="Arial"/>
              </a:defRPr>
            </a:pPr>
            <a:r>
              <a:rPr sz="3675" b="1">
                <a:solidFill>
                  <a:srgbClr val="F6F8FC"/>
                </a:solidFill>
                <a:latin typeface="Arial"/>
                <a:ea typeface="Arial"/>
                <a:cs typeface="Arial"/>
              </a:rPr>
              <a:t>Migrated the VLTD frontend</a:t>
            </a:r>
          </a:p>
          <a:p xmlns:a="http://schemas.openxmlformats.org/drawingml/2006/main">
            <a:pPr algn="l">
              <a:lnSpc>
                <a:spcPct val="110000"/>
              </a:lnSpc>
              <a:buNone/>
              <a:defRPr sz="3675" b="1">
                <a:solidFill>
                  <a:srgbClr val="F6F8FC"/>
                </a:solidFill>
                <a:latin typeface="Arial"/>
                <a:ea typeface="Arial"/>
                <a:cs typeface="Arial"/>
              </a:defRPr>
            </a:pPr>
            <a:r>
              <a:rPr sz="3675" b="1">
                <a:solidFill>
                  <a:srgbClr val="F6F8FC"/>
                </a:solidFill>
                <a:latin typeface="Arial"/>
                <a:ea typeface="Arial"/>
                <a:cs typeface="Arial"/>
              </a:rPr>
              <a:t>for maintainability and scale</a:t>
            </a:r>
          </a:p>
        </p:txBody>
      </p:sp>
      <p:sp>
        <p:nvSpPr>
          <p:cNvPr id="6" name="Vehicle tracking, device lifecycle management and transport compl">
            <a:extLst xmlns:a="http://schemas.openxmlformats.org/drawingml/2006/main">
              <a:ext uri="{FF2B5EF4-FFF2-40B4-BE49-F238E27FC236}">
                <a16:creationId xmlns:a16="http://schemas.microsoft.com/office/drawing/2014/main" id="{6C8E1291-2C4E-4008-A816-A4E4C2A08325}"/>
              </a:ext>
            </a:extLst>
          </p:cNvPr>
          <p:cNvSpPr>
            <a:spLocks xmlns:a="http://schemas.openxmlformats.org/drawingml/2006/main" noGrp="1"/>
          </p:cNvSpPr>
          <p:nvPr/>
        </p:nvSpPr>
        <p:spPr>
          <a:xfrm xmlns:a="http://schemas.openxmlformats.org/drawingml/2006/main">
            <a:off x="609600" y="21050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B3C0D3"/>
                </a:solidFill>
                <a:latin typeface="Arial"/>
                <a:ea typeface="Arial"/>
                <a:cs typeface="Arial"/>
              </a:defRPr>
            </a:pPr>
            <a:r>
              <a:rPr sz="1650" b="0">
                <a:solidFill>
                  <a:srgbClr val="B3C0D3"/>
                </a:solidFill>
                <a:latin typeface="Arial"/>
                <a:ea typeface="Arial"/>
                <a:cs typeface="Arial"/>
              </a:rPr>
              <a:t>A new vehicle tracking and compliance platform started by recently joined developers</a:t>
            </a:r>
          </a:p>
        </p:txBody>
      </p:sp>
      <p:sp>
        <p:nvSpPr>
          <p:cNvPr id="7" name="I combined architecture improvements with feature delivery and te">
            <a:extLst xmlns:a="http://schemas.openxmlformats.org/drawingml/2006/main">
              <a:ext uri="{FF2B5EF4-FFF2-40B4-BE49-F238E27FC236}">
                <a16:creationId xmlns:a16="http://schemas.microsoft.com/office/drawing/2014/main" id="{DAA3C602-0D71-4490-8E40-901262AE9128}"/>
              </a:ext>
            </a:extLst>
          </p:cNvPr>
          <p:cNvSpPr>
            <a:spLocks xmlns:a="http://schemas.openxmlformats.org/drawingml/2006/main" noGrp="1"/>
          </p:cNvSpPr>
          <p:nvPr/>
        </p:nvSpPr>
        <p:spPr>
          <a:xfrm xmlns:a="http://schemas.openxmlformats.org/drawingml/2006/main">
            <a:off x="609600" y="2819400"/>
            <a:ext cx="4048125"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2700" b="0">
                <a:solidFill>
                  <a:srgbClr val="83AAFF"/>
                </a:solidFill>
                <a:latin typeface="Arial"/>
                <a:ea typeface="Arial"/>
                <a:cs typeface="Arial"/>
              </a:defRPr>
            </a:pPr>
            <a:r>
              <a:rPr sz="2700" b="0">
                <a:solidFill>
                  <a:srgbClr val="83AAFF"/>
                </a:solidFill>
                <a:latin typeface="Arial"/>
                <a:ea typeface="Arial"/>
                <a:cs typeface="Arial"/>
              </a:rPr>
              <a:t>I moved the entire frontend codebase to a new tech stack.</a:t>
            </a:r>
          </a:p>
        </p:txBody>
      </p:sp>
      <p:sp>
        <p:nvSpPr>
          <p:cNvPr id="8" name="">
            <a:extLst xmlns:a="http://schemas.openxmlformats.org/drawingml/2006/main">
              <a:ext uri="{FF2B5EF4-FFF2-40B4-BE49-F238E27FC236}">
                <a16:creationId xmlns:a16="http://schemas.microsoft.com/office/drawing/2014/main" id="{AC157C37-8F2A-4858-9EC8-7F072E203D6C}"/>
              </a:ext>
            </a:extLst>
          </p:cNvPr>
          <p:cNvSpPr>
            <a:spLocks xmlns:a="http://schemas.openxmlformats.org/drawingml/2006/main" noGrp="1"/>
          </p:cNvSpPr>
          <p:nvPr/>
        </p:nvSpPr>
        <p:spPr>
          <a:xfrm xmlns:a="http://schemas.openxmlformats.org/drawingml/2006/main">
            <a:off x="5400675" y="2743200"/>
            <a:ext cx="6181725" cy="0"/>
          </a:xfrm>
          <a:prstGeom xmlns:a="http://schemas.openxmlformats.org/drawingml/2006/main" prst="line">
            <a:avLst/>
          </a:prstGeom>
          <a:noFill xmlns:a="http://schemas.openxmlformats.org/drawingml/2006/main"/>
          <a:ln xmlns:a="http://schemas.openxmlformats.org/drawingml/2006/main" w="9525">
            <a:solidFill>
              <a:srgbClr val="35475E"/>
            </a:solidFill>
          </a:ln>
        </p:spPr>
      </p:sp>
      <p:sp>
        <p:nvSpPr>
          <p:cNvPr id="9" name="Research before implementation">
            <a:extLst xmlns:a="http://schemas.openxmlformats.org/drawingml/2006/main">
              <a:ext uri="{FF2B5EF4-FFF2-40B4-BE49-F238E27FC236}">
                <a16:creationId xmlns:a16="http://schemas.microsoft.com/office/drawing/2014/main" id="{37B1DC1C-4846-4100-A5C7-C2AACBBD93E9}"/>
              </a:ext>
            </a:extLst>
          </p:cNvPr>
          <p:cNvSpPr>
            <a:spLocks xmlns:a="http://schemas.openxmlformats.org/drawingml/2006/main" noGrp="1"/>
          </p:cNvSpPr>
          <p:nvPr/>
        </p:nvSpPr>
        <p:spPr>
          <a:xfrm xmlns:a="http://schemas.openxmlformats.org/drawingml/2006/main">
            <a:off x="5400675" y="290512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Modules and workflows</a:t>
            </a:r>
          </a:p>
        </p:txBody>
      </p:sp>
      <p:sp>
        <p:nvSpPr>
          <p:cNvPr id="10" name="Reviewed 4–5 portals and documented functional and non-functional">
            <a:extLst xmlns:a="http://schemas.openxmlformats.org/drawingml/2006/main">
              <a:ext uri="{FF2B5EF4-FFF2-40B4-BE49-F238E27FC236}">
                <a16:creationId xmlns:a16="http://schemas.microsoft.com/office/drawing/2014/main" id="{C189140B-0427-44FD-9623-B225EE6E4FE3}"/>
              </a:ext>
            </a:extLst>
          </p:cNvPr>
          <p:cNvSpPr>
            <a:spLocks xmlns:a="http://schemas.openxmlformats.org/drawingml/2006/main" noGrp="1"/>
          </p:cNvSpPr>
          <p:nvPr/>
        </p:nvSpPr>
        <p:spPr>
          <a:xfrm xmlns:a="http://schemas.openxmlformats.org/drawingml/2006/main">
            <a:off x="5400675" y="324802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Transport Department, Fleet Owner, School Management, Driver and challan workflows.</a:t>
            </a:r>
          </a:p>
        </p:txBody>
      </p:sp>
      <p:sp>
        <p:nvSpPr>
          <p:cNvPr id="11" name="A clearer architecture">
            <a:extLst xmlns:a="http://schemas.openxmlformats.org/drawingml/2006/main">
              <a:ext uri="{FF2B5EF4-FFF2-40B4-BE49-F238E27FC236}">
                <a16:creationId xmlns:a16="http://schemas.microsoft.com/office/drawing/2014/main" id="{ABB61360-5086-4EA2-8188-DA954EE58FDF}"/>
              </a:ext>
            </a:extLst>
          </p:cNvPr>
          <p:cNvSpPr>
            <a:spLocks xmlns:a="http://schemas.openxmlformats.org/drawingml/2006/main" noGrp="1"/>
          </p:cNvSpPr>
          <p:nvPr/>
        </p:nvSpPr>
        <p:spPr>
          <a:xfrm xmlns:a="http://schemas.openxmlformats.org/drawingml/2006/main">
            <a:off x="5400675" y="3848100"/>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Migration and architecture</a:t>
            </a:r>
          </a:p>
        </p:txBody>
      </p:sp>
      <p:sp>
        <p:nvSpPr>
          <p:cNvPr id="12" name="Migrated the existing structure to make the code easier to unders">
            <a:extLst xmlns:a="http://schemas.openxmlformats.org/drawingml/2006/main">
              <a:ext uri="{FF2B5EF4-FFF2-40B4-BE49-F238E27FC236}">
                <a16:creationId xmlns:a16="http://schemas.microsoft.com/office/drawing/2014/main" id="{C642AE31-754A-423C-8506-DD457ECAEA81}"/>
              </a:ext>
            </a:extLst>
          </p:cNvPr>
          <p:cNvSpPr>
            <a:spLocks xmlns:a="http://schemas.openxmlformats.org/drawingml/2006/main" noGrp="1"/>
          </p:cNvSpPr>
          <p:nvPr/>
        </p:nvSpPr>
        <p:spPr>
          <a:xfrm xmlns:a="http://schemas.openxmlformats.org/drawingml/2006/main">
            <a:off x="5400675" y="4191000"/>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Reworked the architecture to make the codebase easier to maintain and scale.</a:t>
            </a:r>
          </a:p>
        </p:txBody>
      </p:sp>
      <p:sp>
        <p:nvSpPr>
          <p:cNvPr id="13" name="Continued delivery">
            <a:extLst xmlns:a="http://schemas.openxmlformats.org/drawingml/2006/main">
              <a:ext uri="{FF2B5EF4-FFF2-40B4-BE49-F238E27FC236}">
                <a16:creationId xmlns:a16="http://schemas.microsoft.com/office/drawing/2014/main" id="{27A01351-46E1-4E74-AE35-099437B5AF0E}"/>
              </a:ext>
            </a:extLst>
          </p:cNvPr>
          <p:cNvSpPr>
            <a:spLocks xmlns:a="http://schemas.openxmlformats.org/drawingml/2006/main" noGrp="1"/>
          </p:cNvSpPr>
          <p:nvPr/>
        </p:nvSpPr>
        <p:spPr>
          <a:xfrm xmlns:a="http://schemas.openxmlformats.org/drawingml/2006/main">
            <a:off x="5400675" y="4791075"/>
            <a:ext cx="61817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Frontend leadership</a:t>
            </a:r>
          </a:p>
        </p:txBody>
      </p:sp>
      <p:sp>
        <p:nvSpPr>
          <p:cNvPr id="14" name="Worked on complex flows while resolving questions from junior dev">
            <a:extLst xmlns:a="http://schemas.openxmlformats.org/drawingml/2006/main">
              <a:ext uri="{FF2B5EF4-FFF2-40B4-BE49-F238E27FC236}">
                <a16:creationId xmlns:a16="http://schemas.microsoft.com/office/drawing/2014/main" id="{D19217C6-7871-4EE5-B2D5-93F099820653}"/>
              </a:ext>
            </a:extLst>
          </p:cNvPr>
          <p:cNvSpPr>
            <a:spLocks xmlns:a="http://schemas.openxmlformats.org/drawingml/2006/main" noGrp="1"/>
          </p:cNvSpPr>
          <p:nvPr/>
        </p:nvSpPr>
        <p:spPr>
          <a:xfrm xmlns:a="http://schemas.openxmlformats.org/drawingml/2006/main">
            <a:off x="5400675" y="5133975"/>
            <a:ext cx="61817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575" b="0">
                <a:solidFill>
                  <a:srgbClr val="B3C0D3"/>
                </a:solidFill>
                <a:latin typeface="Arial"/>
                <a:ea typeface="Arial"/>
                <a:cs typeface="Arial"/>
              </a:defRPr>
            </a:pPr>
            <a:r>
              <a:rPr sz="1575" b="0">
                <a:solidFill>
                  <a:srgbClr val="B3C0D3"/>
                </a:solidFill>
                <a:latin typeface="Arial"/>
                <a:ea typeface="Arial"/>
                <a:cs typeface="Arial"/>
              </a:rPr>
              <a:t>Plan features, align page updates, mentor juniors and resolve implementation issues.</a:t>
            </a:r>
          </a:p>
        </p:txBody>
      </p:sp>
    </p:spTree>
    <p:extLst>
      <p:ext uri="{BB962C8B-B14F-4D97-AF65-F5344CB8AC3E}">
        <p14:creationId xmlns:p14="http://schemas.microsoft.com/office/powerpoint/2010/main" val="168399258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VLTD / PLATFORM SCOPE">
            <a:extLst xmlns:a="http://schemas.openxmlformats.org/drawingml/2006/main">
              <a:ext uri="{FF2B5EF4-FFF2-40B4-BE49-F238E27FC236}">
                <a16:creationId xmlns:a16="http://schemas.microsoft.com/office/drawing/2014/main" id="{BD105467-E77E-493F-9691-13DAE6F2DBC6}"/>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VLTD / MY DELIVERY SCOPE</a:t>
            </a:r>
          </a:p>
        </p:txBody>
      </p:sp>
      <p:sp>
        <p:nvSpPr>
          <p:cNvPr id="2" name="ATLANTA SYSTEMS">
            <a:extLst xmlns:a="http://schemas.openxmlformats.org/drawingml/2006/main">
              <a:ext uri="{FF2B5EF4-FFF2-40B4-BE49-F238E27FC236}">
                <a16:creationId xmlns:a16="http://schemas.microsoft.com/office/drawing/2014/main" id="{CA8B085B-99C9-4AF9-BBC6-FFC7ECEFE802}"/>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Capabilities describe the team’s platform. My ownership is stated">
            <a:extLst xmlns:a="http://schemas.openxmlformats.org/drawingml/2006/main">
              <a:ext uri="{FF2B5EF4-FFF2-40B4-BE49-F238E27FC236}">
                <a16:creationId xmlns:a16="http://schemas.microsoft.com/office/drawing/2014/main" id="{C878FCC9-F60C-406E-8C67-115C9D676CCC}"/>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OEM, FC and RTO panels, including device workflows, were delivered by other team members.</a:t>
            </a:r>
          </a:p>
        </p:txBody>
      </p:sp>
      <p:sp>
        <p:nvSpPr>
          <p:cNvPr id="4" name="12 / 18">
            <a:extLst xmlns:a="http://schemas.openxmlformats.org/drawingml/2006/main">
              <a:ext uri="{FF2B5EF4-FFF2-40B4-BE49-F238E27FC236}">
                <a16:creationId xmlns:a16="http://schemas.microsoft.com/office/drawing/2014/main" id="{40C755C6-1AD1-46CE-AB10-2193BECEE652}"/>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12 / 18</a:t>
            </a:r>
          </a:p>
        </p:txBody>
      </p:sp>
      <p:sp>
        <p:nvSpPr>
          <p:cNvPr id="5" name="Complex workflows across the device lifecycle">
            <a:extLst xmlns:a="http://schemas.openxmlformats.org/drawingml/2006/main">
              <a:ext uri="{FF2B5EF4-FFF2-40B4-BE49-F238E27FC236}">
                <a16:creationId xmlns:a16="http://schemas.microsoft.com/office/drawing/2014/main" id="{1E02C17A-7ED6-4D6B-9770-D23904419A9D}"/>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My frontend ownership within VLTD</a:t>
            </a:r>
          </a:p>
        </p:txBody>
      </p:sp>
      <p:sp>
        <p:nvSpPr>
          <p:cNvPr id="6" name="">
            <a:extLst xmlns:a="http://schemas.openxmlformats.org/drawingml/2006/main">
              <a:ext uri="{FF2B5EF4-FFF2-40B4-BE49-F238E27FC236}">
                <a16:creationId xmlns:a16="http://schemas.microsoft.com/office/drawing/2014/main" id="{0D2C833F-C046-4AF9-9399-745CC31EB29F}"/>
              </a:ext>
            </a:extLst>
          </p:cNvPr>
          <p:cNvSpPr>
            <a:spLocks xmlns:a="http://schemas.openxmlformats.org/drawingml/2006/main" noGrp="1"/>
          </p:cNvSpPr>
          <p:nvPr/>
        </p:nvSpPr>
        <p:spPr>
          <a:xfrm xmlns:a="http://schemas.openxmlformats.org/drawingml/2006/main">
            <a:off x="609600" y="1828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7" name="01">
            <a:extLst xmlns:a="http://schemas.openxmlformats.org/drawingml/2006/main">
              <a:ext uri="{FF2B5EF4-FFF2-40B4-BE49-F238E27FC236}">
                <a16:creationId xmlns:a16="http://schemas.microsoft.com/office/drawing/2014/main" id="{B464EAAE-0C1A-4363-89C0-15D40688E2F8}"/>
              </a:ext>
            </a:extLst>
          </p:cNvPr>
          <p:cNvSpPr>
            <a:spLocks xmlns:a="http://schemas.openxmlformats.org/drawingml/2006/main" noGrp="1"/>
          </p:cNvSpPr>
          <p:nvPr/>
        </p:nvSpPr>
        <p:spPr>
          <a:xfrm xmlns:a="http://schemas.openxmlformats.org/drawingml/2006/main">
            <a:off x="609600" y="206692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01</a:t>
            </a:r>
          </a:p>
        </p:txBody>
      </p:sp>
      <p:sp>
        <p:nvSpPr>
          <p:cNvPr id="8" name="Install and verify">
            <a:extLst xmlns:a="http://schemas.openxmlformats.org/drawingml/2006/main">
              <a:ext uri="{FF2B5EF4-FFF2-40B4-BE49-F238E27FC236}">
                <a16:creationId xmlns:a16="http://schemas.microsoft.com/office/drawing/2014/main" id="{597AE54B-A935-4AE0-99A9-DCE28B551BF7}"/>
              </a:ext>
            </a:extLst>
          </p:cNvPr>
          <p:cNvSpPr>
            <a:spLocks xmlns:a="http://schemas.openxmlformats.org/drawingml/2006/main" noGrp="1"/>
          </p:cNvSpPr>
          <p:nvPr/>
        </p:nvSpPr>
        <p:spPr>
          <a:xfrm xmlns:a="http://schemas.openxmlformats.org/drawingml/2006/main">
            <a:off x="1219200" y="200977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Transport Department</a:t>
            </a:r>
          </a:p>
        </p:txBody>
      </p:sp>
      <p:sp>
        <p:nvSpPr>
          <p:cNvPr id="9" name="Vehicle validation, device selection, health checks, panic tests ">
            <a:extLst xmlns:a="http://schemas.openxmlformats.org/drawingml/2006/main">
              <a:ext uri="{FF2B5EF4-FFF2-40B4-BE49-F238E27FC236}">
                <a16:creationId xmlns:a16="http://schemas.microsoft.com/office/drawing/2014/main" id="{7B0FF8D5-13DD-4366-A7C8-BFBC2849357C}"/>
              </a:ext>
            </a:extLst>
          </p:cNvPr>
          <p:cNvSpPr>
            <a:spLocks xmlns:a="http://schemas.openxmlformats.org/drawingml/2006/main" noGrp="1"/>
          </p:cNvSpPr>
          <p:nvPr/>
        </p:nvSpPr>
        <p:spPr>
          <a:xfrm xmlns:a="http://schemas.openxmlformats.org/drawingml/2006/main">
            <a:off x="4381500" y="200977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Operational workflows for transport department users.</a:t>
            </a:r>
          </a:p>
        </p:txBody>
      </p:sp>
      <p:sp>
        <p:nvSpPr>
          <p:cNvPr id="10" name="">
            <a:extLst xmlns:a="http://schemas.openxmlformats.org/drawingml/2006/main">
              <a:ext uri="{FF2B5EF4-FFF2-40B4-BE49-F238E27FC236}">
                <a16:creationId xmlns:a16="http://schemas.microsoft.com/office/drawing/2014/main" id="{653656C3-0D26-477A-9A9E-5BF2778131B5}"/>
              </a:ext>
            </a:extLst>
          </p:cNvPr>
          <p:cNvSpPr>
            <a:spLocks xmlns:a="http://schemas.openxmlformats.org/drawingml/2006/main" noGrp="1"/>
          </p:cNvSpPr>
          <p:nvPr/>
        </p:nvSpPr>
        <p:spPr>
          <a:xfrm xmlns:a="http://schemas.openxmlformats.org/drawingml/2006/main">
            <a:off x="609600" y="269557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1" name="02">
            <a:extLst xmlns:a="http://schemas.openxmlformats.org/drawingml/2006/main">
              <a:ext uri="{FF2B5EF4-FFF2-40B4-BE49-F238E27FC236}">
                <a16:creationId xmlns:a16="http://schemas.microsoft.com/office/drawing/2014/main" id="{AC6CD68A-62CC-4BB6-B9CC-20028B5455A4}"/>
              </a:ext>
            </a:extLst>
          </p:cNvPr>
          <p:cNvSpPr>
            <a:spLocks xmlns:a="http://schemas.openxmlformats.org/drawingml/2006/main" noGrp="1"/>
          </p:cNvSpPr>
          <p:nvPr/>
        </p:nvSpPr>
        <p:spPr>
          <a:xfrm xmlns:a="http://schemas.openxmlformats.org/drawingml/2006/main">
            <a:off x="609600" y="293370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02</a:t>
            </a:r>
          </a:p>
        </p:txBody>
      </p:sp>
      <p:sp>
        <p:nvSpPr>
          <p:cNvPr id="12" name="Maintain and replace">
            <a:extLst xmlns:a="http://schemas.openxmlformats.org/drawingml/2006/main">
              <a:ext uri="{FF2B5EF4-FFF2-40B4-BE49-F238E27FC236}">
                <a16:creationId xmlns:a16="http://schemas.microsoft.com/office/drawing/2014/main" id="{4794C2E7-DA07-4691-BB27-72E99FD5577B}"/>
              </a:ext>
            </a:extLst>
          </p:cNvPr>
          <p:cNvSpPr>
            <a:spLocks xmlns:a="http://schemas.openxmlformats.org/drawingml/2006/main" noGrp="1"/>
          </p:cNvSpPr>
          <p:nvPr/>
        </p:nvSpPr>
        <p:spPr>
          <a:xfrm xmlns:a="http://schemas.openxmlformats.org/drawingml/2006/main">
            <a:off x="1219200" y="287655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Fleet, school and driver</a:t>
            </a:r>
          </a:p>
        </p:txBody>
      </p:sp>
      <p:sp>
        <p:nvSpPr>
          <p:cNvPr id="13" name="Repair workflows, replacement, status history and QR-enabled PDF ">
            <a:extLst xmlns:a="http://schemas.openxmlformats.org/drawingml/2006/main">
              <a:ext uri="{FF2B5EF4-FFF2-40B4-BE49-F238E27FC236}">
                <a16:creationId xmlns:a16="http://schemas.microsoft.com/office/drawing/2014/main" id="{2BE82EE9-B899-4194-B9F3-A35827267791}"/>
              </a:ext>
            </a:extLst>
          </p:cNvPr>
          <p:cNvSpPr>
            <a:spLocks xmlns:a="http://schemas.openxmlformats.org/drawingml/2006/main" noGrp="1"/>
          </p:cNvSpPr>
          <p:nvPr/>
        </p:nvSpPr>
        <p:spPr>
          <a:xfrm xmlns:a="http://schemas.openxmlformats.org/drawingml/2006/main">
            <a:off x="4381500" y="287655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Frontend modules for fleet owners, school management and drivers.</a:t>
            </a:r>
          </a:p>
        </p:txBody>
      </p:sp>
      <p:sp>
        <p:nvSpPr>
          <p:cNvPr id="14" name="">
            <a:extLst xmlns:a="http://schemas.openxmlformats.org/drawingml/2006/main">
              <a:ext uri="{FF2B5EF4-FFF2-40B4-BE49-F238E27FC236}">
                <a16:creationId xmlns:a16="http://schemas.microsoft.com/office/drawing/2014/main" id="{F538E8A6-2641-4150-B4B0-88923841DD3C}"/>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03">
            <a:extLst xmlns:a="http://schemas.openxmlformats.org/drawingml/2006/main">
              <a:ext uri="{FF2B5EF4-FFF2-40B4-BE49-F238E27FC236}">
                <a16:creationId xmlns:a16="http://schemas.microsoft.com/office/drawing/2014/main" id="{85624A00-1588-42EB-830A-9B092567AEB7}"/>
              </a:ext>
            </a:extLst>
          </p:cNvPr>
          <p:cNvSpPr>
            <a:spLocks xmlns:a="http://schemas.openxmlformats.org/drawingml/2006/main" noGrp="1"/>
          </p:cNvSpPr>
          <p:nvPr/>
        </p:nvSpPr>
        <p:spPr>
          <a:xfrm xmlns:a="http://schemas.openxmlformats.org/drawingml/2006/main">
            <a:off x="609600" y="380047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03</a:t>
            </a:r>
          </a:p>
        </p:txBody>
      </p:sp>
      <p:sp>
        <p:nvSpPr>
          <p:cNvPr id="16" name="Monitor and govern">
            <a:extLst xmlns:a="http://schemas.openxmlformats.org/drawingml/2006/main">
              <a:ext uri="{FF2B5EF4-FFF2-40B4-BE49-F238E27FC236}">
                <a16:creationId xmlns:a16="http://schemas.microsoft.com/office/drawing/2014/main" id="{54854DC3-0486-4163-8D5E-489FC1F93BB3}"/>
              </a:ext>
            </a:extLst>
          </p:cNvPr>
          <p:cNvSpPr>
            <a:spLocks xmlns:a="http://schemas.openxmlformats.org/drawingml/2006/main" noGrp="1"/>
          </p:cNvSpPr>
          <p:nvPr/>
        </p:nvSpPr>
        <p:spPr>
          <a:xfrm xmlns:a="http://schemas.openxmlformats.org/drawingml/2006/main">
            <a:off x="1219200" y="374332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Challan workflow</a:t>
            </a:r>
          </a:p>
        </p:txBody>
      </p:sp>
      <p:sp>
        <p:nvSpPr>
          <p:cNvPr id="17" name="Tracking, alerts, command centres, challans and operational repor">
            <a:extLst xmlns:a="http://schemas.openxmlformats.org/drawingml/2006/main">
              <a:ext uri="{FF2B5EF4-FFF2-40B4-BE49-F238E27FC236}">
                <a16:creationId xmlns:a16="http://schemas.microsoft.com/office/drawing/2014/main" id="{BDA3F798-FF84-4B3D-BFB0-38109DB9DF5E}"/>
              </a:ext>
            </a:extLst>
          </p:cNvPr>
          <p:cNvSpPr>
            <a:spLocks xmlns:a="http://schemas.openxmlformats.org/drawingml/2006/main" noGrp="1"/>
          </p:cNvSpPr>
          <p:nvPr/>
        </p:nvSpPr>
        <p:spPr>
          <a:xfrm xmlns:a="http://schemas.openxmlformats.org/drawingml/2006/main">
            <a:off x="4381500" y="374332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Plan and implement the challan flow across the project.</a:t>
            </a:r>
          </a:p>
        </p:txBody>
      </p:sp>
      <p:sp>
        <p:nvSpPr>
          <p:cNvPr id="18" name="">
            <a:extLst xmlns:a="http://schemas.openxmlformats.org/drawingml/2006/main">
              <a:ext uri="{FF2B5EF4-FFF2-40B4-BE49-F238E27FC236}">
                <a16:creationId xmlns:a16="http://schemas.microsoft.com/office/drawing/2014/main" id="{8085A9A0-7E4B-4692-936B-1E9A81197E51}"/>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9" name="04">
            <a:extLst xmlns:a="http://schemas.openxmlformats.org/drawingml/2006/main">
              <a:ext uri="{FF2B5EF4-FFF2-40B4-BE49-F238E27FC236}">
                <a16:creationId xmlns:a16="http://schemas.microsoft.com/office/drawing/2014/main" id="{D1A143B0-79F2-4259-B209-A8B9C82B41AC}"/>
              </a:ext>
            </a:extLst>
          </p:cNvPr>
          <p:cNvSpPr>
            <a:spLocks xmlns:a="http://schemas.openxmlformats.org/drawingml/2006/main" noGrp="1"/>
          </p:cNvSpPr>
          <p:nvPr/>
        </p:nvSpPr>
        <p:spPr>
          <a:xfrm xmlns:a="http://schemas.openxmlformats.org/drawingml/2006/main">
            <a:off x="609600" y="466725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04</a:t>
            </a:r>
          </a:p>
        </p:txBody>
      </p:sp>
      <p:sp>
        <p:nvSpPr>
          <p:cNvPr id="20" name="Extend role access">
            <a:extLst xmlns:a="http://schemas.openxmlformats.org/drawingml/2006/main">
              <a:ext uri="{FF2B5EF4-FFF2-40B4-BE49-F238E27FC236}">
                <a16:creationId xmlns:a16="http://schemas.microsoft.com/office/drawing/2014/main" id="{36EEB3C9-CF90-46AD-A652-521D84C83D0A}"/>
              </a:ext>
            </a:extLst>
          </p:cNvPr>
          <p:cNvSpPr>
            <a:spLocks xmlns:a="http://schemas.openxmlformats.org/drawingml/2006/main" noGrp="1"/>
          </p:cNvSpPr>
          <p:nvPr/>
        </p:nvSpPr>
        <p:spPr>
          <a:xfrm xmlns:a="http://schemas.openxmlformats.org/drawingml/2006/main">
            <a:off x="1219200" y="461010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Architecture and quality</a:t>
            </a:r>
          </a:p>
        </p:txBody>
      </p:sp>
      <p:sp>
        <p:nvSpPr>
          <p:cNvPr id="21" name="Dedicated portals for authorities, OEMs, fitment centres, inspect">
            <a:extLst xmlns:a="http://schemas.openxmlformats.org/drawingml/2006/main">
              <a:ext uri="{FF2B5EF4-FFF2-40B4-BE49-F238E27FC236}">
                <a16:creationId xmlns:a16="http://schemas.microsoft.com/office/drawing/2014/main" id="{12E9C11D-24BC-433E-A89F-5E46CD63F954}"/>
              </a:ext>
            </a:extLst>
          </p:cNvPr>
          <p:cNvSpPr>
            <a:spLocks xmlns:a="http://schemas.openxmlformats.org/drawingml/2006/main" noGrp="1"/>
          </p:cNvSpPr>
          <p:nvPr/>
        </p:nvSpPr>
        <p:spPr>
          <a:xfrm xmlns:a="http://schemas.openxmlformats.org/drawingml/2006/main">
            <a:off x="4381500" y="461010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Improve the whole frontend with clean, maintainable and optimized code.</a:t>
            </a:r>
          </a:p>
        </p:txBody>
      </p:sp>
      <p:sp>
        <p:nvSpPr>
          <p:cNvPr id="22" name="">
            <a:extLst xmlns:a="http://schemas.openxmlformats.org/drawingml/2006/main">
              <a:ext uri="{FF2B5EF4-FFF2-40B4-BE49-F238E27FC236}">
                <a16:creationId xmlns:a16="http://schemas.microsoft.com/office/drawing/2014/main" id="{7D5142EB-AE8E-4C16-819E-FDE14E58E7CF}"/>
              </a:ext>
            </a:extLst>
          </p:cNvPr>
          <p:cNvSpPr>
            <a:spLocks xmlns:a="http://schemas.openxmlformats.org/drawingml/2006/main" noGrp="1"/>
          </p:cNvSpPr>
          <p:nvPr/>
        </p:nvSpPr>
        <p:spPr>
          <a:xfrm xmlns:a="http://schemas.openxmlformats.org/drawingml/2006/main">
            <a:off x="609600" y="52959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3" name="">
            <a:extLst xmlns:a="http://schemas.openxmlformats.org/drawingml/2006/main">
              <a:ext uri="{FF2B5EF4-FFF2-40B4-BE49-F238E27FC236}">
                <a16:creationId xmlns:a16="http://schemas.microsoft.com/office/drawing/2014/main" id="{F690F6A5-4728-47F1-9EEE-9A28D30A49B1}"/>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4" name="My current focus includes RBAC, complex feature work and maintain">
            <a:extLst xmlns:a="http://schemas.openxmlformats.org/drawingml/2006/main">
              <a:ext uri="{FF2B5EF4-FFF2-40B4-BE49-F238E27FC236}">
                <a16:creationId xmlns:a16="http://schemas.microsoft.com/office/drawing/2014/main" id="{04E116A8-D99E-4F06-AC7D-EE980722CDF0}"/>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I combine module ownership with frontend leadership across the six-person team.</a:t>
            </a:r>
          </a:p>
        </p:txBody>
      </p:sp>
    </p:spTree>
    <p:extLst>
      <p:ext uri="{BB962C8B-B14F-4D97-AF65-F5344CB8AC3E}">
        <p14:creationId xmlns:p14="http://schemas.microsoft.com/office/powerpoint/2010/main" val="110970485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CROSS-PROJECT ENGINEERING">
            <a:extLst xmlns:a="http://schemas.openxmlformats.org/drawingml/2006/main">
              <a:ext uri="{FF2B5EF4-FFF2-40B4-BE49-F238E27FC236}">
                <a16:creationId xmlns:a16="http://schemas.microsoft.com/office/drawing/2014/main" id="{406DD9FA-B568-4D22-8E99-00F61512A509}"/>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CROSS-PROJECT ENGINEERING</a:t>
            </a:r>
          </a:p>
        </p:txBody>
      </p:sp>
      <p:sp>
        <p:nvSpPr>
          <p:cNvPr id="2" name="ATLANTA SYSTEMS">
            <a:extLst xmlns:a="http://schemas.openxmlformats.org/drawingml/2006/main">
              <a:ext uri="{FF2B5EF4-FFF2-40B4-BE49-F238E27FC236}">
                <a16:creationId xmlns:a16="http://schemas.microsoft.com/office/drawing/2014/main" id="{FFC38369-3CD0-492D-A2AB-B5AA8F61A02A}"/>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C132B5BD-C681-4716-B09B-E15FED749CE2}"/>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13 / 18">
            <a:extLst xmlns:a="http://schemas.openxmlformats.org/drawingml/2006/main">
              <a:ext uri="{FF2B5EF4-FFF2-40B4-BE49-F238E27FC236}">
                <a16:creationId xmlns:a16="http://schemas.microsoft.com/office/drawing/2014/main" id="{728BFD9B-72FF-4F74-8D3E-26B18FA2DCA6}"/>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13 / 18</a:t>
            </a:r>
          </a:p>
        </p:txBody>
      </p:sp>
      <p:sp>
        <p:nvSpPr>
          <p:cNvPr id="5" name="Access control across every portal">
            <a:extLst xmlns:a="http://schemas.openxmlformats.org/drawingml/2006/main">
              <a:ext uri="{FF2B5EF4-FFF2-40B4-BE49-F238E27FC236}">
                <a16:creationId xmlns:a16="http://schemas.microsoft.com/office/drawing/2014/main" id="{9B2F9877-8E7E-41BC-AB36-0447119161FA}"/>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Access control across every portal</a:t>
            </a:r>
          </a:p>
        </p:txBody>
      </p:sp>
      <p:sp>
        <p:nvSpPr>
          <p:cNvPr id="6" name="Role-based access control is a recurring part of my frontend work">
            <a:extLst xmlns:a="http://schemas.openxmlformats.org/drawingml/2006/main">
              <a:ext uri="{FF2B5EF4-FFF2-40B4-BE49-F238E27FC236}">
                <a16:creationId xmlns:a16="http://schemas.microsoft.com/office/drawing/2014/main" id="{F203AE53-2033-4310-A126-2E3C109E8B19}"/>
              </a:ext>
            </a:extLst>
          </p:cNvPr>
          <p:cNvSpPr>
            <a:spLocks xmlns:a="http://schemas.openxmlformats.org/drawingml/2006/main" noGrp="1"/>
          </p:cNvSpPr>
          <p:nvPr/>
        </p:nvSpPr>
        <p:spPr>
          <a:xfrm xmlns:a="http://schemas.openxmlformats.org/drawingml/2006/main">
            <a:off x="609600" y="1571625"/>
            <a:ext cx="10858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Role-based access control is a recurring part of my frontend work.</a:t>
            </a:r>
          </a:p>
        </p:txBody>
      </p:sp>
      <p:sp>
        <p:nvSpPr>
          <p:cNvPr id="7" name="">
            <a:extLst xmlns:a="http://schemas.openxmlformats.org/drawingml/2006/main">
              <a:ext uri="{FF2B5EF4-FFF2-40B4-BE49-F238E27FC236}">
                <a16:creationId xmlns:a16="http://schemas.microsoft.com/office/drawing/2014/main" id="{C62FC668-E28F-4FE9-B009-AC967416ADCC}"/>
              </a:ext>
            </a:extLst>
          </p:cNvPr>
          <p:cNvSpPr>
            <a:spLocks xmlns:a="http://schemas.openxmlformats.org/drawingml/2006/main" noGrp="1"/>
          </p:cNvSpPr>
          <p:nvPr/>
        </p:nvSpPr>
        <p:spPr>
          <a:xfrm xmlns:a="http://schemas.openxmlformats.org/drawingml/2006/main">
            <a:off x="609600"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8" name="01">
            <a:extLst xmlns:a="http://schemas.openxmlformats.org/drawingml/2006/main">
              <a:ext uri="{FF2B5EF4-FFF2-40B4-BE49-F238E27FC236}">
                <a16:creationId xmlns:a16="http://schemas.microsoft.com/office/drawing/2014/main" id="{C85476C9-41BB-4A48-A0A5-1F51EE60A94B}"/>
              </a:ext>
            </a:extLst>
          </p:cNvPr>
          <p:cNvSpPr>
            <a:spLocks xmlns:a="http://schemas.openxmlformats.org/drawingml/2006/main" noGrp="1"/>
          </p:cNvSpPr>
          <p:nvPr/>
        </p:nvSpPr>
        <p:spPr>
          <a:xfrm xmlns:a="http://schemas.openxmlformats.org/drawingml/2006/main">
            <a:off x="609600"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01</a:t>
            </a:r>
          </a:p>
        </p:txBody>
      </p:sp>
      <p:sp>
        <p:nvSpPr>
          <p:cNvPr id="9" name="Routes">
            <a:extLst xmlns:a="http://schemas.openxmlformats.org/drawingml/2006/main">
              <a:ext uri="{FF2B5EF4-FFF2-40B4-BE49-F238E27FC236}">
                <a16:creationId xmlns:a16="http://schemas.microsoft.com/office/drawing/2014/main" id="{B37A2A8B-FC07-488C-9F3E-CE7DDB709600}"/>
              </a:ext>
            </a:extLst>
          </p:cNvPr>
          <p:cNvSpPr>
            <a:spLocks xmlns:a="http://schemas.openxmlformats.org/drawingml/2006/main" noGrp="1"/>
          </p:cNvSpPr>
          <p:nvPr/>
        </p:nvSpPr>
        <p:spPr>
          <a:xfrm xmlns:a="http://schemas.openxmlformats.org/drawingml/2006/main">
            <a:off x="609600"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Routes</a:t>
            </a:r>
          </a:p>
        </p:txBody>
      </p:sp>
      <p:sp>
        <p:nvSpPr>
          <p:cNvPr id="10" name="Validate the session and user role before opening protected workf">
            <a:extLst xmlns:a="http://schemas.openxmlformats.org/drawingml/2006/main">
              <a:ext uri="{FF2B5EF4-FFF2-40B4-BE49-F238E27FC236}">
                <a16:creationId xmlns:a16="http://schemas.microsoft.com/office/drawing/2014/main" id="{C37DC243-F579-4707-A354-39FE502D8093}"/>
              </a:ext>
            </a:extLst>
          </p:cNvPr>
          <p:cNvSpPr>
            <a:spLocks xmlns:a="http://schemas.openxmlformats.org/drawingml/2006/main" noGrp="1"/>
          </p:cNvSpPr>
          <p:nvPr/>
        </p:nvSpPr>
        <p:spPr>
          <a:xfrm xmlns:a="http://schemas.openxmlformats.org/drawingml/2006/main">
            <a:off x="609600"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Validate the session and user role before opening protected workflows.</a:t>
            </a:r>
          </a:p>
        </p:txBody>
      </p:sp>
      <p:sp>
        <p:nvSpPr>
          <p:cNvPr id="11" name="">
            <a:extLst xmlns:a="http://schemas.openxmlformats.org/drawingml/2006/main">
              <a:ext uri="{FF2B5EF4-FFF2-40B4-BE49-F238E27FC236}">
                <a16:creationId xmlns:a16="http://schemas.microsoft.com/office/drawing/2014/main" id="{53EACA21-CFD0-4381-99E5-73A359EDE09F}"/>
              </a:ext>
            </a:extLst>
          </p:cNvPr>
          <p:cNvSpPr>
            <a:spLocks xmlns:a="http://schemas.openxmlformats.org/drawingml/2006/main" noGrp="1"/>
          </p:cNvSpPr>
          <p:nvPr/>
        </p:nvSpPr>
        <p:spPr>
          <a:xfrm xmlns:a="http://schemas.openxmlformats.org/drawingml/2006/main">
            <a:off x="609600"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2" name="Portal boundaries and login redirects">
            <a:extLst xmlns:a="http://schemas.openxmlformats.org/drawingml/2006/main">
              <a:ext uri="{FF2B5EF4-FFF2-40B4-BE49-F238E27FC236}">
                <a16:creationId xmlns:a16="http://schemas.microsoft.com/office/drawing/2014/main" id="{48D57C28-6532-4892-B387-38148BFDD2B6}"/>
              </a:ext>
            </a:extLst>
          </p:cNvPr>
          <p:cNvSpPr>
            <a:spLocks xmlns:a="http://schemas.openxmlformats.org/drawingml/2006/main" noGrp="1"/>
          </p:cNvSpPr>
          <p:nvPr/>
        </p:nvSpPr>
        <p:spPr>
          <a:xfrm xmlns:a="http://schemas.openxmlformats.org/drawingml/2006/main">
            <a:off x="609600"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Portal boundaries and login redirects</a:t>
            </a:r>
          </a:p>
        </p:txBody>
      </p:sp>
      <p:sp>
        <p:nvSpPr>
          <p:cNvPr id="13" name="">
            <a:extLst xmlns:a="http://schemas.openxmlformats.org/drawingml/2006/main">
              <a:ext uri="{FF2B5EF4-FFF2-40B4-BE49-F238E27FC236}">
                <a16:creationId xmlns:a16="http://schemas.microsoft.com/office/drawing/2014/main" id="{86F811B0-3283-40BB-8CC4-103BE2F9A3EE}"/>
              </a:ext>
            </a:extLst>
          </p:cNvPr>
          <p:cNvSpPr>
            <a:spLocks xmlns:a="http://schemas.openxmlformats.org/drawingml/2006/main" noGrp="1"/>
          </p:cNvSpPr>
          <p:nvPr/>
        </p:nvSpPr>
        <p:spPr>
          <a:xfrm xmlns:a="http://schemas.openxmlformats.org/drawingml/2006/main">
            <a:off x="4410075"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4" name="02">
            <a:extLst xmlns:a="http://schemas.openxmlformats.org/drawingml/2006/main">
              <a:ext uri="{FF2B5EF4-FFF2-40B4-BE49-F238E27FC236}">
                <a16:creationId xmlns:a16="http://schemas.microsoft.com/office/drawing/2014/main" id="{3BF8C7DE-892E-4928-9ACF-B10B0389E44F}"/>
              </a:ext>
            </a:extLst>
          </p:cNvPr>
          <p:cNvSpPr>
            <a:spLocks xmlns:a="http://schemas.openxmlformats.org/drawingml/2006/main" noGrp="1"/>
          </p:cNvSpPr>
          <p:nvPr/>
        </p:nvSpPr>
        <p:spPr>
          <a:xfrm xmlns:a="http://schemas.openxmlformats.org/drawingml/2006/main">
            <a:off x="4410075"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02</a:t>
            </a:r>
          </a:p>
        </p:txBody>
      </p:sp>
      <p:sp>
        <p:nvSpPr>
          <p:cNvPr id="15" name="Navigation">
            <a:extLst xmlns:a="http://schemas.openxmlformats.org/drawingml/2006/main">
              <a:ext uri="{FF2B5EF4-FFF2-40B4-BE49-F238E27FC236}">
                <a16:creationId xmlns:a16="http://schemas.microsoft.com/office/drawing/2014/main" id="{18EAAE36-2B15-43A6-805D-CB182899CBA9}"/>
              </a:ext>
            </a:extLst>
          </p:cNvPr>
          <p:cNvSpPr>
            <a:spLocks xmlns:a="http://schemas.openxmlformats.org/drawingml/2006/main" noGrp="1"/>
          </p:cNvSpPr>
          <p:nvPr/>
        </p:nvSpPr>
        <p:spPr>
          <a:xfrm xmlns:a="http://schemas.openxmlformats.org/drawingml/2006/main">
            <a:off x="4410075"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Navigation</a:t>
            </a:r>
          </a:p>
        </p:txBody>
      </p:sp>
      <p:sp>
        <p:nvSpPr>
          <p:cNvPr id="16" name="Show relevant modules according to the user’s assigned permission">
            <a:extLst xmlns:a="http://schemas.openxmlformats.org/drawingml/2006/main">
              <a:ext uri="{FF2B5EF4-FFF2-40B4-BE49-F238E27FC236}">
                <a16:creationId xmlns:a16="http://schemas.microsoft.com/office/drawing/2014/main" id="{A6237924-EA30-470A-BAEC-F87AEEC1B88F}"/>
              </a:ext>
            </a:extLst>
          </p:cNvPr>
          <p:cNvSpPr>
            <a:spLocks xmlns:a="http://schemas.openxmlformats.org/drawingml/2006/main" noGrp="1"/>
          </p:cNvSpPr>
          <p:nvPr/>
        </p:nvSpPr>
        <p:spPr>
          <a:xfrm xmlns:a="http://schemas.openxmlformats.org/drawingml/2006/main">
            <a:off x="4410075"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Show relevant modules according to the user’s assigned permissions.</a:t>
            </a:r>
          </a:p>
        </p:txBody>
      </p:sp>
      <p:sp>
        <p:nvSpPr>
          <p:cNvPr id="17" name="">
            <a:extLst xmlns:a="http://schemas.openxmlformats.org/drawingml/2006/main">
              <a:ext uri="{FF2B5EF4-FFF2-40B4-BE49-F238E27FC236}">
                <a16:creationId xmlns:a16="http://schemas.microsoft.com/office/drawing/2014/main" id="{67B6413C-4E59-4B73-9148-83E194F7F0AC}"/>
              </a:ext>
            </a:extLst>
          </p:cNvPr>
          <p:cNvSpPr>
            <a:spLocks xmlns:a="http://schemas.openxmlformats.org/drawingml/2006/main" noGrp="1"/>
          </p:cNvSpPr>
          <p:nvPr/>
        </p:nvSpPr>
        <p:spPr>
          <a:xfrm xmlns:a="http://schemas.openxmlformats.org/drawingml/2006/main">
            <a:off x="4410075"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8" name="Role-aware desktop and mobile menus">
            <a:extLst xmlns:a="http://schemas.openxmlformats.org/drawingml/2006/main">
              <a:ext uri="{FF2B5EF4-FFF2-40B4-BE49-F238E27FC236}">
                <a16:creationId xmlns:a16="http://schemas.microsoft.com/office/drawing/2014/main" id="{64FCAEFB-4B33-4711-89B1-800DF5E8490C}"/>
              </a:ext>
            </a:extLst>
          </p:cNvPr>
          <p:cNvSpPr>
            <a:spLocks xmlns:a="http://schemas.openxmlformats.org/drawingml/2006/main" noGrp="1"/>
          </p:cNvSpPr>
          <p:nvPr/>
        </p:nvSpPr>
        <p:spPr>
          <a:xfrm xmlns:a="http://schemas.openxmlformats.org/drawingml/2006/main">
            <a:off x="4410075"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Role-aware desktop and mobile menus</a:t>
            </a:r>
          </a:p>
        </p:txBody>
      </p:sp>
      <p:sp>
        <p:nvSpPr>
          <p:cNvPr id="19" name="">
            <a:extLst xmlns:a="http://schemas.openxmlformats.org/drawingml/2006/main">
              <a:ext uri="{FF2B5EF4-FFF2-40B4-BE49-F238E27FC236}">
                <a16:creationId xmlns:a16="http://schemas.microsoft.com/office/drawing/2014/main" id="{5D5A733B-7A7E-4A5B-B982-31F7A6F85B13}"/>
              </a:ext>
            </a:extLst>
          </p:cNvPr>
          <p:cNvSpPr>
            <a:spLocks xmlns:a="http://schemas.openxmlformats.org/drawingml/2006/main" noGrp="1"/>
          </p:cNvSpPr>
          <p:nvPr/>
        </p:nvSpPr>
        <p:spPr>
          <a:xfrm xmlns:a="http://schemas.openxmlformats.org/drawingml/2006/main">
            <a:off x="8210550" y="23431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0" name="03">
            <a:extLst xmlns:a="http://schemas.openxmlformats.org/drawingml/2006/main">
              <a:ext uri="{FF2B5EF4-FFF2-40B4-BE49-F238E27FC236}">
                <a16:creationId xmlns:a16="http://schemas.microsoft.com/office/drawing/2014/main" id="{707730EC-9ACA-4548-A57E-4DCCA00B8D10}"/>
              </a:ext>
            </a:extLst>
          </p:cNvPr>
          <p:cNvSpPr>
            <a:spLocks xmlns:a="http://schemas.openxmlformats.org/drawingml/2006/main" noGrp="1"/>
          </p:cNvSpPr>
          <p:nvPr/>
        </p:nvSpPr>
        <p:spPr>
          <a:xfrm xmlns:a="http://schemas.openxmlformats.org/drawingml/2006/main">
            <a:off x="8210550" y="255270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1">
                <a:solidFill>
                  <a:srgbClr val="245EE8"/>
                </a:solidFill>
                <a:latin typeface="Arial"/>
                <a:ea typeface="Arial"/>
                <a:cs typeface="Arial"/>
              </a:defRPr>
            </a:pPr>
            <a:r>
              <a:rPr sz="1350" b="1">
                <a:solidFill>
                  <a:srgbClr val="245EE8"/>
                </a:solidFill>
                <a:latin typeface="Arial"/>
                <a:ea typeface="Arial"/>
                <a:cs typeface="Arial"/>
              </a:rPr>
              <a:t>03</a:t>
            </a:r>
          </a:p>
        </p:txBody>
      </p:sp>
      <p:sp>
        <p:nvSpPr>
          <p:cNvPr id="21" name="Actions">
            <a:extLst xmlns:a="http://schemas.openxmlformats.org/drawingml/2006/main">
              <a:ext uri="{FF2B5EF4-FFF2-40B4-BE49-F238E27FC236}">
                <a16:creationId xmlns:a16="http://schemas.microsoft.com/office/drawing/2014/main" id="{F496B0FD-1083-43D0-B826-05350D3BBD52}"/>
              </a:ext>
            </a:extLst>
          </p:cNvPr>
          <p:cNvSpPr>
            <a:spLocks xmlns:a="http://schemas.openxmlformats.org/drawingml/2006/main" noGrp="1"/>
          </p:cNvSpPr>
          <p:nvPr/>
        </p:nvSpPr>
        <p:spPr>
          <a:xfrm xmlns:a="http://schemas.openxmlformats.org/drawingml/2006/main">
            <a:off x="8210550" y="30670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142137"/>
                </a:solidFill>
                <a:latin typeface="Arial"/>
                <a:ea typeface="Arial"/>
                <a:cs typeface="Arial"/>
              </a:defRPr>
            </a:pPr>
            <a:r>
              <a:rPr sz="1875" b="1">
                <a:solidFill>
                  <a:srgbClr val="142137"/>
                </a:solidFill>
                <a:latin typeface="Arial"/>
                <a:ea typeface="Arial"/>
                <a:cs typeface="Arial"/>
              </a:rPr>
              <a:t>Actions</a:t>
            </a:r>
          </a:p>
        </p:txBody>
      </p:sp>
      <p:sp>
        <p:nvSpPr>
          <p:cNvPr id="22" name="Apply permission checks to operations within the page.">
            <a:extLst xmlns:a="http://schemas.openxmlformats.org/drawingml/2006/main">
              <a:ext uri="{FF2B5EF4-FFF2-40B4-BE49-F238E27FC236}">
                <a16:creationId xmlns:a16="http://schemas.microsoft.com/office/drawing/2014/main" id="{201E1121-1F77-442E-B726-423E1BD58BFE}"/>
              </a:ext>
            </a:extLst>
          </p:cNvPr>
          <p:cNvSpPr>
            <a:spLocks xmlns:a="http://schemas.openxmlformats.org/drawingml/2006/main" noGrp="1"/>
          </p:cNvSpPr>
          <p:nvPr/>
        </p:nvSpPr>
        <p:spPr>
          <a:xfrm xmlns:a="http://schemas.openxmlformats.org/drawingml/2006/main">
            <a:off x="8210550" y="3552825"/>
            <a:ext cx="333375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56647A"/>
                </a:solidFill>
                <a:latin typeface="Arial"/>
                <a:ea typeface="Arial"/>
                <a:cs typeface="Arial"/>
              </a:defRPr>
            </a:pPr>
            <a:r>
              <a:rPr sz="1725" b="0">
                <a:solidFill>
                  <a:srgbClr val="56647A"/>
                </a:solidFill>
                <a:latin typeface="Arial"/>
                <a:ea typeface="Arial"/>
                <a:cs typeface="Arial"/>
              </a:rPr>
              <a:t>Apply permission checks to operations within the page.</a:t>
            </a:r>
          </a:p>
        </p:txBody>
      </p:sp>
      <p:sp>
        <p:nvSpPr>
          <p:cNvPr id="23" name="">
            <a:extLst xmlns:a="http://schemas.openxmlformats.org/drawingml/2006/main">
              <a:ext uri="{FF2B5EF4-FFF2-40B4-BE49-F238E27FC236}">
                <a16:creationId xmlns:a16="http://schemas.microsoft.com/office/drawing/2014/main" id="{40A3B502-31E6-449E-8AA6-2785B5232B89}"/>
              </a:ext>
            </a:extLst>
          </p:cNvPr>
          <p:cNvSpPr>
            <a:spLocks xmlns:a="http://schemas.openxmlformats.org/drawingml/2006/main" noGrp="1"/>
          </p:cNvSpPr>
          <p:nvPr/>
        </p:nvSpPr>
        <p:spPr>
          <a:xfrm xmlns:a="http://schemas.openxmlformats.org/drawingml/2006/main">
            <a:off x="8210550" y="4819650"/>
            <a:ext cx="337185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4" name="Create, update, approve and other actions">
            <a:extLst xmlns:a="http://schemas.openxmlformats.org/drawingml/2006/main">
              <a:ext uri="{FF2B5EF4-FFF2-40B4-BE49-F238E27FC236}">
                <a16:creationId xmlns:a16="http://schemas.microsoft.com/office/drawing/2014/main" id="{3C9098FF-3778-40C3-8776-B87CD603EDBE}"/>
              </a:ext>
            </a:extLst>
          </p:cNvPr>
          <p:cNvSpPr>
            <a:spLocks xmlns:a="http://schemas.openxmlformats.org/drawingml/2006/main" noGrp="1"/>
          </p:cNvSpPr>
          <p:nvPr/>
        </p:nvSpPr>
        <p:spPr>
          <a:xfrm xmlns:a="http://schemas.openxmlformats.org/drawingml/2006/main">
            <a:off x="8210550" y="5010150"/>
            <a:ext cx="3333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350" b="0">
                <a:solidFill>
                  <a:srgbClr val="56647A"/>
                </a:solidFill>
                <a:latin typeface="Arial"/>
                <a:ea typeface="Arial"/>
                <a:cs typeface="Arial"/>
              </a:defRPr>
            </a:pPr>
            <a:r>
              <a:rPr sz="1350" b="0">
                <a:solidFill>
                  <a:srgbClr val="56647A"/>
                </a:solidFill>
                <a:latin typeface="Arial"/>
                <a:ea typeface="Arial"/>
                <a:cs typeface="Arial"/>
              </a:rPr>
              <a:t>Create, update, approve and other actions</a:t>
            </a:r>
          </a:p>
        </p:txBody>
      </p:sp>
      <p:sp>
        <p:nvSpPr>
          <p:cNvPr id="25" name="">
            <a:extLst xmlns:a="http://schemas.openxmlformats.org/drawingml/2006/main">
              <a:ext uri="{FF2B5EF4-FFF2-40B4-BE49-F238E27FC236}">
                <a16:creationId xmlns:a16="http://schemas.microsoft.com/office/drawing/2014/main" id="{0283FBEE-E425-486A-B69E-A330A9B19CB0}"/>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6" name="Frontend controls reflect backend permissions. VLTD RBAC work is ">
            <a:extLst xmlns:a="http://schemas.openxmlformats.org/drawingml/2006/main">
              <a:ext uri="{FF2B5EF4-FFF2-40B4-BE49-F238E27FC236}">
                <a16:creationId xmlns:a16="http://schemas.microsoft.com/office/drawing/2014/main" id="{A64C1397-A36E-4FCE-8687-DDCD6CB15107}"/>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Frontend controls reflect backend permissions. VLTD RBAC work is ongoing.</a:t>
            </a:r>
          </a:p>
        </p:txBody>
      </p:sp>
    </p:spTree>
    <p:extLst>
      <p:ext uri="{BB962C8B-B14F-4D97-AF65-F5344CB8AC3E}">
        <p14:creationId xmlns:p14="http://schemas.microsoft.com/office/powerpoint/2010/main" val="61832320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CONTRIBUTION TO THE TEAM">
            <a:extLst xmlns:a="http://schemas.openxmlformats.org/drawingml/2006/main">
              <a:ext uri="{FF2B5EF4-FFF2-40B4-BE49-F238E27FC236}">
                <a16:creationId xmlns:a16="http://schemas.microsoft.com/office/drawing/2014/main" id="{4483D392-8855-4BD2-BCA6-F6505991E801}"/>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CONTRIBUTION TO THE TEAM</a:t>
            </a:r>
          </a:p>
        </p:txBody>
      </p:sp>
      <p:sp>
        <p:nvSpPr>
          <p:cNvPr id="2" name="ATLANTA SYSTEMS">
            <a:extLst xmlns:a="http://schemas.openxmlformats.org/drawingml/2006/main">
              <a:ext uri="{FF2B5EF4-FFF2-40B4-BE49-F238E27FC236}">
                <a16:creationId xmlns:a16="http://schemas.microsoft.com/office/drawing/2014/main" id="{F240AB6A-6582-4D59-A007-91FFB1D79DD2}"/>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725FF16D-4ACE-4AF4-BAE3-D2743E43759E}"/>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14 / 18">
            <a:extLst xmlns:a="http://schemas.openxmlformats.org/drawingml/2006/main">
              <a:ext uri="{FF2B5EF4-FFF2-40B4-BE49-F238E27FC236}">
                <a16:creationId xmlns:a16="http://schemas.microsoft.com/office/drawing/2014/main" id="{D1869E3B-52E2-40F5-B3DE-3C907670C314}"/>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14 / 18</a:t>
            </a:r>
          </a:p>
        </p:txBody>
      </p:sp>
      <p:sp>
        <p:nvSpPr>
          <p:cNvPr id="5" name="Supporting delivery through people">
            <a:extLst xmlns:a="http://schemas.openxmlformats.org/drawingml/2006/main">
              <a:ext uri="{FF2B5EF4-FFF2-40B4-BE49-F238E27FC236}">
                <a16:creationId xmlns:a16="http://schemas.microsoft.com/office/drawing/2014/main" id="{DC7C02A1-6E35-44B1-BD66-F318892064F0}"/>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Frontend leadership and team support</a:t>
            </a:r>
          </a:p>
        </p:txBody>
      </p:sp>
      <p:sp>
        <p:nvSpPr>
          <p:cNvPr id="6" name="">
            <a:extLst xmlns:a="http://schemas.openxmlformats.org/drawingml/2006/main">
              <a:ext uri="{FF2B5EF4-FFF2-40B4-BE49-F238E27FC236}">
                <a16:creationId xmlns:a16="http://schemas.microsoft.com/office/drawing/2014/main" id="{84FC2CF2-DA20-4303-8C27-15C17F81022E}"/>
              </a:ext>
            </a:extLst>
          </p:cNvPr>
          <p:cNvSpPr>
            <a:spLocks xmlns:a="http://schemas.openxmlformats.org/drawingml/2006/main" noGrp="1"/>
          </p:cNvSpPr>
          <p:nvPr/>
        </p:nvSpPr>
        <p:spPr>
          <a:xfrm xmlns:a="http://schemas.openxmlformats.org/drawingml/2006/main">
            <a:off x="609600" y="1828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7" name="01">
            <a:extLst xmlns:a="http://schemas.openxmlformats.org/drawingml/2006/main">
              <a:ext uri="{FF2B5EF4-FFF2-40B4-BE49-F238E27FC236}">
                <a16:creationId xmlns:a16="http://schemas.microsoft.com/office/drawing/2014/main" id="{6F974D34-553B-4F32-9CD4-ACE5F6758437}"/>
              </a:ext>
            </a:extLst>
          </p:cNvPr>
          <p:cNvSpPr>
            <a:spLocks xmlns:a="http://schemas.openxmlformats.org/drawingml/2006/main" noGrp="1"/>
          </p:cNvSpPr>
          <p:nvPr/>
        </p:nvSpPr>
        <p:spPr>
          <a:xfrm xmlns:a="http://schemas.openxmlformats.org/drawingml/2006/main">
            <a:off x="609600" y="206692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01</a:t>
            </a:r>
          </a:p>
        </p:txBody>
      </p:sp>
      <p:sp>
        <p:nvSpPr>
          <p:cNvPr id="8" name="Hiring participation">
            <a:extLst xmlns:a="http://schemas.openxmlformats.org/drawingml/2006/main">
              <a:ext uri="{FF2B5EF4-FFF2-40B4-BE49-F238E27FC236}">
                <a16:creationId xmlns:a16="http://schemas.microsoft.com/office/drawing/2014/main" id="{4DFECF54-8D68-4E8E-8141-9308A66009A2}"/>
              </a:ext>
            </a:extLst>
          </p:cNvPr>
          <p:cNvSpPr>
            <a:spLocks xmlns:a="http://schemas.openxmlformats.org/drawingml/2006/main" noGrp="1"/>
          </p:cNvSpPr>
          <p:nvPr/>
        </p:nvSpPr>
        <p:spPr>
          <a:xfrm xmlns:a="http://schemas.openxmlformats.org/drawingml/2006/main">
            <a:off x="1219200" y="200977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Hiring participation</a:t>
            </a:r>
          </a:p>
        </p:txBody>
      </p:sp>
      <p:sp>
        <p:nvSpPr>
          <p:cNvPr id="9" name="Conducted interviews for senior frontend and intern roles.">
            <a:extLst xmlns:a="http://schemas.openxmlformats.org/drawingml/2006/main">
              <a:ext uri="{FF2B5EF4-FFF2-40B4-BE49-F238E27FC236}">
                <a16:creationId xmlns:a16="http://schemas.microsoft.com/office/drawing/2014/main" id="{4F3EF039-3A9A-4763-8ECA-6EC996C079E7}"/>
              </a:ext>
            </a:extLst>
          </p:cNvPr>
          <p:cNvSpPr>
            <a:spLocks xmlns:a="http://schemas.openxmlformats.org/drawingml/2006/main" noGrp="1"/>
          </p:cNvSpPr>
          <p:nvPr/>
        </p:nvSpPr>
        <p:spPr>
          <a:xfrm xmlns:a="http://schemas.openxmlformats.org/drawingml/2006/main">
            <a:off x="4381500" y="200977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Conducted interviews for senior frontend and intern roles.</a:t>
            </a:r>
          </a:p>
        </p:txBody>
      </p:sp>
      <p:sp>
        <p:nvSpPr>
          <p:cNvPr id="10" name="">
            <a:extLst xmlns:a="http://schemas.openxmlformats.org/drawingml/2006/main">
              <a:ext uri="{FF2B5EF4-FFF2-40B4-BE49-F238E27FC236}">
                <a16:creationId xmlns:a16="http://schemas.microsoft.com/office/drawing/2014/main" id="{0A26079E-CA30-4B78-89EE-BA9D369C2E86}"/>
              </a:ext>
            </a:extLst>
          </p:cNvPr>
          <p:cNvSpPr>
            <a:spLocks xmlns:a="http://schemas.openxmlformats.org/drawingml/2006/main" noGrp="1"/>
          </p:cNvSpPr>
          <p:nvPr/>
        </p:nvSpPr>
        <p:spPr>
          <a:xfrm xmlns:a="http://schemas.openxmlformats.org/drawingml/2006/main">
            <a:off x="609600" y="269557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1" name="02">
            <a:extLst xmlns:a="http://schemas.openxmlformats.org/drawingml/2006/main">
              <a:ext uri="{FF2B5EF4-FFF2-40B4-BE49-F238E27FC236}">
                <a16:creationId xmlns:a16="http://schemas.microsoft.com/office/drawing/2014/main" id="{D8440A9F-6AEE-404B-9043-3F8E80B87430}"/>
              </a:ext>
            </a:extLst>
          </p:cNvPr>
          <p:cNvSpPr>
            <a:spLocks xmlns:a="http://schemas.openxmlformats.org/drawingml/2006/main" noGrp="1"/>
          </p:cNvSpPr>
          <p:nvPr/>
        </p:nvSpPr>
        <p:spPr>
          <a:xfrm xmlns:a="http://schemas.openxmlformats.org/drawingml/2006/main">
            <a:off x="609600" y="293370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02</a:t>
            </a:r>
          </a:p>
        </p:txBody>
      </p:sp>
      <p:sp>
        <p:nvSpPr>
          <p:cNvPr id="12" name="Developer onboarding">
            <a:extLst xmlns:a="http://schemas.openxmlformats.org/drawingml/2006/main">
              <a:ext uri="{FF2B5EF4-FFF2-40B4-BE49-F238E27FC236}">
                <a16:creationId xmlns:a16="http://schemas.microsoft.com/office/drawing/2014/main" id="{9839DDE2-3B3D-47F1-A4EC-EF8472EFBA15}"/>
              </a:ext>
            </a:extLst>
          </p:cNvPr>
          <p:cNvSpPr>
            <a:spLocks xmlns:a="http://schemas.openxmlformats.org/drawingml/2006/main" noGrp="1"/>
          </p:cNvSpPr>
          <p:nvPr/>
        </p:nvSpPr>
        <p:spPr>
          <a:xfrm xmlns:a="http://schemas.openxmlformats.org/drawingml/2006/main">
            <a:off x="1219200" y="287655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VLTD frontend leadership</a:t>
            </a:r>
          </a:p>
        </p:txBody>
      </p:sp>
      <p:sp>
        <p:nvSpPr>
          <p:cNvPr id="13" name="Guided new developers through project structure and business work">
            <a:extLst xmlns:a="http://schemas.openxmlformats.org/drawingml/2006/main">
              <a:ext uri="{FF2B5EF4-FFF2-40B4-BE49-F238E27FC236}">
                <a16:creationId xmlns:a16="http://schemas.microsoft.com/office/drawing/2014/main" id="{C34AA5E8-4CE2-42C3-A783-D8EF290D4380}"/>
              </a:ext>
            </a:extLst>
          </p:cNvPr>
          <p:cNvSpPr>
            <a:spLocks xmlns:a="http://schemas.openxmlformats.org/drawingml/2006/main" noGrp="1"/>
          </p:cNvSpPr>
          <p:nvPr/>
        </p:nvSpPr>
        <p:spPr>
          <a:xfrm xmlns:a="http://schemas.openxmlformats.org/drawingml/2006/main">
            <a:off x="4381500" y="287655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Lead three frontend developers across feature planning, workflows and delivery.</a:t>
            </a:r>
          </a:p>
        </p:txBody>
      </p:sp>
      <p:sp>
        <p:nvSpPr>
          <p:cNvPr id="14" name="">
            <a:extLst xmlns:a="http://schemas.openxmlformats.org/drawingml/2006/main">
              <a:ext uri="{FF2B5EF4-FFF2-40B4-BE49-F238E27FC236}">
                <a16:creationId xmlns:a16="http://schemas.microsoft.com/office/drawing/2014/main" id="{A03096AD-8DED-4E84-A532-AFDA94BE3F56}"/>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03">
            <a:extLst xmlns:a="http://schemas.openxmlformats.org/drawingml/2006/main">
              <a:ext uri="{FF2B5EF4-FFF2-40B4-BE49-F238E27FC236}">
                <a16:creationId xmlns:a16="http://schemas.microsoft.com/office/drawing/2014/main" id="{79EDA366-3062-488C-AF75-2A7B9F9D0189}"/>
              </a:ext>
            </a:extLst>
          </p:cNvPr>
          <p:cNvSpPr>
            <a:spLocks xmlns:a="http://schemas.openxmlformats.org/drawingml/2006/main" noGrp="1"/>
          </p:cNvSpPr>
          <p:nvPr/>
        </p:nvSpPr>
        <p:spPr>
          <a:xfrm xmlns:a="http://schemas.openxmlformats.org/drawingml/2006/main">
            <a:off x="609600" y="380047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03</a:t>
            </a:r>
          </a:p>
        </p:txBody>
      </p:sp>
      <p:sp>
        <p:nvSpPr>
          <p:cNvPr id="16" name="Mentoring">
            <a:extLst xmlns:a="http://schemas.openxmlformats.org/drawingml/2006/main">
              <a:ext uri="{FF2B5EF4-FFF2-40B4-BE49-F238E27FC236}">
                <a16:creationId xmlns:a16="http://schemas.microsoft.com/office/drawing/2014/main" id="{EE0C2308-421F-4C6B-A042-FE0AE01EB907}"/>
              </a:ext>
            </a:extLst>
          </p:cNvPr>
          <p:cNvSpPr>
            <a:spLocks xmlns:a="http://schemas.openxmlformats.org/drawingml/2006/main" noGrp="1"/>
          </p:cNvSpPr>
          <p:nvPr/>
        </p:nvSpPr>
        <p:spPr>
          <a:xfrm xmlns:a="http://schemas.openxmlformats.org/drawingml/2006/main">
            <a:off x="1219200" y="374332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Mentoring and issue resolution</a:t>
            </a:r>
          </a:p>
        </p:txBody>
      </p:sp>
      <p:sp>
        <p:nvSpPr>
          <p:cNvPr id="17" name="Helped an intern and junior members with technical questions and ">
            <a:extLst xmlns:a="http://schemas.openxmlformats.org/drawingml/2006/main">
              <a:ext uri="{FF2B5EF4-FFF2-40B4-BE49-F238E27FC236}">
                <a16:creationId xmlns:a16="http://schemas.microsoft.com/office/drawing/2014/main" id="{5E2FBE02-B548-4CA0-A0C3-62A973902880}"/>
              </a:ext>
            </a:extLst>
          </p:cNvPr>
          <p:cNvSpPr>
            <a:spLocks xmlns:a="http://schemas.openxmlformats.org/drawingml/2006/main" noGrp="1"/>
          </p:cNvSpPr>
          <p:nvPr/>
        </p:nvSpPr>
        <p:spPr>
          <a:xfrm xmlns:a="http://schemas.openxmlformats.org/drawingml/2006/main">
            <a:off x="4381500" y="374332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Help junior developers with technical questions, implementation and blockers.</a:t>
            </a:r>
          </a:p>
        </p:txBody>
      </p:sp>
      <p:sp>
        <p:nvSpPr>
          <p:cNvPr id="18" name="">
            <a:extLst xmlns:a="http://schemas.openxmlformats.org/drawingml/2006/main">
              <a:ext uri="{FF2B5EF4-FFF2-40B4-BE49-F238E27FC236}">
                <a16:creationId xmlns:a16="http://schemas.microsoft.com/office/drawing/2014/main" id="{91A85F4B-5671-4B37-A33B-A9F028E21D71}"/>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9" name="04">
            <a:extLst xmlns:a="http://schemas.openxmlformats.org/drawingml/2006/main">
              <a:ext uri="{FF2B5EF4-FFF2-40B4-BE49-F238E27FC236}">
                <a16:creationId xmlns:a16="http://schemas.microsoft.com/office/drawing/2014/main" id="{ECBD070B-C804-4194-B43E-BAC1C0B94CA5}"/>
              </a:ext>
            </a:extLst>
          </p:cNvPr>
          <p:cNvSpPr>
            <a:spLocks xmlns:a="http://schemas.openxmlformats.org/drawingml/2006/main" noGrp="1"/>
          </p:cNvSpPr>
          <p:nvPr/>
        </p:nvSpPr>
        <p:spPr>
          <a:xfrm xmlns:a="http://schemas.openxmlformats.org/drawingml/2006/main">
            <a:off x="609600" y="466725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04</a:t>
            </a:r>
          </a:p>
        </p:txBody>
      </p:sp>
      <p:sp>
        <p:nvSpPr>
          <p:cNvPr id="20" name="Shared understanding">
            <a:extLst xmlns:a="http://schemas.openxmlformats.org/drawingml/2006/main">
              <a:ext uri="{FF2B5EF4-FFF2-40B4-BE49-F238E27FC236}">
                <a16:creationId xmlns:a16="http://schemas.microsoft.com/office/drawing/2014/main" id="{3D8BAA97-74D6-4469-92F7-C8AE53521A1A}"/>
              </a:ext>
            </a:extLst>
          </p:cNvPr>
          <p:cNvSpPr>
            <a:spLocks xmlns:a="http://schemas.openxmlformats.org/drawingml/2006/main" noGrp="1"/>
          </p:cNvSpPr>
          <p:nvPr/>
        </p:nvSpPr>
        <p:spPr>
          <a:xfrm xmlns:a="http://schemas.openxmlformats.org/drawingml/2006/main">
            <a:off x="1219200" y="461010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Team alignment</a:t>
            </a:r>
          </a:p>
        </p:txBody>
      </p:sp>
      <p:sp>
        <p:nvSpPr>
          <p:cNvPr id="21" name="Created requirements documentation and coordinated workflows with">
            <a:extLst xmlns:a="http://schemas.openxmlformats.org/drawingml/2006/main">
              <a:ext uri="{FF2B5EF4-FFF2-40B4-BE49-F238E27FC236}">
                <a16:creationId xmlns:a16="http://schemas.microsoft.com/office/drawing/2014/main" id="{7912CF2C-111F-4B28-B19D-B6F1DA329D8D}"/>
              </a:ext>
            </a:extLst>
          </p:cNvPr>
          <p:cNvSpPr>
            <a:spLocks xmlns:a="http://schemas.openxmlformats.org/drawingml/2006/main" noGrp="1"/>
          </p:cNvSpPr>
          <p:nvPr/>
        </p:nvSpPr>
        <p:spPr>
          <a:xfrm xmlns:a="http://schemas.openxmlformats.org/drawingml/2006/main">
            <a:off x="4381500" y="461010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Review page updates and workflow decisions with frontend and backend teammates.</a:t>
            </a:r>
          </a:p>
        </p:txBody>
      </p:sp>
      <p:sp>
        <p:nvSpPr>
          <p:cNvPr id="22" name="">
            <a:extLst xmlns:a="http://schemas.openxmlformats.org/drawingml/2006/main">
              <a:ext uri="{FF2B5EF4-FFF2-40B4-BE49-F238E27FC236}">
                <a16:creationId xmlns:a16="http://schemas.microsoft.com/office/drawing/2014/main" id="{9FC185D8-D602-474D-94B1-9F579AEFE8DC}"/>
              </a:ext>
            </a:extLst>
          </p:cNvPr>
          <p:cNvSpPr>
            <a:spLocks xmlns:a="http://schemas.openxmlformats.org/drawingml/2006/main" noGrp="1"/>
          </p:cNvSpPr>
          <p:nvPr/>
        </p:nvSpPr>
        <p:spPr>
          <a:xfrm xmlns:a="http://schemas.openxmlformats.org/drawingml/2006/main">
            <a:off x="609600" y="52959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3" name="">
            <a:extLst xmlns:a="http://schemas.openxmlformats.org/drawingml/2006/main">
              <a:ext uri="{FF2B5EF4-FFF2-40B4-BE49-F238E27FC236}">
                <a16:creationId xmlns:a16="http://schemas.microsoft.com/office/drawing/2014/main" id="{22405BE6-5D68-40A3-9E40-AFD648D65948}"/>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4" name="My responsibilities expanded to helping other developers move the">
            <a:extLst xmlns:a="http://schemas.openxmlformats.org/drawingml/2006/main">
              <a:ext uri="{FF2B5EF4-FFF2-40B4-BE49-F238E27FC236}">
                <a16:creationId xmlns:a16="http://schemas.microsoft.com/office/drawing/2014/main" id="{56212315-47E1-4C8D-8C83-43335021227C}"/>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My responsibilities now include leading frontend delivery while helping teammates move their work forward.</a:t>
            </a:r>
          </a:p>
        </p:txBody>
      </p:sp>
    </p:spTree>
    <p:extLst>
      <p:ext uri="{BB962C8B-B14F-4D97-AF65-F5344CB8AC3E}">
        <p14:creationId xmlns:p14="http://schemas.microsoft.com/office/powerpoint/2010/main" val="193913527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MPANY IMPACT">
            <a:extLst xmlns:a="http://schemas.openxmlformats.org/drawingml/2006/main">
              <a:ext uri="{FF2B5EF4-FFF2-40B4-BE49-F238E27FC236}">
                <a16:creationId xmlns:a16="http://schemas.microsoft.com/office/drawing/2014/main" id="{A5E4E5B5-81CF-46B0-B0DC-5C50AE19D0C5}"/>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COMPANY IMPACT</a:t>
            </a:r>
          </a:p>
        </p:txBody>
      </p:sp>
      <p:sp>
        <p:nvSpPr>
          <p:cNvPr id="2" name="ATLANTA SYSTEMS">
            <a:extLst xmlns:a="http://schemas.openxmlformats.org/drawingml/2006/main">
              <a:ext uri="{FF2B5EF4-FFF2-40B4-BE49-F238E27FC236}">
                <a16:creationId xmlns:a16="http://schemas.microsoft.com/office/drawing/2014/main" id="{5B553CF6-B4F0-456C-A228-683258998DE5}"/>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Qualitative value, except the reported tender outcome. No adoptio">
            <a:extLst xmlns:a="http://schemas.openxmlformats.org/drawingml/2006/main">
              <a:ext uri="{FF2B5EF4-FFF2-40B4-BE49-F238E27FC236}">
                <a16:creationId xmlns:a16="http://schemas.microsoft.com/office/drawing/2014/main" id="{BE311FE1-7056-4CD5-A24D-8C06A60A2B49}"/>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Qualitative value, except the reported project selection. No adoption, revenue or time-saving figures are assumed.</a:t>
            </a:r>
          </a:p>
        </p:txBody>
      </p:sp>
      <p:sp>
        <p:nvSpPr>
          <p:cNvPr id="4" name="15 / 18">
            <a:extLst xmlns:a="http://schemas.openxmlformats.org/drawingml/2006/main">
              <a:ext uri="{FF2B5EF4-FFF2-40B4-BE49-F238E27FC236}">
                <a16:creationId xmlns:a16="http://schemas.microsoft.com/office/drawing/2014/main" id="{6799D433-E682-49BB-A70D-AD96BABB2C12}"/>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15 / 18</a:t>
            </a:r>
          </a:p>
        </p:txBody>
      </p:sp>
      <p:sp>
        <p:nvSpPr>
          <p:cNvPr id="5" name="What my work enabled for Atlanta">
            <a:extLst xmlns:a="http://schemas.openxmlformats.org/drawingml/2006/main">
              <a:ext uri="{FF2B5EF4-FFF2-40B4-BE49-F238E27FC236}">
                <a16:creationId xmlns:a16="http://schemas.microsoft.com/office/drawing/2014/main" id="{EB51BCEC-137B-49E4-ACD8-A8125BDCFA77}"/>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What my work enabled for Atlanta</a:t>
            </a:r>
          </a:p>
        </p:txBody>
      </p:sp>
      <p:graphicFrame>
        <p:nvGraphicFramePr>
          <p:cNvPr id="14" name=""/>
          <p:cNvGraphicFramePr/>
          <p:nvPr/>
        </p:nvGraphicFramePr>
        <p:xfrm>
          <a:off xmlns:a="http://schemas.openxmlformats.org/drawingml/2006/main" x="609600" y="1828800"/>
          <a:ext xmlns:a="http://schemas.openxmlformats.org/drawingml/2006/main" cx="10972800" cy="3743325"/>
        </p:xfrm>
        <a:graphic xmlns:a="http://schemas.openxmlformats.org/drawingml/2006/main">
          <a:graphicData uri="http://schemas.openxmlformats.org/drawingml/2006/table">
            <a:tbl>
              <a:tblPr firstRow="0" firstCol="0" bandRow="0"/>
              <a:tblGrid>
                <a:gridCol w="1762125"/>
                <a:gridCol w="4505325"/>
                <a:gridCol w="4705350"/>
              </a:tblGrid>
              <a:tr h="428625">
                <a:tc>
                  <a:txBody>
                    <a:bodyPr>
                      <a:noAutofit/>
                    </a:bodyPr>
                    <a:lstStyle/>
                    <a:p>
                      <a:pPr algn="l">
                        <a:lnSpc>
                          <a:spcPct val="115000"/>
                        </a:lnSpc>
                        <a:buNone/>
                      </a:pPr>
                      <a:r>
                        <a:rPr sz="1050" b="1">
                          <a:solidFill>
                            <a:srgbClr val="56647A"/>
                          </a:solidFill>
                          <a:latin typeface="Arial"/>
                          <a:ea typeface="Arial"/>
                          <a:cs typeface="Arial"/>
                        </a:rPr>
                        <a:t>PROJECT</a:t>
                      </a:r>
                    </a:p>
                  </a:txBody>
                  <a:tcPr marL="114300" marR="228600" marT="133350" marB="133350" anchor="t">
                    <a:solidFill>
                      <a:srgbClr val="FFFFFF"/>
                    </a:solidFill>
                  </a:tcPr>
                </a:tc>
                <a:tc>
                  <a:txBody>
                    <a:bodyPr>
                      <a:noAutofit/>
                    </a:bodyPr>
                    <a:lstStyle/>
                    <a:p>
                      <a:pPr algn="l">
                        <a:lnSpc>
                          <a:spcPct val="115000"/>
                        </a:lnSpc>
                        <a:buNone/>
                      </a:pPr>
                      <a:r>
                        <a:rPr sz="1050" b="1">
                          <a:solidFill>
                            <a:srgbClr val="56647A"/>
                          </a:solidFill>
                          <a:latin typeface="Arial"/>
                          <a:ea typeface="Arial"/>
                          <a:cs typeface="Arial"/>
                        </a:rPr>
                        <a:t>MY CONTRIBUTION</a:t>
                      </a:r>
                    </a:p>
                  </a:txBody>
                  <a:tcPr marL="114300" marR="228600" marT="133350" marB="133350" anchor="t">
                    <a:solidFill>
                      <a:srgbClr val="FFFFFF"/>
                    </a:solidFill>
                  </a:tcPr>
                </a:tc>
                <a:tc>
                  <a:txBody>
                    <a:bodyPr>
                      <a:noAutofit/>
                    </a:bodyPr>
                    <a:lstStyle/>
                    <a:p>
                      <a:pPr algn="l">
                        <a:lnSpc>
                          <a:spcPct val="115000"/>
                        </a:lnSpc>
                        <a:buNone/>
                      </a:pPr>
                      <a:r>
                        <a:rPr sz="1050" b="1">
                          <a:solidFill>
                            <a:srgbClr val="56647A"/>
                          </a:solidFill>
                          <a:latin typeface="Arial"/>
                          <a:ea typeface="Arial"/>
                          <a:cs typeface="Arial"/>
                        </a:rPr>
                        <a:t>VALUE ENABLED</a:t>
                      </a:r>
                    </a:p>
                  </a:txBody>
                  <a:tcPr marL="114300" marR="228600" marT="133350" marB="133350" anchor="t">
                    <a:solidFill>
                      <a:srgbClr val="FFFFFF"/>
                    </a:solidFill>
                  </a:tcPr>
                </a:tc>
              </a:tr>
              <a:tr h="1181100">
                <a:tc>
                  <a:txBody>
                    <a:bodyPr>
                      <a:noAutofit/>
                    </a:bodyPr>
                    <a:lstStyle/>
                    <a:p>
                      <a:pPr algn="l">
                        <a:lnSpc>
                          <a:spcPct val="115000"/>
                        </a:lnSpc>
                        <a:buNone/>
                      </a:pPr>
                      <a:r>
                        <a:rPr sz="1950" b="1">
                          <a:solidFill>
                            <a:srgbClr val="245EE8"/>
                          </a:solidFill>
                          <a:latin typeface="Arial"/>
                          <a:ea typeface="Arial"/>
                          <a:cs typeface="Arial"/>
                        </a:rPr>
                        <a:t>RTape</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Frontend ownership, testing, demonstrations and follow-up support</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A working platform selected for state-level deployment in Madhya Pradesh</a:t>
                      </a:r>
                    </a:p>
                  </a:txBody>
                  <a:tcPr marL="114300" marR="228600" marT="133350" marB="133350" anchor="t">
                    <a:solidFill>
                      <a:srgbClr val="FFFFFF"/>
                    </a:solidFill>
                  </a:tcPr>
                </a:tc>
              </a:tr>
              <a:tr h="1066800">
                <a:tc>
                  <a:txBody>
                    <a:bodyPr>
                      <a:noAutofit/>
                    </a:bodyPr>
                    <a:lstStyle/>
                    <a:p>
                      <a:pPr algn="l">
                        <a:lnSpc>
                          <a:spcPct val="115000"/>
                        </a:lnSpc>
                        <a:buNone/>
                      </a:pPr>
                      <a:r>
                        <a:rPr sz="1950" b="1">
                          <a:solidFill>
                            <a:srgbClr val="245EE8"/>
                          </a:solidFill>
                          <a:latin typeface="Arial"/>
                          <a:ea typeface="Arial"/>
                          <a:cs typeface="Arial"/>
                        </a:rPr>
                        <a:t>ITMS</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Sole ownership of the complete frontend, built from scratch</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Connected transport workflows on a reusable frontend foundation</a:t>
                      </a:r>
                    </a:p>
                  </a:txBody>
                  <a:tcPr marL="114300" marR="228600" marT="133350" marB="133350" anchor="t">
                    <a:solidFill>
                      <a:srgbClr val="FFFFFF"/>
                    </a:solidFill>
                  </a:tcPr>
                </a:tc>
              </a:tr>
              <a:tr h="1066800">
                <a:tc>
                  <a:txBody>
                    <a:bodyPr>
                      <a:noAutofit/>
                    </a:bodyPr>
                    <a:lstStyle/>
                    <a:p>
                      <a:pPr algn="l">
                        <a:lnSpc>
                          <a:spcPct val="115000"/>
                        </a:lnSpc>
                        <a:buNone/>
                      </a:pPr>
                      <a:r>
                        <a:rPr sz="1950" b="1">
                          <a:solidFill>
                            <a:srgbClr val="245EE8"/>
                          </a:solidFill>
                          <a:latin typeface="Arial"/>
                          <a:ea typeface="Arial"/>
                          <a:cs typeface="Arial"/>
                        </a:rPr>
                        <a:t>VLTD</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Frontend leadership, key modules and full frontend migration</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A maintainable frontend foundation for future delivery</a:t>
                      </a:r>
                    </a:p>
                  </a:txBody>
                  <a:tcPr marL="114300" marR="228600" marT="133350" marB="133350" anchor="t">
                    <a:solidFill>
                      <a:srgbClr val="FFFFFF"/>
                    </a:solidFill>
                  </a:tcPr>
                </a:tc>
              </a:tr>
            </a:tbl>
          </a:graphicData>
        </a:graphic>
      </p:graphicFrame>
    </p:spTree>
    <p:extLst>
      <p:ext uri="{BB962C8B-B14F-4D97-AF65-F5344CB8AC3E}">
        <p14:creationId xmlns:p14="http://schemas.microsoft.com/office/powerpoint/2010/main" val="4354930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NEXT PHASE / PROPOSED PRIORITIES">
            <a:extLst xmlns:a="http://schemas.openxmlformats.org/drawingml/2006/main">
              <a:ext uri="{FF2B5EF4-FFF2-40B4-BE49-F238E27FC236}">
                <a16:creationId xmlns:a16="http://schemas.microsoft.com/office/drawing/2014/main" id="{E3FA614B-1813-4B83-9BD9-13D73BDD133C}"/>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NEXT PHASE / GROWTH ROADMAP</a:t>
            </a:r>
          </a:p>
        </p:txBody>
      </p:sp>
      <p:sp>
        <p:nvSpPr>
          <p:cNvPr id="2" name="ATLANTA SYSTEMS">
            <a:extLst xmlns:a="http://schemas.openxmlformats.org/drawingml/2006/main">
              <a:ext uri="{FF2B5EF4-FFF2-40B4-BE49-F238E27FC236}">
                <a16:creationId xmlns:a16="http://schemas.microsoft.com/office/drawing/2014/main" id="{1E530F91-1E49-4B9F-A3EC-A7B541E80F32}"/>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31951E54-1128-453B-9EA9-19A0BFBBEA7A}"/>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Manish Kumar / Annual performance review</a:t>
            </a:r>
          </a:p>
        </p:txBody>
      </p:sp>
      <p:sp>
        <p:nvSpPr>
          <p:cNvPr id="4" name="16 / 18">
            <a:extLst xmlns:a="http://schemas.openxmlformats.org/drawingml/2006/main">
              <a:ext uri="{FF2B5EF4-FFF2-40B4-BE49-F238E27FC236}">
                <a16:creationId xmlns:a16="http://schemas.microsoft.com/office/drawing/2014/main" id="{F5F51A02-DBA0-474A-B4EE-141E30660F61}"/>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16 / 18</a:t>
            </a:r>
          </a:p>
        </p:txBody>
      </p:sp>
      <p:sp>
        <p:nvSpPr>
          <p:cNvPr id="5" name="Strengthening delivery in the next year">
            <a:extLst xmlns:a="http://schemas.openxmlformats.org/drawingml/2006/main">
              <a:ext uri="{FF2B5EF4-FFF2-40B4-BE49-F238E27FC236}">
                <a16:creationId xmlns:a16="http://schemas.microsoft.com/office/drawing/2014/main" id="{1CD91070-4776-46B5-8BBB-3FBD972835F1}"/>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Future growth and contribution plan</a:t>
            </a:r>
          </a:p>
        </p:txBody>
      </p:sp>
      <p:sp>
        <p:nvSpPr>
          <p:cNvPr id="6" name="">
            <a:extLst xmlns:a="http://schemas.openxmlformats.org/drawingml/2006/main">
              <a:ext uri="{FF2B5EF4-FFF2-40B4-BE49-F238E27FC236}">
                <a16:creationId xmlns:a16="http://schemas.microsoft.com/office/drawing/2014/main" id="{B0FAC01E-06E3-4DAC-AFEE-691601362127}"/>
              </a:ext>
            </a:extLst>
          </p:cNvPr>
          <p:cNvSpPr>
            <a:spLocks xmlns:a="http://schemas.openxmlformats.org/drawingml/2006/main" noGrp="1"/>
          </p:cNvSpPr>
          <p:nvPr/>
        </p:nvSpPr>
        <p:spPr>
          <a:xfrm xmlns:a="http://schemas.openxmlformats.org/drawingml/2006/main">
            <a:off x="609600" y="18288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7" name="01">
            <a:extLst xmlns:a="http://schemas.openxmlformats.org/drawingml/2006/main">
              <a:ext uri="{FF2B5EF4-FFF2-40B4-BE49-F238E27FC236}">
                <a16:creationId xmlns:a16="http://schemas.microsoft.com/office/drawing/2014/main" id="{93032F69-1C87-4D78-ADDC-3CC41B0C2B1E}"/>
              </a:ext>
            </a:extLst>
          </p:cNvPr>
          <p:cNvSpPr>
            <a:spLocks xmlns:a="http://schemas.openxmlformats.org/drawingml/2006/main" noGrp="1"/>
          </p:cNvSpPr>
          <p:nvPr/>
        </p:nvSpPr>
        <p:spPr>
          <a:xfrm xmlns:a="http://schemas.openxmlformats.org/drawingml/2006/main">
            <a:off x="609600" y="206692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01</a:t>
            </a:r>
          </a:p>
        </p:txBody>
      </p:sp>
      <p:sp>
        <p:nvSpPr>
          <p:cNvPr id="8" name="Complete current workflows">
            <a:extLst xmlns:a="http://schemas.openxmlformats.org/drawingml/2006/main">
              <a:ext uri="{FF2B5EF4-FFF2-40B4-BE49-F238E27FC236}">
                <a16:creationId xmlns:a16="http://schemas.microsoft.com/office/drawing/2014/main" id="{ACDCAEC4-C34B-4D91-B907-7E97B07B7A66}"/>
              </a:ext>
            </a:extLst>
          </p:cNvPr>
          <p:cNvSpPr>
            <a:spLocks xmlns:a="http://schemas.openxmlformats.org/drawingml/2006/main" noGrp="1"/>
          </p:cNvSpPr>
          <p:nvPr/>
        </p:nvSpPr>
        <p:spPr>
          <a:xfrm xmlns:a="http://schemas.openxmlformats.org/drawingml/2006/main">
            <a:off x="1219200" y="200977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Apply backend knowledge</a:t>
            </a:r>
          </a:p>
        </p:txBody>
      </p:sp>
      <p:sp>
        <p:nvSpPr>
          <p:cNvPr id="9" name="Continue VLTD permissions and close remaining API and dashboard i">
            <a:extLst xmlns:a="http://schemas.openxmlformats.org/drawingml/2006/main">
              <a:ext uri="{FF2B5EF4-FFF2-40B4-BE49-F238E27FC236}">
                <a16:creationId xmlns:a16="http://schemas.microsoft.com/office/drawing/2014/main" id="{49558404-0C31-441D-9629-46AEB162C8E3}"/>
              </a:ext>
            </a:extLst>
          </p:cNvPr>
          <p:cNvSpPr>
            <a:spLocks xmlns:a="http://schemas.openxmlformats.org/drawingml/2006/main" noGrp="1"/>
          </p:cNvSpPr>
          <p:nvPr/>
        </p:nvSpPr>
        <p:spPr>
          <a:xfrm xmlns:a="http://schemas.openxmlformats.org/drawingml/2006/main">
            <a:off x="4381500" y="200977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Take on more backend implementation and integration work to turn existing knowledge into practical delivery.</a:t>
            </a:r>
          </a:p>
        </p:txBody>
      </p:sp>
      <p:sp>
        <p:nvSpPr>
          <p:cNvPr id="10" name="">
            <a:extLst xmlns:a="http://schemas.openxmlformats.org/drawingml/2006/main">
              <a:ext uri="{FF2B5EF4-FFF2-40B4-BE49-F238E27FC236}">
                <a16:creationId xmlns:a16="http://schemas.microsoft.com/office/drawing/2014/main" id="{EF2BE920-A630-42E1-AF47-645EC09A7781}"/>
              </a:ext>
            </a:extLst>
          </p:cNvPr>
          <p:cNvSpPr>
            <a:spLocks xmlns:a="http://schemas.openxmlformats.org/drawingml/2006/main" noGrp="1"/>
          </p:cNvSpPr>
          <p:nvPr/>
        </p:nvSpPr>
        <p:spPr>
          <a:xfrm xmlns:a="http://schemas.openxmlformats.org/drawingml/2006/main">
            <a:off x="609600" y="269557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1" name="02">
            <a:extLst xmlns:a="http://schemas.openxmlformats.org/drawingml/2006/main">
              <a:ext uri="{FF2B5EF4-FFF2-40B4-BE49-F238E27FC236}">
                <a16:creationId xmlns:a16="http://schemas.microsoft.com/office/drawing/2014/main" id="{E739A9C0-3CAF-4CC3-BC5A-F8FD6EDBE56C}"/>
              </a:ext>
            </a:extLst>
          </p:cNvPr>
          <p:cNvSpPr>
            <a:spLocks xmlns:a="http://schemas.openxmlformats.org/drawingml/2006/main" noGrp="1"/>
          </p:cNvSpPr>
          <p:nvPr/>
        </p:nvSpPr>
        <p:spPr>
          <a:xfrm xmlns:a="http://schemas.openxmlformats.org/drawingml/2006/main">
            <a:off x="609600" y="293370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02</a:t>
            </a:r>
          </a:p>
        </p:txBody>
      </p:sp>
      <p:sp>
        <p:nvSpPr>
          <p:cNvPr id="12" name="Make quality repeatable">
            <a:extLst xmlns:a="http://schemas.openxmlformats.org/drawingml/2006/main">
              <a:ext uri="{FF2B5EF4-FFF2-40B4-BE49-F238E27FC236}">
                <a16:creationId xmlns:a16="http://schemas.microsoft.com/office/drawing/2014/main" id="{0DF57CA0-0609-47A6-B771-0F646BA63F61}"/>
              </a:ext>
            </a:extLst>
          </p:cNvPr>
          <p:cNvSpPr>
            <a:spLocks xmlns:a="http://schemas.openxmlformats.org/drawingml/2006/main" noGrp="1"/>
          </p:cNvSpPr>
          <p:nvPr/>
        </p:nvSpPr>
        <p:spPr>
          <a:xfrm xmlns:a="http://schemas.openxmlformats.org/drawingml/2006/main">
            <a:off x="1219200" y="287655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Build server-side skills</a:t>
            </a:r>
          </a:p>
        </p:txBody>
      </p:sp>
      <p:sp>
        <p:nvSpPr>
          <p:cNvPr id="13" name="Add focused tests for auth, permissions and critical installation">
            <a:extLst xmlns:a="http://schemas.openxmlformats.org/drawingml/2006/main">
              <a:ext uri="{FF2B5EF4-FFF2-40B4-BE49-F238E27FC236}">
                <a16:creationId xmlns:a16="http://schemas.microsoft.com/office/drawing/2014/main" id="{A710DD5C-D3A3-4FBB-875F-88A27804EC72}"/>
              </a:ext>
            </a:extLst>
          </p:cNvPr>
          <p:cNvSpPr>
            <a:spLocks xmlns:a="http://schemas.openxmlformats.org/drawingml/2006/main" noGrp="1"/>
          </p:cNvSpPr>
          <p:nvPr/>
        </p:nvSpPr>
        <p:spPr>
          <a:xfrm xmlns:a="http://schemas.openxmlformats.org/drawingml/2006/main">
            <a:off x="4381500" y="287655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Learn server setup, deployment and troubleshooting so I can support applications beyond the frontend.</a:t>
            </a:r>
          </a:p>
        </p:txBody>
      </p:sp>
      <p:sp>
        <p:nvSpPr>
          <p:cNvPr id="14" name="">
            <a:extLst xmlns:a="http://schemas.openxmlformats.org/drawingml/2006/main">
              <a:ext uri="{FF2B5EF4-FFF2-40B4-BE49-F238E27FC236}">
                <a16:creationId xmlns:a16="http://schemas.microsoft.com/office/drawing/2014/main" id="{D6F21652-3CF8-4270-A3D4-6B7AF3909AA4}"/>
              </a:ext>
            </a:extLst>
          </p:cNvPr>
          <p:cNvSpPr>
            <a:spLocks xmlns:a="http://schemas.openxmlformats.org/drawingml/2006/main" noGrp="1"/>
          </p:cNvSpPr>
          <p:nvPr/>
        </p:nvSpPr>
        <p:spPr>
          <a:xfrm xmlns:a="http://schemas.openxmlformats.org/drawingml/2006/main">
            <a:off x="609600" y="356235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5" name="03">
            <a:extLst xmlns:a="http://schemas.openxmlformats.org/drawingml/2006/main">
              <a:ext uri="{FF2B5EF4-FFF2-40B4-BE49-F238E27FC236}">
                <a16:creationId xmlns:a16="http://schemas.microsoft.com/office/drawing/2014/main" id="{9840AFFB-4543-417D-BE8B-38BBF39B4CBC}"/>
              </a:ext>
            </a:extLst>
          </p:cNvPr>
          <p:cNvSpPr>
            <a:spLocks xmlns:a="http://schemas.openxmlformats.org/drawingml/2006/main" noGrp="1"/>
          </p:cNvSpPr>
          <p:nvPr/>
        </p:nvSpPr>
        <p:spPr>
          <a:xfrm xmlns:a="http://schemas.openxmlformats.org/drawingml/2006/main">
            <a:off x="609600" y="3800475"/>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03</a:t>
            </a:r>
          </a:p>
        </p:txBody>
      </p:sp>
      <p:sp>
        <p:nvSpPr>
          <p:cNvPr id="16" name="Improve maintainability">
            <a:extLst xmlns:a="http://schemas.openxmlformats.org/drawingml/2006/main">
              <a:ext uri="{FF2B5EF4-FFF2-40B4-BE49-F238E27FC236}">
                <a16:creationId xmlns:a16="http://schemas.microsoft.com/office/drawing/2014/main" id="{B3D27344-6078-4386-A6D8-420DAA9A43B7}"/>
              </a:ext>
            </a:extLst>
          </p:cNvPr>
          <p:cNvSpPr>
            <a:spLocks xmlns:a="http://schemas.openxmlformats.org/drawingml/2006/main" noGrp="1"/>
          </p:cNvSpPr>
          <p:nvPr/>
        </p:nvSpPr>
        <p:spPr>
          <a:xfrm xmlns:a="http://schemas.openxmlformats.org/drawingml/2006/main">
            <a:off x="1219200" y="3743325"/>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Own complete workflows</a:t>
            </a:r>
          </a:p>
        </p:txBody>
      </p:sp>
      <p:sp>
        <p:nvSpPr>
          <p:cNvPr id="17" name="Continue shared patterns, simplify large pages and document imple">
            <a:extLst xmlns:a="http://schemas.openxmlformats.org/drawingml/2006/main">
              <a:ext uri="{FF2B5EF4-FFF2-40B4-BE49-F238E27FC236}">
                <a16:creationId xmlns:a16="http://schemas.microsoft.com/office/drawing/2014/main" id="{18B1C081-3405-4979-8AE2-9162FD74187A}"/>
              </a:ext>
            </a:extLst>
          </p:cNvPr>
          <p:cNvSpPr>
            <a:spLocks xmlns:a="http://schemas.openxmlformats.org/drawingml/2006/main" noGrp="1"/>
          </p:cNvSpPr>
          <p:nvPr/>
        </p:nvSpPr>
        <p:spPr>
          <a:xfrm xmlns:a="http://schemas.openxmlformats.org/drawingml/2006/main">
            <a:off x="4381500" y="3743325"/>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Combine frontend, backend and server-side skills to take responsibility from requirements through delivery and support.</a:t>
            </a:r>
          </a:p>
        </p:txBody>
      </p:sp>
      <p:sp>
        <p:nvSpPr>
          <p:cNvPr id="18" name="">
            <a:extLst xmlns:a="http://schemas.openxmlformats.org/drawingml/2006/main">
              <a:ext uri="{FF2B5EF4-FFF2-40B4-BE49-F238E27FC236}">
                <a16:creationId xmlns:a16="http://schemas.microsoft.com/office/drawing/2014/main" id="{1E980570-7FE1-461C-AB91-3A4AC53865CD}"/>
              </a:ext>
            </a:extLst>
          </p:cNvPr>
          <p:cNvSpPr>
            <a:spLocks xmlns:a="http://schemas.openxmlformats.org/drawingml/2006/main" noGrp="1"/>
          </p:cNvSpPr>
          <p:nvPr/>
        </p:nvSpPr>
        <p:spPr>
          <a:xfrm xmlns:a="http://schemas.openxmlformats.org/drawingml/2006/main">
            <a:off x="609600" y="4429125"/>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19" name="04">
            <a:extLst xmlns:a="http://schemas.openxmlformats.org/drawingml/2006/main">
              <a:ext uri="{FF2B5EF4-FFF2-40B4-BE49-F238E27FC236}">
                <a16:creationId xmlns:a16="http://schemas.microsoft.com/office/drawing/2014/main" id="{B1717E0B-EA71-4B80-8E21-D377B2C93FD1}"/>
              </a:ext>
            </a:extLst>
          </p:cNvPr>
          <p:cNvSpPr>
            <a:spLocks xmlns:a="http://schemas.openxmlformats.org/drawingml/2006/main" noGrp="1"/>
          </p:cNvSpPr>
          <p:nvPr/>
        </p:nvSpPr>
        <p:spPr>
          <a:xfrm xmlns:a="http://schemas.openxmlformats.org/drawingml/2006/main">
            <a:off x="609600" y="4667250"/>
            <a:ext cx="4095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125" b="1">
                <a:solidFill>
                  <a:srgbClr val="245EE8"/>
                </a:solidFill>
                <a:latin typeface="Arial"/>
                <a:ea typeface="Arial"/>
                <a:cs typeface="Arial"/>
              </a:defRPr>
            </a:pPr>
            <a:r>
              <a:rPr sz="1125" b="1">
                <a:solidFill>
                  <a:srgbClr val="245EE8"/>
                </a:solidFill>
                <a:latin typeface="Arial"/>
                <a:ea typeface="Arial"/>
                <a:cs typeface="Arial"/>
              </a:rPr>
              <a:t>04</a:t>
            </a:r>
          </a:p>
        </p:txBody>
      </p:sp>
      <p:sp>
        <p:nvSpPr>
          <p:cNvPr id="20" name="Measure results">
            <a:extLst xmlns:a="http://schemas.openxmlformats.org/drawingml/2006/main">
              <a:ext uri="{FF2B5EF4-FFF2-40B4-BE49-F238E27FC236}">
                <a16:creationId xmlns:a16="http://schemas.microsoft.com/office/drawing/2014/main" id="{BCC46093-211B-4EA6-8AE2-451994BDB232}"/>
              </a:ext>
            </a:extLst>
          </p:cNvPr>
          <p:cNvSpPr>
            <a:spLocks xmlns:a="http://schemas.openxmlformats.org/drawingml/2006/main" noGrp="1"/>
          </p:cNvSpPr>
          <p:nvPr/>
        </p:nvSpPr>
        <p:spPr>
          <a:xfrm xmlns:a="http://schemas.openxmlformats.org/drawingml/2006/main">
            <a:off x="1219200" y="4610100"/>
            <a:ext cx="2952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142137"/>
                </a:solidFill>
                <a:latin typeface="Arial"/>
                <a:ea typeface="Arial"/>
                <a:cs typeface="Arial"/>
              </a:defRPr>
            </a:pPr>
            <a:r>
              <a:rPr sz="1800" b="1">
                <a:solidFill>
                  <a:srgbClr val="142137"/>
                </a:solidFill>
                <a:latin typeface="Arial"/>
                <a:ea typeface="Arial"/>
                <a:cs typeface="Arial"/>
              </a:rPr>
              <a:t>Adapt to new needs</a:t>
            </a:r>
          </a:p>
        </p:txBody>
      </p:sp>
      <p:sp>
        <p:nvSpPr>
          <p:cNvPr id="21" name="Track production usage, reliability and support outcomes with the">
            <a:extLst xmlns:a="http://schemas.openxmlformats.org/drawingml/2006/main">
              <a:ext uri="{FF2B5EF4-FFF2-40B4-BE49-F238E27FC236}">
                <a16:creationId xmlns:a16="http://schemas.microsoft.com/office/drawing/2014/main" id="{C4EED6B9-8DAE-411D-8DBE-52893E2113DB}"/>
              </a:ext>
            </a:extLst>
          </p:cNvPr>
          <p:cNvSpPr>
            <a:spLocks xmlns:a="http://schemas.openxmlformats.org/drawingml/2006/main" noGrp="1"/>
          </p:cNvSpPr>
          <p:nvPr/>
        </p:nvSpPr>
        <p:spPr>
          <a:xfrm xmlns:a="http://schemas.openxmlformats.org/drawingml/2006/main">
            <a:off x="4381500" y="4610100"/>
            <a:ext cx="7200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56647A"/>
                </a:solidFill>
                <a:latin typeface="Arial"/>
                <a:ea typeface="Arial"/>
                <a:cs typeface="Arial"/>
              </a:defRPr>
            </a:pPr>
            <a:r>
              <a:rPr sz="1650" b="0">
                <a:solidFill>
                  <a:srgbClr val="56647A"/>
                </a:solidFill>
                <a:latin typeface="Arial"/>
                <a:ea typeface="Arial"/>
                <a:cs typeface="Arial"/>
              </a:rPr>
              <a:t>Learn technologies required by new projects and adapt as company needs change.</a:t>
            </a:r>
          </a:p>
        </p:txBody>
      </p:sp>
      <p:sp>
        <p:nvSpPr>
          <p:cNvPr id="22" name="">
            <a:extLst xmlns:a="http://schemas.openxmlformats.org/drawingml/2006/main">
              <a:ext uri="{FF2B5EF4-FFF2-40B4-BE49-F238E27FC236}">
                <a16:creationId xmlns:a16="http://schemas.microsoft.com/office/drawing/2014/main" id="{645D02DC-9B07-420E-82E2-27F3FF4CD9D7}"/>
              </a:ext>
            </a:extLst>
          </p:cNvPr>
          <p:cNvSpPr>
            <a:spLocks xmlns:a="http://schemas.openxmlformats.org/drawingml/2006/main" noGrp="1"/>
          </p:cNvSpPr>
          <p:nvPr/>
        </p:nvSpPr>
        <p:spPr>
          <a:xfrm xmlns:a="http://schemas.openxmlformats.org/drawingml/2006/main">
            <a:off x="609600" y="5295900"/>
            <a:ext cx="10972800" cy="0"/>
          </a:xfrm>
          <a:prstGeom xmlns:a="http://schemas.openxmlformats.org/drawingml/2006/main" prst="line">
            <a:avLst/>
          </a:prstGeom>
          <a:noFill xmlns:a="http://schemas.openxmlformats.org/drawingml/2006/main"/>
          <a:ln xmlns:a="http://schemas.openxmlformats.org/drawingml/2006/main" w="9525">
            <a:solidFill>
              <a:srgbClr val="D6DDE8"/>
            </a:solidFill>
          </a:ln>
        </p:spPr>
      </p:sp>
      <p:sp>
        <p:nvSpPr>
          <p:cNvPr id="23" name="">
            <a:extLst xmlns:a="http://schemas.openxmlformats.org/drawingml/2006/main">
              <a:ext uri="{FF2B5EF4-FFF2-40B4-BE49-F238E27FC236}">
                <a16:creationId xmlns:a16="http://schemas.microsoft.com/office/drawing/2014/main" id="{E7E52F5B-F68D-404E-9A72-CAB2B0930F56}"/>
              </a:ext>
            </a:extLst>
          </p:cNvPr>
          <p:cNvSpPr>
            <a:spLocks xmlns:a="http://schemas.openxmlformats.org/drawingml/2006/main" noGrp="1"/>
          </p:cNvSpPr>
          <p:nvPr/>
        </p:nvSpPr>
        <p:spPr>
          <a:xfrm xmlns:a="http://schemas.openxmlformats.org/drawingml/2006/main">
            <a:off x="609600" y="5657850"/>
            <a:ext cx="10972800" cy="0"/>
          </a:xfrm>
          <a:prstGeom xmlns:a="http://schemas.openxmlformats.org/drawingml/2006/main" prst="line">
            <a:avLst/>
          </a:prstGeom>
          <a:noFill xmlns:a="http://schemas.openxmlformats.org/drawingml/2006/main"/>
          <a:ln xmlns:a="http://schemas.openxmlformats.org/drawingml/2006/main" w="19050">
            <a:solidFill>
              <a:srgbClr val="245EE8"/>
            </a:solidFill>
          </a:ln>
        </p:spPr>
      </p:sp>
      <p:sp>
        <p:nvSpPr>
          <p:cNvPr id="24" name="Take broader frontend ownership while making delivery easier to s">
            <a:extLst xmlns:a="http://schemas.openxmlformats.org/drawingml/2006/main">
              <a:ext uri="{FF2B5EF4-FFF2-40B4-BE49-F238E27FC236}">
                <a16:creationId xmlns:a16="http://schemas.microsoft.com/office/drawing/2014/main" id="{6350D08E-D9F7-4853-A9EC-384BB2F8122C}"/>
              </a:ext>
            </a:extLst>
          </p:cNvPr>
          <p:cNvSpPr>
            <a:spLocks xmlns:a="http://schemas.openxmlformats.org/drawingml/2006/main" noGrp="1"/>
          </p:cNvSpPr>
          <p:nvPr/>
        </p:nvSpPr>
        <p:spPr>
          <a:xfrm xmlns:a="http://schemas.openxmlformats.org/drawingml/2006/main">
            <a:off x="609600" y="58197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650" b="0">
                <a:solidFill>
                  <a:srgbClr val="142137"/>
                </a:solidFill>
                <a:latin typeface="Arial"/>
                <a:ea typeface="Arial"/>
                <a:cs typeface="Arial"/>
              </a:defRPr>
            </a:pPr>
            <a:r>
              <a:rPr sz="1650" b="0">
                <a:solidFill>
                  <a:srgbClr val="142137"/>
                </a:solidFill>
                <a:latin typeface="Arial"/>
                <a:ea typeface="Arial"/>
                <a:cs typeface="Arial"/>
              </a:rPr>
              <a:t>My goal is to take broader project ownership and contribute more across Atlanta’s work.</a:t>
            </a:r>
          </a:p>
        </p:txBody>
      </p:sp>
    </p:spTree>
    <p:extLst>
      <p:ext uri="{BB962C8B-B14F-4D97-AF65-F5344CB8AC3E}">
        <p14:creationId xmlns:p14="http://schemas.microsoft.com/office/powerpoint/2010/main" val="209078745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EFERENCE / PROJECT-WIDE SCOPE">
            <a:extLst xmlns:a="http://schemas.openxmlformats.org/drawingml/2006/main">
              <a:ext uri="{FF2B5EF4-FFF2-40B4-BE49-F238E27FC236}">
                <a16:creationId xmlns:a16="http://schemas.microsoft.com/office/drawing/2014/main" id="{1D4DFB18-D4F6-4180-A965-95538CD1A5F2}"/>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245EE8"/>
                </a:solidFill>
                <a:latin typeface="Arial"/>
                <a:ea typeface="Arial"/>
                <a:cs typeface="Arial"/>
              </a:defRPr>
            </a:pPr>
            <a:r>
              <a:rPr sz="975" b="1">
                <a:solidFill>
                  <a:srgbClr val="245EE8"/>
                </a:solidFill>
                <a:latin typeface="Arial"/>
                <a:ea typeface="Arial"/>
                <a:cs typeface="Arial"/>
              </a:rPr>
              <a:t>REFERENCE / PROJECT-WIDE SCOPE</a:t>
            </a:r>
          </a:p>
        </p:txBody>
      </p:sp>
      <p:sp>
        <p:nvSpPr>
          <p:cNvPr id="2" name="ATLANTA SYSTEMS">
            <a:extLst xmlns:a="http://schemas.openxmlformats.org/drawingml/2006/main">
              <a:ext uri="{FF2B5EF4-FFF2-40B4-BE49-F238E27FC236}">
                <a16:creationId xmlns:a16="http://schemas.microsoft.com/office/drawing/2014/main" id="{BB3E5E4C-8A7E-40D9-9387-7118F3714B90}"/>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56647A"/>
                </a:solidFill>
                <a:latin typeface="Arial"/>
                <a:ea typeface="Arial"/>
                <a:cs typeface="Arial"/>
              </a:defRPr>
            </a:pPr>
            <a:r>
              <a:rPr sz="900" b="1">
                <a:solidFill>
                  <a:srgbClr val="56647A"/>
                </a:solidFill>
                <a:latin typeface="Arial"/>
                <a:ea typeface="Arial"/>
                <a:cs typeface="Arial"/>
              </a:rPr>
              <a:t>ATLANTA SYSTEMS</a:t>
            </a:r>
          </a:p>
        </p:txBody>
      </p:sp>
      <p:sp>
        <p:nvSpPr>
          <p:cNvPr id="3" name="Supplied repository snapshots use different definitions and perio">
            <a:extLst xmlns:a="http://schemas.openxmlformats.org/drawingml/2006/main">
              <a:ext uri="{FF2B5EF4-FFF2-40B4-BE49-F238E27FC236}">
                <a16:creationId xmlns:a16="http://schemas.microsoft.com/office/drawing/2014/main" id="{F221D1BA-1244-4EF6-A270-A66E1EDEE73B}"/>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56647A"/>
                </a:solidFill>
                <a:latin typeface="Arial"/>
                <a:ea typeface="Arial"/>
                <a:cs typeface="Arial"/>
              </a:defRPr>
            </a:pPr>
            <a:r>
              <a:rPr sz="975" b="0">
                <a:solidFill>
                  <a:srgbClr val="56647A"/>
                </a:solidFill>
                <a:latin typeface="Arial"/>
                <a:ea typeface="Arial"/>
                <a:cs typeface="Arial"/>
              </a:rPr>
              <a:t>Supplied repository snapshots use different definitions and periods. These are team scope indicators, not personal output or business KPIs.</a:t>
            </a:r>
          </a:p>
        </p:txBody>
      </p:sp>
      <p:sp>
        <p:nvSpPr>
          <p:cNvPr id="4" name="17 / 18">
            <a:extLst xmlns:a="http://schemas.openxmlformats.org/drawingml/2006/main">
              <a:ext uri="{FF2B5EF4-FFF2-40B4-BE49-F238E27FC236}">
                <a16:creationId xmlns:a16="http://schemas.microsoft.com/office/drawing/2014/main" id="{4C86882F-A082-47C0-BA5A-954E63037633}"/>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56647A"/>
                </a:solidFill>
                <a:latin typeface="Arial"/>
                <a:ea typeface="Arial"/>
                <a:cs typeface="Arial"/>
              </a:defRPr>
            </a:pPr>
            <a:r>
              <a:rPr sz="1125" b="0">
                <a:solidFill>
                  <a:srgbClr val="56647A"/>
                </a:solidFill>
                <a:latin typeface="Arial"/>
                <a:ea typeface="Arial"/>
                <a:cs typeface="Arial"/>
              </a:rPr>
              <a:t>17 / 18</a:t>
            </a:r>
          </a:p>
        </p:txBody>
      </p:sp>
      <p:sp>
        <p:nvSpPr>
          <p:cNvPr id="5" name="Repository scale in context">
            <a:extLst xmlns:a="http://schemas.openxmlformats.org/drawingml/2006/main">
              <a:ext uri="{FF2B5EF4-FFF2-40B4-BE49-F238E27FC236}">
                <a16:creationId xmlns:a16="http://schemas.microsoft.com/office/drawing/2014/main" id="{6269430C-F2EA-459F-9744-5B5A7390AE57}"/>
              </a:ext>
            </a:extLst>
          </p:cNvPr>
          <p:cNvSpPr>
            <a:spLocks xmlns:a="http://schemas.openxmlformats.org/drawingml/2006/main" noGrp="1"/>
          </p:cNvSpPr>
          <p:nvPr/>
        </p:nvSpPr>
        <p:spPr>
          <a:xfrm xmlns:a="http://schemas.openxmlformats.org/drawingml/2006/main">
            <a:off x="609600" y="8763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3675" b="1">
                <a:solidFill>
                  <a:srgbClr val="142137"/>
                </a:solidFill>
                <a:latin typeface="Arial"/>
                <a:ea typeface="Arial"/>
                <a:cs typeface="Arial"/>
              </a:defRPr>
            </a:pPr>
            <a:r>
              <a:rPr sz="3675" b="1">
                <a:solidFill>
                  <a:srgbClr val="142137"/>
                </a:solidFill>
                <a:latin typeface="Arial"/>
                <a:ea typeface="Arial"/>
                <a:cs typeface="Arial"/>
              </a:rPr>
              <a:t>Repository scale in context</a:t>
            </a:r>
          </a:p>
        </p:txBody>
      </p:sp>
      <p:graphicFrame>
        <p:nvGraphicFramePr>
          <p:cNvPr id="14" name=""/>
          <p:cNvGraphicFramePr/>
          <p:nvPr/>
        </p:nvGraphicFramePr>
        <p:xfrm>
          <a:off xmlns:a="http://schemas.openxmlformats.org/drawingml/2006/main" x="609600" y="1828800"/>
          <a:ext xmlns:a="http://schemas.openxmlformats.org/drawingml/2006/main" cx="10972800" cy="3629025"/>
        </p:xfrm>
        <a:graphic xmlns:a="http://schemas.openxmlformats.org/drawingml/2006/main">
          <a:graphicData uri="http://schemas.openxmlformats.org/drawingml/2006/table">
            <a:tbl>
              <a:tblPr firstRow="0" firstCol="0" bandRow="0"/>
              <a:tblGrid>
                <a:gridCol w="1762125"/>
                <a:gridCol w="4505325"/>
                <a:gridCol w="4705350"/>
              </a:tblGrid>
              <a:tr h="428625">
                <a:tc>
                  <a:txBody>
                    <a:bodyPr>
                      <a:noAutofit/>
                    </a:bodyPr>
                    <a:lstStyle/>
                    <a:p>
                      <a:pPr algn="l">
                        <a:lnSpc>
                          <a:spcPct val="115000"/>
                        </a:lnSpc>
                        <a:buNone/>
                      </a:pPr>
                      <a:r>
                        <a:rPr sz="1050" b="1">
                          <a:solidFill>
                            <a:srgbClr val="56647A"/>
                          </a:solidFill>
                          <a:latin typeface="Arial"/>
                          <a:ea typeface="Arial"/>
                          <a:cs typeface="Arial"/>
                        </a:rPr>
                        <a:t>PROJECT</a:t>
                      </a:r>
                    </a:p>
                  </a:txBody>
                  <a:tcPr marL="114300" marR="228600" marT="133350" marB="133350" anchor="t">
                    <a:solidFill>
                      <a:srgbClr val="FFFFFF"/>
                    </a:solidFill>
                  </a:tcPr>
                </a:tc>
                <a:tc>
                  <a:txBody>
                    <a:bodyPr>
                      <a:noAutofit/>
                    </a:bodyPr>
                    <a:lstStyle/>
                    <a:p>
                      <a:pPr algn="l">
                        <a:lnSpc>
                          <a:spcPct val="115000"/>
                        </a:lnSpc>
                        <a:buNone/>
                      </a:pPr>
                      <a:r>
                        <a:rPr sz="1050" b="1">
                          <a:solidFill>
                            <a:srgbClr val="56647A"/>
                          </a:solidFill>
                          <a:latin typeface="Arial"/>
                          <a:ea typeface="Arial"/>
                          <a:cs typeface="Arial"/>
                        </a:rPr>
                        <a:t>SOURCE SCOPE</a:t>
                      </a:r>
                    </a:p>
                  </a:txBody>
                  <a:tcPr marL="114300" marR="228600" marT="133350" marB="133350" anchor="t">
                    <a:solidFill>
                      <a:srgbClr val="FFFFFF"/>
                    </a:solidFill>
                  </a:tcPr>
                </a:tc>
                <a:tc>
                  <a:txBody>
                    <a:bodyPr>
                      <a:noAutofit/>
                    </a:bodyPr>
                    <a:lstStyle/>
                    <a:p>
                      <a:pPr algn="l">
                        <a:lnSpc>
                          <a:spcPct val="115000"/>
                        </a:lnSpc>
                        <a:buNone/>
                      </a:pPr>
                      <a:r>
                        <a:rPr sz="1050" b="1">
                          <a:solidFill>
                            <a:srgbClr val="56647A"/>
                          </a:solidFill>
                          <a:latin typeface="Arial"/>
                          <a:ea typeface="Arial"/>
                          <a:cs typeface="Arial"/>
                        </a:rPr>
                        <a:t>REUSABLE FRONTEND SCOPE</a:t>
                      </a:r>
                    </a:p>
                  </a:txBody>
                  <a:tcPr marL="114300" marR="228600" marT="133350" marB="133350" anchor="t">
                    <a:solidFill>
                      <a:srgbClr val="FFFFFF"/>
                    </a:solidFill>
                  </a:tcPr>
                </a:tc>
              </a:tr>
              <a:tr h="1066800">
                <a:tc>
                  <a:txBody>
                    <a:bodyPr>
                      <a:noAutofit/>
                    </a:bodyPr>
                    <a:lstStyle/>
                    <a:p>
                      <a:pPr algn="l">
                        <a:lnSpc>
                          <a:spcPct val="115000"/>
                        </a:lnSpc>
                        <a:buNone/>
                      </a:pPr>
                      <a:r>
                        <a:rPr sz="1950" b="1">
                          <a:solidFill>
                            <a:srgbClr val="245EE8"/>
                          </a:solidFill>
                          <a:latin typeface="Arial"/>
                          <a:ea typeface="Arial"/>
                          <a:cs typeface="Arial"/>
                        </a:rPr>
                        <a:t>RTape</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About 340 source files</a:t>
                      </a:r>
                    </a:p>
                    <a:p>
                      <a:pPr algn="l">
                        <a:lnSpc>
                          <a:spcPct val="115000"/>
                        </a:lnSpc>
                        <a:buNone/>
                      </a:pPr>
                      <a:r>
                        <a:rPr sz="1725" b="0">
                          <a:solidFill>
                            <a:srgbClr val="56647A"/>
                          </a:solidFill>
                          <a:latin typeface="Arial"/>
                          <a:ea typeface="Arial"/>
                          <a:cs typeface="Arial"/>
                        </a:rPr>
                        <a:t>309 Vue components</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Role layouts, reporting and shared certificate components</a:t>
                      </a:r>
                    </a:p>
                  </a:txBody>
                  <a:tcPr marL="114300" marR="228600" marT="133350" marB="133350" anchor="t">
                    <a:solidFill>
                      <a:srgbClr val="FFFFFF"/>
                    </a:solidFill>
                  </a:tcPr>
                </a:tc>
              </a:tr>
              <a:tr h="1066800">
                <a:tc>
                  <a:txBody>
                    <a:bodyPr>
                      <a:noAutofit/>
                    </a:bodyPr>
                    <a:lstStyle/>
                    <a:p>
                      <a:pPr algn="l">
                        <a:lnSpc>
                          <a:spcPct val="115000"/>
                        </a:lnSpc>
                        <a:buNone/>
                      </a:pPr>
                      <a:r>
                        <a:rPr sz="1950" b="1">
                          <a:solidFill>
                            <a:srgbClr val="245EE8"/>
                          </a:solidFill>
                          <a:latin typeface="Arial"/>
                          <a:ea typeface="Arial"/>
                          <a:cs typeface="Arial"/>
                        </a:rPr>
                        <a:t>ITMS</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590 source files</a:t>
                      </a:r>
                    </a:p>
                    <a:p>
                      <a:pPr algn="l">
                        <a:lnSpc>
                          <a:spcPct val="115000"/>
                        </a:lnSpc>
                        <a:buNone/>
                      </a:pPr>
                      <a:r>
                        <a:rPr sz="1725" b="0">
                          <a:solidFill>
                            <a:srgbClr val="56647A"/>
                          </a:solidFill>
                          <a:latin typeface="Arial"/>
                          <a:ea typeface="Arial"/>
                          <a:cs typeface="Arial"/>
                        </a:rPr>
                        <a:t>304 Vue components / pages</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40 shared UI components</a:t>
                      </a:r>
                    </a:p>
                    <a:p>
                      <a:pPr algn="l">
                        <a:lnSpc>
                          <a:spcPct val="115000"/>
                        </a:lnSpc>
                        <a:buNone/>
                      </a:pPr>
                      <a:r>
                        <a:rPr sz="1725" b="0">
                          <a:solidFill>
                            <a:srgbClr val="56647A"/>
                          </a:solidFill>
                          <a:latin typeface="Arial"/>
                          <a:ea typeface="Arial"/>
                          <a:cs typeface="Arial"/>
                        </a:rPr>
                        <a:t>49 feature API modules</a:t>
                      </a:r>
                    </a:p>
                  </a:txBody>
                  <a:tcPr marL="114300" marR="228600" marT="133350" marB="133350" anchor="t">
                    <a:solidFill>
                      <a:srgbClr val="FFFFFF"/>
                    </a:solidFill>
                  </a:tcPr>
                </a:tc>
              </a:tr>
              <a:tr h="1066800">
                <a:tc>
                  <a:txBody>
                    <a:bodyPr>
                      <a:noAutofit/>
                    </a:bodyPr>
                    <a:lstStyle/>
                    <a:p>
                      <a:pPr algn="l">
                        <a:lnSpc>
                          <a:spcPct val="115000"/>
                        </a:lnSpc>
                        <a:buNone/>
                      </a:pPr>
                      <a:r>
                        <a:rPr sz="1950" b="1">
                          <a:solidFill>
                            <a:srgbClr val="245EE8"/>
                          </a:solidFill>
                          <a:latin typeface="Arial"/>
                          <a:ea typeface="Arial"/>
                          <a:cs typeface="Arial"/>
                        </a:rPr>
                        <a:t>VLTD</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About 602 source files</a:t>
                      </a:r>
                    </a:p>
                    <a:p>
                      <a:pPr algn="l">
                        <a:lnSpc>
                          <a:spcPct val="115000"/>
                        </a:lnSpc>
                        <a:buNone/>
                      </a:pPr>
                      <a:r>
                        <a:rPr sz="1725" b="0">
                          <a:solidFill>
                            <a:srgbClr val="56647A"/>
                          </a:solidFill>
                          <a:latin typeface="Arial"/>
                          <a:ea typeface="Arial"/>
                          <a:cs typeface="Arial"/>
                        </a:rPr>
                        <a:t>373 Vue files</a:t>
                      </a:r>
                    </a:p>
                  </a:txBody>
                  <a:tcPr marL="114300" marR="228600" marT="133350" marB="133350" anchor="t">
                    <a:solidFill>
                      <a:srgbClr val="FFFFFF"/>
                    </a:solidFill>
                  </a:tcPr>
                </a:tc>
                <a:tc>
                  <a:txBody>
                    <a:bodyPr>
                      <a:noAutofit/>
                    </a:bodyPr>
                    <a:lstStyle/>
                    <a:p>
                      <a:pPr algn="l">
                        <a:lnSpc>
                          <a:spcPct val="115000"/>
                        </a:lnSpc>
                        <a:buNone/>
                      </a:pPr>
                      <a:r>
                        <a:rPr sz="1725" b="0">
                          <a:solidFill>
                            <a:srgbClr val="56647A"/>
                          </a:solidFill>
                          <a:latin typeface="Arial"/>
                          <a:ea typeface="Arial"/>
                          <a:cs typeface="Arial"/>
                        </a:rPr>
                        <a:t>51 shared UI components</a:t>
                      </a:r>
                    </a:p>
                    <a:p>
                      <a:pPr algn="l">
                        <a:lnSpc>
                          <a:spcPct val="115000"/>
                        </a:lnSpc>
                        <a:buNone/>
                      </a:pPr>
                      <a:r>
                        <a:rPr sz="1725" b="0">
                          <a:solidFill>
                            <a:srgbClr val="56647A"/>
                          </a:solidFill>
                          <a:latin typeface="Arial"/>
                          <a:ea typeface="Arial"/>
                          <a:cs typeface="Arial"/>
                        </a:rPr>
                        <a:t>66 feature API / service modules</a:t>
                      </a:r>
                    </a:p>
                  </a:txBody>
                  <a:tcPr marL="114300" marR="228600" marT="133350" marB="133350" anchor="t">
                    <a:solidFill>
                      <a:srgbClr val="FFFFFF"/>
                    </a:solidFill>
                  </a:tcPr>
                </a:tc>
              </a:tr>
            </a:tbl>
          </a:graphicData>
        </a:graphic>
      </p:graphicFrame>
    </p:spTree>
    <p:extLst>
      <p:ext uri="{BB962C8B-B14F-4D97-AF65-F5344CB8AC3E}">
        <p14:creationId xmlns:p14="http://schemas.microsoft.com/office/powerpoint/2010/main" val="577872544"/>
      </p:ext>
    </p:extLst>
  </p:cSld>
</p:sld>
</file>

<file path=ppt/slides/slide18.xml><?xml version="1.0" encoding="utf-8"?>
<p:sld xmlns:p="http://schemas.openxmlformats.org/presentationml/2006/main">
  <p:cSld>
    <p:bg>
      <p:bgPr>
        <a:solidFill xmlns:a="http://schemas.openxmlformats.org/drawingml/2006/main">
          <a:srgbClr val="132238"/>
        </a:solidFill>
      </p:bgPr>
    </p:bg>
    <p:spTree>
      <p:nvGrpSpPr>
        <p:cNvPr id="1" name=""/>
        <p:cNvGrpSpPr/>
        <p:nvPr/>
      </p:nvGrpSpPr>
      <p:grpSpPr>
        <a:xfrm xmlns:a="http://schemas.openxmlformats.org/drawingml/2006/main"/>
      </p:grpSpPr>
      <p:sp>
        <p:nvSpPr>
          <p:cNvPr id="10" name="MANISH KUMAR / ATLANTA SYSTEMS">
            <a:extLst xmlns:a="http://schemas.openxmlformats.org/drawingml/2006/main">
              <a:ext uri="{FF2B5EF4-FFF2-40B4-BE49-F238E27FC236}">
                <a16:creationId xmlns:a16="http://schemas.microsoft.com/office/drawing/2014/main" id="{C11635CC-D5DD-460A-8547-576D0AB2EA9A}"/>
              </a:ext>
            </a:extLst>
          </p:cNvPr>
          <p:cNvSpPr>
            <a:spLocks xmlns:a="http://schemas.openxmlformats.org/drawingml/2006/main" noGrp="1"/>
          </p:cNvSpPr>
          <p:nvPr/>
        </p:nvSpPr>
        <p:spPr>
          <a:xfrm xmlns:a="http://schemas.openxmlformats.org/drawingml/2006/main">
            <a:off x="609600" y="333375"/>
            <a:ext cx="828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1">
                <a:solidFill>
                  <a:srgbClr val="83AAFF"/>
                </a:solidFill>
                <a:latin typeface="Arial"/>
                <a:ea typeface="Arial"/>
                <a:cs typeface="Arial"/>
              </a:defRPr>
            </a:pPr>
            <a:r>
              <a:rPr sz="975" b="1">
                <a:solidFill>
                  <a:srgbClr val="83AAFF"/>
                </a:solidFill>
                <a:latin typeface="Arial"/>
                <a:ea typeface="Arial"/>
                <a:cs typeface="Arial"/>
              </a:rPr>
              <a:t>MANISH KUMAR / ATLANTA SYSTEMS</a:t>
            </a:r>
          </a:p>
        </p:txBody>
      </p:sp>
      <p:sp>
        <p:nvSpPr>
          <p:cNvPr id="2" name="ATLANTA SYSTEMS">
            <a:extLst xmlns:a="http://schemas.openxmlformats.org/drawingml/2006/main">
              <a:ext uri="{FF2B5EF4-FFF2-40B4-BE49-F238E27FC236}">
                <a16:creationId xmlns:a16="http://schemas.microsoft.com/office/drawing/2014/main" id="{4B56B311-726C-4064-8390-099191315EDF}"/>
              </a:ext>
            </a:extLst>
          </p:cNvPr>
          <p:cNvSpPr>
            <a:spLocks xmlns:a="http://schemas.openxmlformats.org/drawingml/2006/main" noGrp="1"/>
          </p:cNvSpPr>
          <p:nvPr/>
        </p:nvSpPr>
        <p:spPr>
          <a:xfrm xmlns:a="http://schemas.openxmlformats.org/drawingml/2006/main">
            <a:off x="9715500" y="333375"/>
            <a:ext cx="18669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900" b="1">
                <a:solidFill>
                  <a:srgbClr val="B3C0D3"/>
                </a:solidFill>
                <a:latin typeface="Arial"/>
                <a:ea typeface="Arial"/>
                <a:cs typeface="Arial"/>
              </a:defRPr>
            </a:pPr>
            <a:r>
              <a:rPr sz="900" b="1">
                <a:solidFill>
                  <a:srgbClr val="B3C0D3"/>
                </a:solidFill>
                <a:latin typeface="Arial"/>
                <a:ea typeface="Arial"/>
                <a:cs typeface="Arial"/>
              </a:rPr>
              <a:t>ATLANTA SYSTEMS</a:t>
            </a:r>
          </a:p>
        </p:txBody>
      </p:sp>
      <p:sp>
        <p:nvSpPr>
          <p:cNvPr id="3" name="Manish Kumar / Annual performance review">
            <a:extLst xmlns:a="http://schemas.openxmlformats.org/drawingml/2006/main">
              <a:ext uri="{FF2B5EF4-FFF2-40B4-BE49-F238E27FC236}">
                <a16:creationId xmlns:a16="http://schemas.microsoft.com/office/drawing/2014/main" id="{9F9AB00A-42B1-48FA-BF37-ACF0762B469C}"/>
              </a:ext>
            </a:extLst>
          </p:cNvPr>
          <p:cNvSpPr>
            <a:spLocks xmlns:a="http://schemas.openxmlformats.org/drawingml/2006/main" noGrp="1"/>
          </p:cNvSpPr>
          <p:nvPr/>
        </p:nvSpPr>
        <p:spPr>
          <a:xfrm xmlns:a="http://schemas.openxmlformats.org/drawingml/2006/main">
            <a:off x="609600" y="6191250"/>
            <a:ext cx="981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975" b="0">
                <a:solidFill>
                  <a:srgbClr val="B3C0D3"/>
                </a:solidFill>
                <a:latin typeface="Arial"/>
                <a:ea typeface="Arial"/>
                <a:cs typeface="Arial"/>
              </a:defRPr>
            </a:pPr>
            <a:r>
              <a:rPr sz="975" b="0">
                <a:solidFill>
                  <a:srgbClr val="B3C0D3"/>
                </a:solidFill>
                <a:latin typeface="Arial"/>
                <a:ea typeface="Arial"/>
                <a:cs typeface="Arial"/>
              </a:rPr>
              <a:t>Manish Kumar / Annual performance review</a:t>
            </a:r>
          </a:p>
        </p:txBody>
      </p:sp>
      <p:sp>
        <p:nvSpPr>
          <p:cNvPr id="4" name="18 / 18">
            <a:extLst xmlns:a="http://schemas.openxmlformats.org/drawingml/2006/main">
              <a:ext uri="{FF2B5EF4-FFF2-40B4-BE49-F238E27FC236}">
                <a16:creationId xmlns:a16="http://schemas.microsoft.com/office/drawing/2014/main" id="{D091CB40-C36F-4687-BF85-6E9005D1BD30}"/>
              </a:ext>
            </a:extLst>
          </p:cNvPr>
          <p:cNvSpPr>
            <a:spLocks xmlns:a="http://schemas.openxmlformats.org/drawingml/2006/main" noGrp="1"/>
          </p:cNvSpPr>
          <p:nvPr/>
        </p:nvSpPr>
        <p:spPr>
          <a:xfrm xmlns:a="http://schemas.openxmlformats.org/drawingml/2006/main">
            <a:off x="10801350" y="6372225"/>
            <a:ext cx="781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10000"/>
              </a:lnSpc>
              <a:buNone/>
              <a:defRPr sz="1125" b="0">
                <a:solidFill>
                  <a:srgbClr val="B3C0D3"/>
                </a:solidFill>
                <a:latin typeface="Arial"/>
                <a:ea typeface="Arial"/>
                <a:cs typeface="Arial"/>
              </a:defRPr>
            </a:pPr>
            <a:r>
              <a:rPr sz="1125" b="0">
                <a:solidFill>
                  <a:srgbClr val="B3C0D3"/>
                </a:solidFill>
                <a:latin typeface="Arial"/>
                <a:ea typeface="Arial"/>
                <a:cs typeface="Arial"/>
              </a:rPr>
              <a:t>18 / 18</a:t>
            </a:r>
          </a:p>
        </p:txBody>
      </p:sp>
      <p:sp>
        <p:nvSpPr>
          <p:cNvPr id="5" name="Thank you">
            <a:extLst xmlns:a="http://schemas.openxmlformats.org/drawingml/2006/main">
              <a:ext uri="{FF2B5EF4-FFF2-40B4-BE49-F238E27FC236}">
                <a16:creationId xmlns:a16="http://schemas.microsoft.com/office/drawing/2014/main" id="{72596A5C-F45F-43A2-B984-5F8454729E45}"/>
              </a:ext>
            </a:extLst>
          </p:cNvPr>
          <p:cNvSpPr>
            <a:spLocks xmlns:a="http://schemas.openxmlformats.org/drawingml/2006/main" noGrp="1"/>
          </p:cNvSpPr>
          <p:nvPr/>
        </p:nvSpPr>
        <p:spPr>
          <a:xfrm xmlns:a="http://schemas.openxmlformats.org/drawingml/2006/main">
            <a:off x="609600" y="1971675"/>
            <a:ext cx="106680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8400" b="1">
                <a:solidFill>
                  <a:srgbClr val="F6F8FC"/>
                </a:solidFill>
                <a:latin typeface="Arial"/>
                <a:ea typeface="Arial"/>
                <a:cs typeface="Arial"/>
              </a:defRPr>
            </a:pPr>
            <a:r>
              <a:rPr sz="8400" b="1">
                <a:solidFill>
                  <a:srgbClr val="F6F8FC"/>
                </a:solidFill>
                <a:latin typeface="Arial"/>
                <a:ea typeface="Arial"/>
                <a:cs typeface="Arial"/>
              </a:rPr>
              <a:t>Thank you</a:t>
            </a:r>
          </a:p>
        </p:txBody>
      </p:sp>
      <p:sp>
        <p:nvSpPr>
          <p:cNvPr id="6" name="Ready for broader frontend ownership">
            <a:extLst xmlns:a="http://schemas.openxmlformats.org/drawingml/2006/main">
              <a:ext uri="{FF2B5EF4-FFF2-40B4-BE49-F238E27FC236}">
                <a16:creationId xmlns:a16="http://schemas.microsoft.com/office/drawing/2014/main" id="{DAC797B2-5EAE-499C-9859-C7BE19402E59}"/>
              </a:ext>
            </a:extLst>
          </p:cNvPr>
          <p:cNvSpPr>
            <a:spLocks xmlns:a="http://schemas.openxmlformats.org/drawingml/2006/main" noGrp="1"/>
          </p:cNvSpPr>
          <p:nvPr/>
        </p:nvSpPr>
        <p:spPr>
          <a:xfrm xmlns:a="http://schemas.openxmlformats.org/drawingml/2006/main">
            <a:off x="609600" y="34004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2400" b="0">
                <a:solidFill>
                  <a:srgbClr val="83AAFF"/>
                </a:solidFill>
                <a:latin typeface="Arial"/>
                <a:ea typeface="Arial"/>
                <a:cs typeface="Arial"/>
              </a:defRPr>
            </a:pPr>
            <a:r>
              <a:rPr sz="2400" b="0">
                <a:solidFill>
                  <a:srgbClr val="83AAFF"/>
                </a:solidFill>
                <a:latin typeface="Arial"/>
                <a:ea typeface="Arial"/>
                <a:cs typeface="Arial"/>
              </a:rPr>
              <a:t>Ready for broader frontend ownership</a:t>
            </a:r>
          </a:p>
        </p:txBody>
      </p:sp>
      <p:sp>
        <p:nvSpPr>
          <p:cNvPr id="7" name="I look forward to building on this experience and contributing mo">
            <a:extLst xmlns:a="http://schemas.openxmlformats.org/drawingml/2006/main">
              <a:ext uri="{FF2B5EF4-FFF2-40B4-BE49-F238E27FC236}">
                <a16:creationId xmlns:a16="http://schemas.microsoft.com/office/drawing/2014/main" id="{F7B3CF52-2D98-4C24-B744-75F7F83CAB92}"/>
              </a:ext>
            </a:extLst>
          </p:cNvPr>
          <p:cNvSpPr>
            <a:spLocks xmlns:a="http://schemas.openxmlformats.org/drawingml/2006/main" noGrp="1"/>
          </p:cNvSpPr>
          <p:nvPr/>
        </p:nvSpPr>
        <p:spPr>
          <a:xfrm xmlns:a="http://schemas.openxmlformats.org/drawingml/2006/main">
            <a:off x="609600" y="3981450"/>
            <a:ext cx="9048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725" b="0">
                <a:solidFill>
                  <a:srgbClr val="B3C0D3"/>
                </a:solidFill>
                <a:latin typeface="Arial"/>
                <a:ea typeface="Arial"/>
                <a:cs typeface="Arial"/>
              </a:defRPr>
            </a:pPr>
            <a:r>
              <a:rPr sz="1725" b="0">
                <a:solidFill>
                  <a:srgbClr val="B3C0D3"/>
                </a:solidFill>
                <a:latin typeface="Arial"/>
                <a:ea typeface="Arial"/>
                <a:cs typeface="Arial"/>
              </a:rPr>
              <a:t>I look forward to building on this experience and contributing more to the team.</a:t>
            </a:r>
          </a:p>
        </p:txBody>
      </p:sp>
      <p:sp>
        <p:nvSpPr>
          <p:cNvPr id="8" name="Manish Kumar">
            <a:extLst xmlns:a="http://schemas.openxmlformats.org/drawingml/2006/main">
              <a:ext uri="{FF2B5EF4-FFF2-40B4-BE49-F238E27FC236}">
                <a16:creationId xmlns:a16="http://schemas.microsoft.com/office/drawing/2014/main" id="{1E9415A7-4E04-4896-984F-1D2EE5C5410E}"/>
              </a:ext>
            </a:extLst>
          </p:cNvPr>
          <p:cNvSpPr>
            <a:spLocks xmlns:a="http://schemas.openxmlformats.org/drawingml/2006/main" noGrp="1"/>
          </p:cNvSpPr>
          <p:nvPr/>
        </p:nvSpPr>
        <p:spPr>
          <a:xfrm xmlns:a="http://schemas.openxmlformats.org/drawingml/2006/main">
            <a:off x="609600" y="5067300"/>
            <a:ext cx="7429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00" b="1">
                <a:solidFill>
                  <a:srgbClr val="F6F8FC"/>
                </a:solidFill>
                <a:latin typeface="Arial"/>
                <a:ea typeface="Arial"/>
                <a:cs typeface="Arial"/>
              </a:defRPr>
            </a:pPr>
            <a:r>
              <a:rPr sz="1800" b="1">
                <a:solidFill>
                  <a:srgbClr val="F6F8FC"/>
                </a:solidFill>
                <a:latin typeface="Arial"/>
                <a:ea typeface="Arial"/>
                <a:cs typeface="Arial"/>
              </a:rPr>
              <a:t>Manish Kumar</a:t>
            </a:r>
          </a:p>
        </p:txBody>
      </p:sp>
      <p:sp>
        <p:nvSpPr>
          <p:cNvPr id="9" name="Vue Frontend Developer">
            <a:extLst xmlns:a="http://schemas.openxmlformats.org/drawingml/2006/main">
              <a:ext uri="{FF2B5EF4-FFF2-40B4-BE49-F238E27FC236}">
                <a16:creationId xmlns:a16="http://schemas.microsoft.com/office/drawing/2014/main" id="{AE228B25-37C3-4BDA-828E-4C454B83D224}"/>
              </a:ext>
            </a:extLst>
          </p:cNvPr>
          <p:cNvSpPr>
            <a:spLocks xmlns:a="http://schemas.openxmlformats.org/drawingml/2006/main" noGrp="1"/>
          </p:cNvSpPr>
          <p:nvPr/>
        </p:nvSpPr>
        <p:spPr>
          <a:xfrm xmlns:a="http://schemas.openxmlformats.org/drawingml/2006/main">
            <a:off x="609600" y="5457825"/>
            <a:ext cx="7429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75" b="0">
                <a:solidFill>
                  <a:srgbClr val="B3C0D3"/>
                </a:solidFill>
                <a:latin typeface="Arial"/>
                <a:ea typeface="Arial"/>
                <a:cs typeface="Arial"/>
              </a:defRPr>
            </a:pPr>
            <a:r>
              <a:rPr sz="1275" b="0">
                <a:solidFill>
                  <a:srgbClr val="B3C0D3"/>
                </a:solidFill>
                <a:latin typeface="Arial"/>
                <a:ea typeface="Arial"/>
                <a:cs typeface="Arial"/>
              </a:rPr>
              <a:t>Vue Frontend Developer</a:t>
            </a:r>
          </a:p>
        </p:txBody>
      </p:sp>
    </p:spTree>
    <p:extLst>
      <p:ext uri="{BB962C8B-B14F-4D97-AF65-F5344CB8AC3E}">
        <p14:creationId xmlns:p14="http://schemas.microsoft.com/office/powerpoint/2010/main" val="11374787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2026-09-11T05:11:43.0800000Z</dcterms:created>
  <dcterms:modified xsi:type="dcterms:W3CDTF">2026-09-11T05:11:43.0800000Z</dcterms:modified>
</coreProperties>
</file>